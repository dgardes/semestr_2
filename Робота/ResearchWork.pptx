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6" r:id="rId1"/>
  </p:sldMasterIdLst>
  <p:sldIdLst>
    <p:sldId id="257" r:id="rId2"/>
  </p:sldIdLst>
  <p:sldSz cx="15119350" cy="21383625"/>
  <p:notesSz cx="6858000" cy="9144000"/>
  <p:embeddedFontLst>
    <p:embeddedFont>
      <p:font typeface="Akrobat Black" panose="00000A00000000000000" pitchFamily="50" charset="-52"/>
      <p:bold r:id="rId3"/>
    </p:embeddedFont>
    <p:embeddedFont>
      <p:font typeface="Akrobat ExtraBold" panose="00000900000000000000" pitchFamily="50" charset="-52"/>
      <p:bold r:id="rId4"/>
    </p:embeddedFont>
    <p:embeddedFont>
      <p:font typeface="Akrobat Light" panose="00000500000000000000" pitchFamily="50" charset="-52"/>
      <p:regular r:id="rId5"/>
    </p:embeddedFont>
    <p:embeddedFont>
      <p:font typeface="Akrobat SemiBold" panose="00000700000000000000" pitchFamily="50" charset="-52"/>
      <p:bold r:id="rId6"/>
    </p:embeddedFont>
    <p:embeddedFont>
      <p:font typeface="Akrobat Thin" panose="00000300000000000000" pitchFamily="50" charset="-52"/>
      <p:regular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8DAAD549-19AE-44EC-8A89-71F4D810D011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780" userDrawn="1">
          <p15:clr>
            <a:srgbClr val="A4A3A4"/>
          </p15:clr>
        </p15:guide>
        <p15:guide id="2" pos="4762" userDrawn="1">
          <p15:clr>
            <a:srgbClr val="A4A3A4"/>
          </p15:clr>
        </p15:guide>
        <p15:guide id="3" pos="3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3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98" autoAdjust="0"/>
    <p:restoredTop sz="94660"/>
  </p:normalViewPr>
  <p:slideViewPr>
    <p:cSldViewPr snapToGrid="0" showGuides="1">
      <p:cViewPr varScale="1">
        <p:scale>
          <a:sx n="34" d="100"/>
          <a:sy n="34" d="100"/>
        </p:scale>
        <p:origin x="2736" y="138"/>
      </p:cViewPr>
      <p:guideLst>
        <p:guide orient="horz" pos="6780"/>
        <p:guide pos="4762"/>
        <p:guide pos="3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viewProps" Target="viewProp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147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1246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086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242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4817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674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6919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626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725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483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528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79B26-0DD6-446B-86FF-AA01C88CBCCF}" type="datetimeFigureOut">
              <a:rPr lang="ru-RU" smtClean="0"/>
              <a:t>13.03.2026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D9549-34A9-4099-A2A0-9999C59C913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109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8AE682-9440-4A9E-9AFC-48EF74AAA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5119350" cy="213836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3B6A2-8ACD-43C2-87CF-3B5BC0BDC378}"/>
              </a:ext>
            </a:extLst>
          </p:cNvPr>
          <p:cNvSpPr txBox="1"/>
          <p:nvPr/>
        </p:nvSpPr>
        <p:spPr>
          <a:xfrm>
            <a:off x="2" y="63633"/>
            <a:ext cx="1510505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300" dirty="0">
                <a:latin typeface="Akrobat Light" panose="00000500000000000000" pitchFamily="50" charset="-52"/>
              </a:rPr>
              <a:t>«Центр професійного розвитку педагогічних працівників» Криворізької міської ради Криворізька гімназія №70 Криворізької міської ради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F8D2E66F-DDD4-4392-B6DF-33C2A2EB3888}"/>
              </a:ext>
            </a:extLst>
          </p:cNvPr>
          <p:cNvSpPr/>
          <p:nvPr/>
        </p:nvSpPr>
        <p:spPr>
          <a:xfrm>
            <a:off x="387806" y="842996"/>
            <a:ext cx="14343742" cy="10464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01600" dist="38100" dir="13500000" algn="b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75BC9A-42E6-46FC-B8BC-E601A4F416A1}"/>
              </a:ext>
            </a:extLst>
          </p:cNvPr>
          <p:cNvSpPr txBox="1"/>
          <p:nvPr/>
        </p:nvSpPr>
        <p:spPr>
          <a:xfrm>
            <a:off x="311942" y="923331"/>
            <a:ext cx="14793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4000" dirty="0">
                <a:latin typeface="Akrobat Black" panose="00000A00000000000000" pitchFamily="50" charset="-52"/>
              </a:rPr>
              <a:t>Дослідження: Які англійські слова школярі запам’ятовують найважче? 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3F063C39-B7CC-41B1-A76D-8907E94C73D1}"/>
              </a:ext>
            </a:extLst>
          </p:cNvPr>
          <p:cNvSpPr/>
          <p:nvPr/>
        </p:nvSpPr>
        <p:spPr>
          <a:xfrm>
            <a:off x="378267" y="2215404"/>
            <a:ext cx="4986432" cy="3896448"/>
          </a:xfrm>
          <a:prstGeom prst="roundRect">
            <a:avLst>
              <a:gd name="adj" fmla="val 3518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13500000" algn="b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pic>
        <p:nvPicPr>
          <p:cNvPr id="9" name="Егорка">
            <a:extLst>
              <a:ext uri="{FF2B5EF4-FFF2-40B4-BE49-F238E27FC236}">
                <a16:creationId xmlns:a16="http://schemas.microsoft.com/office/drawing/2014/main" id="{BDCBEAE9-3FB8-4612-9DA3-591578ACDB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4" t="7025" r="20073" b="31842"/>
          <a:stretch/>
        </p:blipFill>
        <p:spPr>
          <a:xfrm>
            <a:off x="1493757" y="2295892"/>
            <a:ext cx="2855560" cy="3815960"/>
          </a:xfrm>
          <a:prstGeom prst="rect">
            <a:avLst/>
          </a:prstGeom>
        </p:spPr>
      </p:pic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8D00E4F-B0EF-4CD3-A8AE-6FB0A7DA0C3B}"/>
              </a:ext>
            </a:extLst>
          </p:cNvPr>
          <p:cNvSpPr/>
          <p:nvPr/>
        </p:nvSpPr>
        <p:spPr>
          <a:xfrm>
            <a:off x="380601" y="6292332"/>
            <a:ext cx="4986432" cy="2411844"/>
          </a:xfrm>
          <a:prstGeom prst="roundRect">
            <a:avLst>
              <a:gd name="adj" fmla="val 7238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13500000" algn="b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9B8A8B-0F09-470E-BBD8-39896D428ECF}"/>
              </a:ext>
            </a:extLst>
          </p:cNvPr>
          <p:cNvSpPr txBox="1"/>
          <p:nvPr/>
        </p:nvSpPr>
        <p:spPr>
          <a:xfrm>
            <a:off x="362971" y="6213047"/>
            <a:ext cx="498643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800" dirty="0">
                <a:latin typeface="Akrobat ExtraBold" panose="00000900000000000000" pitchFamily="50" charset="-52"/>
              </a:rPr>
              <a:t>Автор</a:t>
            </a:r>
            <a:r>
              <a:rPr lang="en-US" sz="2800" dirty="0">
                <a:latin typeface="Akrobat ExtraBold" panose="00000900000000000000" pitchFamily="50" charset="-52"/>
              </a:rPr>
              <a:t>:</a:t>
            </a:r>
            <a:r>
              <a:rPr lang="en-US" sz="2400" dirty="0">
                <a:latin typeface="Akrobat Light" panose="00000500000000000000" pitchFamily="50" charset="-52"/>
              </a:rPr>
              <a:t> </a:t>
            </a:r>
            <a:r>
              <a:rPr lang="ru-RU" sz="2400" dirty="0">
                <a:latin typeface="Akrobat Light" panose="00000500000000000000" pitchFamily="50" charset="-52"/>
              </a:rPr>
              <a:t>Юрченко Єгор Володимирович учень 7-Б класу Криворізької гімназії №70 Криворізької </a:t>
            </a:r>
            <a:r>
              <a:rPr lang="ru-RU" sz="2400" dirty="0" err="1">
                <a:latin typeface="Akrobat Light" panose="00000500000000000000" pitchFamily="50" charset="-52"/>
              </a:rPr>
              <a:t>міської</a:t>
            </a:r>
            <a:r>
              <a:rPr lang="ru-RU" sz="2400" dirty="0">
                <a:latin typeface="Akrobat Light" panose="00000500000000000000" pitchFamily="50" charset="-52"/>
              </a:rPr>
              <a:t> ради</a:t>
            </a:r>
            <a:r>
              <a:rPr lang="en-US" sz="2400" dirty="0">
                <a:latin typeface="Akrobat Light" panose="00000500000000000000" pitchFamily="50" charset="-52"/>
              </a:rPr>
              <a:t> </a:t>
            </a:r>
            <a:endParaRPr lang="uk-UA" sz="2400" dirty="0">
              <a:latin typeface="Akrobat Light" panose="00000500000000000000" pitchFamily="50" charset="-5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E64346-2ECE-4935-8479-DC7A7990B28F}"/>
              </a:ext>
            </a:extLst>
          </p:cNvPr>
          <p:cNvSpPr txBox="1"/>
          <p:nvPr/>
        </p:nvSpPr>
        <p:spPr>
          <a:xfrm>
            <a:off x="362971" y="7348145"/>
            <a:ext cx="498643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800" dirty="0">
                <a:latin typeface="Akrobat ExtraBold" panose="00000900000000000000" pitchFamily="50" charset="-52"/>
              </a:rPr>
              <a:t>Науковий керівник</a:t>
            </a:r>
            <a:r>
              <a:rPr lang="en-US" sz="2800" dirty="0">
                <a:latin typeface="Akrobat ExtraBold" panose="00000900000000000000" pitchFamily="50" charset="-52"/>
              </a:rPr>
              <a:t>:</a:t>
            </a:r>
            <a:r>
              <a:rPr lang="ru-RU" sz="2800" dirty="0"/>
              <a:t> </a:t>
            </a:r>
            <a:r>
              <a:rPr lang="ru-RU" sz="2400" dirty="0">
                <a:latin typeface="Akrobat Light" panose="00000500000000000000" pitchFamily="50" charset="-52"/>
              </a:rPr>
              <a:t>Дьоготь Тетяна Іванівна учитель англійської мови КГ № 70 Криворізької </a:t>
            </a:r>
            <a:r>
              <a:rPr lang="ru-RU" sz="2400" dirty="0" err="1">
                <a:latin typeface="Akrobat Light" panose="00000500000000000000" pitchFamily="50" charset="-52"/>
              </a:rPr>
              <a:t>міської</a:t>
            </a:r>
            <a:r>
              <a:rPr lang="ru-RU" sz="2400" dirty="0">
                <a:latin typeface="Akrobat Light" panose="00000500000000000000" pitchFamily="50" charset="-52"/>
              </a:rPr>
              <a:t> ради</a:t>
            </a:r>
            <a:endParaRPr lang="uk-UA" sz="2400" dirty="0">
              <a:latin typeface="Akrobat Light" panose="00000500000000000000" pitchFamily="50" charset="-52"/>
            </a:endParaRPr>
          </a:p>
        </p:txBody>
      </p:sp>
      <p:sp>
        <p:nvSpPr>
          <p:cNvPr id="109" name="Прямоугольник: скругленные углы 108">
            <a:extLst>
              <a:ext uri="{FF2B5EF4-FFF2-40B4-BE49-F238E27FC236}">
                <a16:creationId xmlns:a16="http://schemas.microsoft.com/office/drawing/2014/main" id="{133B570D-928F-4CBB-939C-7747D72CA151}"/>
              </a:ext>
            </a:extLst>
          </p:cNvPr>
          <p:cNvSpPr/>
          <p:nvPr/>
        </p:nvSpPr>
        <p:spPr>
          <a:xfrm>
            <a:off x="5638801" y="2213332"/>
            <a:ext cx="9117580" cy="6489028"/>
          </a:xfrm>
          <a:prstGeom prst="roundRect">
            <a:avLst>
              <a:gd name="adj" fmla="val 3518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13500000" algn="b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0F0A06-5BD9-4E90-8D91-A0CFB665CAA5}"/>
              </a:ext>
            </a:extLst>
          </p:cNvPr>
          <p:cNvSpPr txBox="1"/>
          <p:nvPr/>
        </p:nvSpPr>
        <p:spPr>
          <a:xfrm>
            <a:off x="5621466" y="2230736"/>
            <a:ext cx="913491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800" dirty="0">
                <a:latin typeface="Akrobat ExtraBold" panose="00000900000000000000" pitchFamily="50" charset="-52"/>
              </a:rPr>
              <a:t>Мета роботи</a:t>
            </a:r>
            <a:r>
              <a:rPr lang="en-US" sz="2800" dirty="0">
                <a:latin typeface="Akrobat ExtraBold" panose="00000900000000000000" pitchFamily="50" charset="-52"/>
              </a:rPr>
              <a:t>:</a:t>
            </a:r>
            <a:r>
              <a:rPr lang="en-US" sz="2800" dirty="0">
                <a:latin typeface="Akrobat SemiBold" panose="00000700000000000000" pitchFamily="50" charset="-52"/>
              </a:rPr>
              <a:t> </a:t>
            </a:r>
            <a:r>
              <a:rPr lang="uk-UA" sz="2400" dirty="0">
                <a:latin typeface="Akrobat Light" panose="00000500000000000000" pitchFamily="50" charset="-52"/>
              </a:rPr>
              <a:t>Визначити які англійські слова українські школярі запам’ятовують найважче, та проаналізувати причини цих труднощів.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04918B-482C-4BF3-B3A5-22AAB4E2CAF9}"/>
              </a:ext>
            </a:extLst>
          </p:cNvPr>
          <p:cNvSpPr txBox="1"/>
          <p:nvPr/>
        </p:nvSpPr>
        <p:spPr>
          <a:xfrm>
            <a:off x="5621466" y="3079940"/>
            <a:ext cx="913491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800" dirty="0">
                <a:latin typeface="Akrobat ExtraBold" panose="00000900000000000000" pitchFamily="50" charset="-52"/>
              </a:rPr>
              <a:t>Об’єкт дослідження</a:t>
            </a:r>
            <a:r>
              <a:rPr lang="en-US" sz="2800" dirty="0">
                <a:latin typeface="Akrobat ExtraBold" panose="00000900000000000000" pitchFamily="50" charset="-52"/>
              </a:rPr>
              <a:t>:</a:t>
            </a:r>
            <a:r>
              <a:rPr lang="en-US" sz="2800" dirty="0">
                <a:latin typeface="Akrobat SemiBold" panose="00000700000000000000" pitchFamily="50" charset="-52"/>
              </a:rPr>
              <a:t> </a:t>
            </a:r>
            <a:r>
              <a:rPr lang="uk-UA" sz="2400" dirty="0">
                <a:latin typeface="Akrobat Light" panose="00000500000000000000" pitchFamily="50" charset="-52"/>
              </a:rPr>
              <a:t>Процес засвоєння англійської лексики учнями середнього та шкільного віку.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A1D3C9-BCDA-4594-9FF2-D6D9F1866685}"/>
              </a:ext>
            </a:extLst>
          </p:cNvPr>
          <p:cNvSpPr txBox="1"/>
          <p:nvPr/>
        </p:nvSpPr>
        <p:spPr>
          <a:xfrm>
            <a:off x="5621466" y="3839802"/>
            <a:ext cx="913491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800" dirty="0">
                <a:latin typeface="Akrobat ExtraBold" panose="00000900000000000000" pitchFamily="50" charset="-52"/>
              </a:rPr>
              <a:t>Предмет дослідження</a:t>
            </a:r>
            <a:r>
              <a:rPr lang="en-US" sz="2800" dirty="0">
                <a:latin typeface="Akrobat ExtraBold" panose="00000900000000000000" pitchFamily="50" charset="-52"/>
              </a:rPr>
              <a:t>:</a:t>
            </a:r>
            <a:r>
              <a:rPr lang="en-US" sz="2800" dirty="0">
                <a:latin typeface="Akrobat SemiBold" panose="00000700000000000000" pitchFamily="50" charset="-52"/>
              </a:rPr>
              <a:t> </a:t>
            </a:r>
            <a:r>
              <a:rPr lang="uk-UA" sz="2400" dirty="0">
                <a:latin typeface="Akrobat Light" panose="00000500000000000000" pitchFamily="50" charset="-52"/>
              </a:rPr>
              <a:t>Труднощі запам’ятовування окремих груп англійських слів українськими школярами</a:t>
            </a:r>
            <a:r>
              <a:rPr lang="uk-UA" sz="2400" dirty="0">
                <a:latin typeface="Akrobat Thin" panose="00000300000000000000" pitchFamily="50" charset="-52"/>
              </a:rPr>
              <a:t>.</a:t>
            </a:r>
            <a:endParaRPr lang="uk-UA" sz="2400" dirty="0">
              <a:latin typeface="Akrobat SemiBold" panose="00000700000000000000" pitchFamily="50" charset="-52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D21DEC-2F2C-4B9E-AEC4-9387E20246BD}"/>
              </a:ext>
            </a:extLst>
          </p:cNvPr>
          <p:cNvSpPr txBox="1"/>
          <p:nvPr/>
        </p:nvSpPr>
        <p:spPr>
          <a:xfrm>
            <a:off x="5621466" y="5018753"/>
            <a:ext cx="91349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800" dirty="0">
                <a:latin typeface="Akrobat ExtraBold" panose="00000900000000000000" pitchFamily="50" charset="-52"/>
              </a:rPr>
              <a:t>Постановка задачі</a:t>
            </a:r>
            <a:r>
              <a:rPr lang="en-US" sz="2800" dirty="0">
                <a:latin typeface="Akrobat ExtraBold" panose="00000900000000000000" pitchFamily="50" charset="-52"/>
              </a:rPr>
              <a:t>: </a:t>
            </a:r>
            <a:endParaRPr lang="uk-UA" sz="2800" dirty="0">
              <a:latin typeface="Akrobat ExtraBold" panose="00000900000000000000" pitchFamily="50" charset="-52"/>
            </a:endParaRPr>
          </a:p>
          <a:p>
            <a:pPr algn="just"/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• </a:t>
            </a:r>
            <a:r>
              <a:rPr lang="uk-UA" sz="2400" dirty="0">
                <a:latin typeface="Akrobat Light" panose="00000500000000000000" pitchFamily="50" charset="-52"/>
              </a:rPr>
              <a:t>Проаналізувати роль лексики у вивченні англійської мови;</a:t>
            </a:r>
          </a:p>
          <a:p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• </a:t>
            </a:r>
            <a:r>
              <a:rPr lang="uk-UA" sz="2400" dirty="0">
                <a:latin typeface="Akrobat Light" panose="00000500000000000000" pitchFamily="50" charset="-52"/>
              </a:rPr>
              <a:t>Охарактеризувати особливості англійських слів, що ускладнюють їх запам’ятовування</a:t>
            </a:r>
            <a:r>
              <a:rPr lang="uk-UA" sz="2400" dirty="0">
                <a:latin typeface="Akrobat Thin" panose="00000300000000000000" pitchFamily="50" charset="-52"/>
              </a:rPr>
              <a:t>;</a:t>
            </a:r>
          </a:p>
          <a:p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• </a:t>
            </a:r>
            <a:r>
              <a:rPr lang="uk-UA" sz="2400" dirty="0">
                <a:latin typeface="Akrobat Light" panose="00000500000000000000" pitchFamily="50" charset="-52"/>
              </a:rPr>
              <a:t>Дослідити психологічні особливості засвоєння лексики учнями 7 класу</a:t>
            </a:r>
            <a:r>
              <a:rPr lang="uk-UA" sz="2400" dirty="0">
                <a:latin typeface="Akrobat Thin" panose="00000300000000000000" pitchFamily="50" charset="-52"/>
              </a:rPr>
              <a:t>;</a:t>
            </a:r>
          </a:p>
          <a:p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• </a:t>
            </a:r>
            <a:r>
              <a:rPr lang="uk-UA" sz="2400" dirty="0">
                <a:latin typeface="Akrobat Light" panose="00000500000000000000" pitchFamily="50" charset="-52"/>
              </a:rPr>
              <a:t>Провести опитування серед школярів з метою виявлення найскладніших для запам’ятовування слів;</a:t>
            </a:r>
          </a:p>
          <a:p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• </a:t>
            </a:r>
            <a:r>
              <a:rPr lang="uk-UA" sz="2400" dirty="0">
                <a:latin typeface="Akrobat Light" panose="00000500000000000000" pitchFamily="50" charset="-52"/>
              </a:rPr>
              <a:t>Узагальнити результати дослідження та сформулювати висновки.</a:t>
            </a: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6AA2B95B-B09A-43D9-9C65-61CE3FF428CE}"/>
              </a:ext>
            </a:extLst>
          </p:cNvPr>
          <p:cNvSpPr/>
          <p:nvPr/>
        </p:nvSpPr>
        <p:spPr>
          <a:xfrm>
            <a:off x="378266" y="8949981"/>
            <a:ext cx="14378114" cy="3644978"/>
          </a:xfrm>
          <a:prstGeom prst="roundRect">
            <a:avLst>
              <a:gd name="adj" fmla="val 3518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13500000" algn="b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963BB9-61D4-4D86-92D5-3079916866D9}"/>
              </a:ext>
            </a:extLst>
          </p:cNvPr>
          <p:cNvSpPr txBox="1"/>
          <p:nvPr/>
        </p:nvSpPr>
        <p:spPr>
          <a:xfrm>
            <a:off x="362972" y="8943095"/>
            <a:ext cx="355217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Akrobat ExtraBold" panose="00000900000000000000" pitchFamily="50" charset="-52"/>
              </a:rPr>
              <a:t>Методи</a:t>
            </a:r>
            <a:r>
              <a:rPr lang="ru-RU" sz="2800" dirty="0">
                <a:latin typeface="Akrobat ExtraBold" panose="00000900000000000000" pitchFamily="50" charset="-52"/>
              </a:rPr>
              <a:t> </a:t>
            </a:r>
            <a:r>
              <a:rPr lang="ru-RU" sz="2800" dirty="0" err="1">
                <a:latin typeface="Akrobat ExtraBold" panose="00000900000000000000" pitchFamily="50" charset="-52"/>
              </a:rPr>
              <a:t>дослідження</a:t>
            </a:r>
            <a:r>
              <a:rPr lang="ru-RU" sz="2800" dirty="0">
                <a:latin typeface="Akrobat ExtraBold" panose="00000900000000000000" pitchFamily="50" charset="-52"/>
              </a:rPr>
              <a:t>:</a:t>
            </a:r>
          </a:p>
          <a:p>
            <a:pPr algn="just"/>
            <a:r>
              <a:rPr lang="ru-RU" sz="2400" dirty="0">
                <a:latin typeface="Akrobat Light" panose="00000500000000000000" pitchFamily="50" charset="-52"/>
              </a:rPr>
              <a:t>аналіз науково-методичної </a:t>
            </a:r>
            <a:r>
              <a:rPr lang="ru-RU" sz="2400" dirty="0" err="1">
                <a:latin typeface="Akrobat Light" panose="00000500000000000000" pitchFamily="50" charset="-52"/>
              </a:rPr>
              <a:t>літератури</a:t>
            </a:r>
            <a:r>
              <a:rPr lang="ru-RU" sz="2400" dirty="0">
                <a:latin typeface="Akrobat Light" panose="00000500000000000000" pitchFamily="50" charset="-52"/>
              </a:rPr>
              <a:t>,</a:t>
            </a:r>
            <a:r>
              <a:rPr lang="en-US" sz="2400" dirty="0">
                <a:latin typeface="Akrobat Light" panose="00000500000000000000" pitchFamily="50" charset="-52"/>
              </a:rPr>
              <a:t> </a:t>
            </a:r>
            <a:r>
              <a:rPr lang="uk-UA" sz="2400" dirty="0">
                <a:latin typeface="Akrobat Light" panose="00000500000000000000" pitchFamily="50" charset="-52"/>
              </a:rPr>
              <a:t>анкетування</a:t>
            </a:r>
            <a:r>
              <a:rPr lang="ru-RU" sz="2400" dirty="0">
                <a:latin typeface="Akrobat Light" panose="00000500000000000000" pitchFamily="50" charset="-52"/>
              </a:rPr>
              <a:t>, порівняння, </a:t>
            </a:r>
            <a:r>
              <a:rPr lang="ru-RU" sz="2400" dirty="0" err="1">
                <a:latin typeface="Akrobat Light" panose="00000500000000000000" pitchFamily="50" charset="-52"/>
              </a:rPr>
              <a:t>узагальнення</a:t>
            </a:r>
            <a:r>
              <a:rPr lang="ru-RU" sz="2400" dirty="0">
                <a:latin typeface="Akrobat Light" panose="00000500000000000000" pitchFamily="50" charset="-52"/>
              </a:rPr>
              <a:t> та</a:t>
            </a:r>
            <a:r>
              <a:rPr lang="en-US" sz="2400" dirty="0">
                <a:latin typeface="Akrobat Light" panose="00000500000000000000" pitchFamily="50" charset="-52"/>
              </a:rPr>
              <a:t> </a:t>
            </a:r>
            <a:r>
              <a:rPr lang="ru-RU" sz="2400" dirty="0" err="1">
                <a:latin typeface="Akrobat Light" panose="00000500000000000000" pitchFamily="50" charset="-52"/>
              </a:rPr>
              <a:t>елементарний</a:t>
            </a:r>
            <a:r>
              <a:rPr lang="en-US" sz="2400" dirty="0">
                <a:latin typeface="Akrobat Light" panose="00000500000000000000" pitchFamily="50" charset="-52"/>
              </a:rPr>
              <a:t> </a:t>
            </a:r>
            <a:r>
              <a:rPr lang="ru-RU" sz="2400" dirty="0">
                <a:latin typeface="Akrobat Light" panose="00000500000000000000" pitchFamily="50" charset="-52"/>
              </a:rPr>
              <a:t>статистичний </a:t>
            </a:r>
            <a:r>
              <a:rPr lang="ru-RU" sz="2400" dirty="0" err="1">
                <a:latin typeface="Akrobat Light" panose="00000500000000000000" pitchFamily="50" charset="-52"/>
              </a:rPr>
              <a:t>аналіз</a:t>
            </a:r>
            <a:r>
              <a:rPr lang="ru-RU" sz="2400" dirty="0">
                <a:latin typeface="Akrobat Light" panose="00000500000000000000" pitchFamily="50" charset="-52"/>
              </a:rPr>
              <a:t> </a:t>
            </a:r>
            <a:r>
              <a:rPr lang="ru-RU" sz="2400" dirty="0" err="1">
                <a:latin typeface="Akrobat Light" panose="00000500000000000000" pitchFamily="50" charset="-52"/>
              </a:rPr>
              <a:t>отриманих</a:t>
            </a:r>
            <a:r>
              <a:rPr lang="en-US" sz="2400" dirty="0">
                <a:latin typeface="Akrobat Light" panose="00000500000000000000" pitchFamily="50" charset="-52"/>
              </a:rPr>
              <a:t> </a:t>
            </a:r>
            <a:r>
              <a:rPr lang="ru-RU" sz="2400" dirty="0" err="1">
                <a:latin typeface="Akrobat Light" panose="00000500000000000000" pitchFamily="50" charset="-52"/>
              </a:rPr>
              <a:t>даних</a:t>
            </a:r>
            <a:endParaRPr lang="uk-UA" sz="2400" dirty="0">
              <a:latin typeface="Akrobat Light" panose="00000500000000000000" pitchFamily="50" charset="-52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B41B2F-F9C5-44B3-96EA-230A62064A14}"/>
              </a:ext>
            </a:extLst>
          </p:cNvPr>
          <p:cNvSpPr txBox="1"/>
          <p:nvPr/>
        </p:nvSpPr>
        <p:spPr>
          <a:xfrm>
            <a:off x="4071892" y="8943094"/>
            <a:ext cx="594703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Akrobat ExtraBold" panose="00000900000000000000" pitchFamily="50" charset="-52"/>
              </a:rPr>
              <a:t>Актуальність:</a:t>
            </a:r>
          </a:p>
          <a:p>
            <a:pPr algn="just"/>
            <a:r>
              <a:rPr lang="ru-RU" sz="2400" dirty="0">
                <a:latin typeface="Akrobat Light" panose="00000500000000000000" pitchFamily="50" charset="-52"/>
              </a:rPr>
              <a:t>зумовлена необхідністю підвищення ефективності навчання англійської мови в закладах загальної середньої освіти. Виявлення найскладніших для запам’ятовування груп англійських слів дозволить удосконалити методи роботи з лексикою, підібрати більш результативні прийоми навчання та сприятиме формуванню позитивної мотивації учнів до вивчення іноземної мови</a:t>
            </a:r>
            <a:endParaRPr lang="uk-UA" sz="2400" dirty="0">
              <a:latin typeface="Akrobat Light" panose="00000500000000000000" pitchFamily="50" charset="-52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41089D-E972-4DFD-A95D-C2210AC05E85}"/>
              </a:ext>
            </a:extLst>
          </p:cNvPr>
          <p:cNvSpPr txBox="1"/>
          <p:nvPr/>
        </p:nvSpPr>
        <p:spPr>
          <a:xfrm>
            <a:off x="10175674" y="8943094"/>
            <a:ext cx="455587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Akrobat ExtraBold" panose="00000900000000000000" pitchFamily="50" charset="-52"/>
              </a:rPr>
              <a:t>Практичне значення роботи:</a:t>
            </a:r>
          </a:p>
          <a:p>
            <a:pPr algn="just"/>
            <a:r>
              <a:rPr lang="ru-RU" sz="2400" dirty="0">
                <a:latin typeface="Akrobat Light" panose="00000500000000000000" pitchFamily="50" charset="-52"/>
              </a:rPr>
              <a:t>полягає в можливості використання її результатів учителями англійської мови для вдосконалення роботи з лексикою, а також учнями для усвідомлення власних труднощів у вивченні англійських слів і підбору ефективніших способів </a:t>
            </a:r>
            <a:r>
              <a:rPr lang="ru-RU" sz="2400" dirty="0" err="1">
                <a:latin typeface="Akrobat Light" panose="00000500000000000000" pitchFamily="50" charset="-52"/>
              </a:rPr>
              <a:t>їх</a:t>
            </a:r>
            <a:r>
              <a:rPr lang="ru-RU" sz="2400" dirty="0">
                <a:latin typeface="Akrobat Light" panose="00000500000000000000" pitchFamily="50" charset="-52"/>
              </a:rPr>
              <a:t> </a:t>
            </a:r>
            <a:r>
              <a:rPr lang="ru-RU" sz="2400" dirty="0" err="1">
                <a:latin typeface="Akrobat Light" panose="00000500000000000000" pitchFamily="50" charset="-52"/>
              </a:rPr>
              <a:t>запам’ятовування</a:t>
            </a:r>
            <a:endParaRPr lang="uk-UA" sz="2400" dirty="0">
              <a:latin typeface="Akrobat Light" panose="00000500000000000000" pitchFamily="50" charset="-52"/>
            </a:endParaRPr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32533F1E-04DC-4BC6-9CD7-246F483352DC}"/>
              </a:ext>
            </a:extLst>
          </p:cNvPr>
          <p:cNvSpPr/>
          <p:nvPr/>
        </p:nvSpPr>
        <p:spPr>
          <a:xfrm>
            <a:off x="6819902" y="12840761"/>
            <a:ext cx="7921434" cy="8253626"/>
          </a:xfrm>
          <a:prstGeom prst="roundRect">
            <a:avLst>
              <a:gd name="adj" fmla="val 3518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13500000" algn="b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8ED89F-4BD2-472C-B095-DE69A1DAF72C}"/>
              </a:ext>
            </a:extLst>
          </p:cNvPr>
          <p:cNvSpPr txBox="1"/>
          <p:nvPr/>
        </p:nvSpPr>
        <p:spPr>
          <a:xfrm>
            <a:off x="6819902" y="13325314"/>
            <a:ext cx="7911646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uk-UA" sz="2400" dirty="0">
                <a:latin typeface="Akrobat Light" panose="00000500000000000000" pitchFamily="50" charset="-52"/>
              </a:rPr>
              <a:t>Найбільші труднощі для учнів 7 класу становлять англійські слова зі складною вимовою та написанням, 70% респондентів. Це підтверджує невідповідність між графічною та фонетичною формою англійських слів, що ускладнює їх запам’ятовування. Учні часто плутають вимову, допускають помилки під час читання та письма, що негативно впливає на впевненість у власних </a:t>
            </a:r>
            <a:r>
              <a:rPr lang="uk-UA" sz="2400" dirty="0" err="1">
                <a:latin typeface="Akrobat Light" panose="00000500000000000000" pitchFamily="50" charset="-52"/>
              </a:rPr>
              <a:t>мовних</a:t>
            </a:r>
            <a:r>
              <a:rPr lang="uk-UA" sz="2400" dirty="0">
                <a:latin typeface="Akrobat Light" panose="00000500000000000000" pitchFamily="50" charset="-52"/>
              </a:rPr>
              <a:t> уміннях. Високу складність мають фразові дієслова (63%) опитаних. Школярам важко зрозуміти переносне значення таких слів і застосовувати їх у мовленні без опори на контекст. Це пояснюється відсутністю аналогів фразових дієслів в українській мові та недостатнім практичним використанням їх у навчальному процесі. 57% респондентів вказали на складність багатозначних слів, що підтверджує проблему контекстного розуміння лексики. Школярі запам’ятовують лише одне значення слова, що ускладнює сприйняття текстів і мовлення в інших ситуаціях. Це свідчить про необхідність системної роботи зі словами в різних мовленнєвих контекстах. 47% респондентів відзначили труднощі, пов’язані з «хибними друзями перекладача». Схожість таких слів з українськими призводить до помилкових асоціацій і неправильного розуміння змісту. Подібні лексичні одиниці потребують особливої уваги вчителя та цілеспрямованого пояснення. Також проблемними є абстрактні слова (40%) та омоніми (30%). Це підтверджує, що конкретна лексика з візуальними образами засвоюється підлітками значно легше, ніж абстрактні поняття без наочного представлення</a:t>
            </a:r>
            <a:r>
              <a:rPr lang="ru-RU" sz="2400" dirty="0">
                <a:latin typeface="Akrobat Light" panose="00000500000000000000" pitchFamily="50" charset="-52"/>
              </a:rPr>
              <a:t>.</a:t>
            </a:r>
            <a:endParaRPr lang="uk-UA" sz="2400" dirty="0">
              <a:latin typeface="Akrobat Light" panose="00000500000000000000" pitchFamily="50" charset="-52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5E1AEA-6B8A-4DDF-A18A-E5604D17C4DE}"/>
              </a:ext>
            </a:extLst>
          </p:cNvPr>
          <p:cNvSpPr txBox="1"/>
          <p:nvPr/>
        </p:nvSpPr>
        <p:spPr>
          <a:xfrm>
            <a:off x="6810116" y="12790118"/>
            <a:ext cx="79214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Akrobat ExtraBold" panose="00000900000000000000" pitchFamily="50" charset="-52"/>
              </a:rPr>
              <a:t>Результати дослідження:</a:t>
            </a:r>
          </a:p>
        </p:txBody>
      </p:sp>
      <p:sp>
        <p:nvSpPr>
          <p:cNvPr id="79" name="Прямоугольник: скругленные углы 78">
            <a:extLst>
              <a:ext uri="{FF2B5EF4-FFF2-40B4-BE49-F238E27FC236}">
                <a16:creationId xmlns:a16="http://schemas.microsoft.com/office/drawing/2014/main" id="{ECC2490E-E286-4AD3-8F1C-9B9C3C0089D0}"/>
              </a:ext>
            </a:extLst>
          </p:cNvPr>
          <p:cNvSpPr/>
          <p:nvPr/>
        </p:nvSpPr>
        <p:spPr>
          <a:xfrm>
            <a:off x="362971" y="12840762"/>
            <a:ext cx="6209280" cy="3524112"/>
          </a:xfrm>
          <a:prstGeom prst="roundRect">
            <a:avLst>
              <a:gd name="adj" fmla="val 3518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13500000" algn="b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67FD39-B581-4125-8903-E77D6F3C5A47}"/>
              </a:ext>
            </a:extLst>
          </p:cNvPr>
          <p:cNvSpPr txBox="1"/>
          <p:nvPr/>
        </p:nvSpPr>
        <p:spPr>
          <a:xfrm>
            <a:off x="380601" y="12790119"/>
            <a:ext cx="616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Akrobat ExtraBold" panose="00000900000000000000" pitchFamily="50" charset="-52"/>
              </a:rPr>
              <a:t>Графік результатів опитування:</a:t>
            </a: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F4CDB1C2-C873-4A98-A596-945BB26F4C93}"/>
              </a:ext>
            </a:extLst>
          </p:cNvPr>
          <p:cNvSpPr/>
          <p:nvPr/>
        </p:nvSpPr>
        <p:spPr>
          <a:xfrm rot="16200000" flipV="1">
            <a:off x="4672031" y="14413284"/>
            <a:ext cx="339376" cy="298928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7200" dirty="0"/>
              <a:t> </a:t>
            </a:r>
            <a:endParaRPr lang="ru-RU" sz="7200" dirty="0"/>
          </a:p>
        </p:txBody>
      </p: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ADF404CD-560C-4294-BB46-6A71AAB7D2C0}"/>
              </a:ext>
            </a:extLst>
          </p:cNvPr>
          <p:cNvSpPr/>
          <p:nvPr/>
        </p:nvSpPr>
        <p:spPr>
          <a:xfrm rot="16200000" flipV="1">
            <a:off x="4504137" y="14121557"/>
            <a:ext cx="339376" cy="265349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88DEBA46-7491-4C9F-948E-ADB8EE00024B}"/>
              </a:ext>
            </a:extLst>
          </p:cNvPr>
          <p:cNvSpPr/>
          <p:nvPr/>
        </p:nvSpPr>
        <p:spPr>
          <a:xfrm rot="16200000" flipV="1">
            <a:off x="4377281" y="13788789"/>
            <a:ext cx="339376" cy="239978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BD74F8A5-C27D-436A-AECA-8A8A4B033D56}"/>
              </a:ext>
            </a:extLst>
          </p:cNvPr>
          <p:cNvSpPr/>
          <p:nvPr/>
        </p:nvSpPr>
        <p:spPr>
          <a:xfrm rot="16200000" flipV="1">
            <a:off x="4172077" y="13534372"/>
            <a:ext cx="339376" cy="19893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A7AAA463-B007-4DC9-81C8-70B0F7557548}"/>
              </a:ext>
            </a:extLst>
          </p:cNvPr>
          <p:cNvSpPr/>
          <p:nvPr/>
        </p:nvSpPr>
        <p:spPr>
          <a:xfrm rot="16200000" flipV="1">
            <a:off x="4022837" y="13223990"/>
            <a:ext cx="339376" cy="16908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5E5B2EA1-C68F-41BF-9CB9-31CF9A5BD911}"/>
              </a:ext>
            </a:extLst>
          </p:cNvPr>
          <p:cNvSpPr/>
          <p:nvPr/>
        </p:nvSpPr>
        <p:spPr>
          <a:xfrm rot="16200000" flipV="1">
            <a:off x="3817631" y="12969573"/>
            <a:ext cx="339376" cy="128048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481463C-C2B3-43E9-AA22-814A4522D148}"/>
              </a:ext>
            </a:extLst>
          </p:cNvPr>
          <p:cNvSpPr txBox="1"/>
          <p:nvPr/>
        </p:nvSpPr>
        <p:spPr>
          <a:xfrm>
            <a:off x="4031671" y="13356251"/>
            <a:ext cx="826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krobat Thin" panose="00000300000000000000" pitchFamily="50" charset="-52"/>
              </a:rPr>
              <a:t>30%</a:t>
            </a:r>
            <a:endParaRPr lang="uk-UA" sz="2400" dirty="0">
              <a:solidFill>
                <a:schemeClr val="bg1"/>
              </a:solidFill>
              <a:latin typeface="Akrobat Thin" panose="00000300000000000000" pitchFamily="50" charset="-52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CA8D73-F57F-4505-B31A-173CC75881D4}"/>
              </a:ext>
            </a:extLst>
          </p:cNvPr>
          <p:cNvSpPr txBox="1"/>
          <p:nvPr/>
        </p:nvSpPr>
        <p:spPr>
          <a:xfrm>
            <a:off x="4472413" y="13821739"/>
            <a:ext cx="826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krobat Thin" panose="00000300000000000000" pitchFamily="50" charset="-52"/>
              </a:rPr>
              <a:t>40%</a:t>
            </a:r>
            <a:endParaRPr lang="uk-UA" sz="2400" dirty="0">
              <a:solidFill>
                <a:schemeClr val="bg1"/>
              </a:solidFill>
              <a:latin typeface="Akrobat Thin" panose="00000300000000000000" pitchFamily="50" charset="-52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7F4566-D3F1-4080-A417-A4FBA601D64E}"/>
              </a:ext>
            </a:extLst>
          </p:cNvPr>
          <p:cNvSpPr txBox="1"/>
          <p:nvPr/>
        </p:nvSpPr>
        <p:spPr>
          <a:xfrm>
            <a:off x="4750025" y="14279667"/>
            <a:ext cx="826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krobat Thin" panose="00000300000000000000" pitchFamily="50" charset="-52"/>
              </a:rPr>
              <a:t>47%</a:t>
            </a:r>
            <a:endParaRPr lang="uk-UA" sz="2400" dirty="0">
              <a:solidFill>
                <a:schemeClr val="bg1"/>
              </a:solidFill>
              <a:latin typeface="Akrobat Thin" panose="00000300000000000000" pitchFamily="50" charset="-52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1C82CA-F084-44BA-A596-4528B0538134}"/>
              </a:ext>
            </a:extLst>
          </p:cNvPr>
          <p:cNvSpPr txBox="1"/>
          <p:nvPr/>
        </p:nvSpPr>
        <p:spPr>
          <a:xfrm>
            <a:off x="5144857" y="14733663"/>
            <a:ext cx="826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krobat Thin" panose="00000300000000000000" pitchFamily="50" charset="-52"/>
              </a:rPr>
              <a:t>57%</a:t>
            </a:r>
            <a:endParaRPr lang="uk-UA" sz="2400" dirty="0">
              <a:solidFill>
                <a:schemeClr val="bg1"/>
              </a:solidFill>
              <a:latin typeface="Akrobat Thin" panose="00000300000000000000" pitchFamily="50" charset="-52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A12373B-954B-4994-8DDB-E6F776CA9277}"/>
              </a:ext>
            </a:extLst>
          </p:cNvPr>
          <p:cNvSpPr txBox="1"/>
          <p:nvPr/>
        </p:nvSpPr>
        <p:spPr>
          <a:xfrm>
            <a:off x="5369221" y="15189625"/>
            <a:ext cx="826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krobat Thin" panose="00000300000000000000" pitchFamily="50" charset="-52"/>
              </a:rPr>
              <a:t>63%</a:t>
            </a:r>
            <a:endParaRPr lang="uk-UA" sz="2400" dirty="0">
              <a:solidFill>
                <a:schemeClr val="bg1"/>
              </a:solidFill>
              <a:latin typeface="Akrobat Thin" panose="00000300000000000000" pitchFamily="50" charset="-52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116052-A406-4419-8957-75D3493C4A7A}"/>
              </a:ext>
            </a:extLst>
          </p:cNvPr>
          <p:cNvSpPr txBox="1"/>
          <p:nvPr/>
        </p:nvSpPr>
        <p:spPr>
          <a:xfrm>
            <a:off x="5719345" y="15645585"/>
            <a:ext cx="826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krobat Thin" panose="00000300000000000000" pitchFamily="50" charset="-52"/>
              </a:rPr>
              <a:t>70%</a:t>
            </a:r>
            <a:endParaRPr lang="uk-UA" sz="2400" dirty="0">
              <a:solidFill>
                <a:schemeClr val="bg1"/>
              </a:solidFill>
              <a:latin typeface="Akrobat Thin" panose="00000300000000000000" pitchFamily="50" charset="-52"/>
            </a:endParaRPr>
          </a:p>
        </p:txBody>
      </p: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B28A8392-F638-4455-9DFA-9496E387ECF4}"/>
              </a:ext>
            </a:extLst>
          </p:cNvPr>
          <p:cNvCxnSpPr>
            <a:cxnSpLocks/>
          </p:cNvCxnSpPr>
          <p:nvPr/>
        </p:nvCxnSpPr>
        <p:spPr>
          <a:xfrm>
            <a:off x="3260215" y="13371034"/>
            <a:ext cx="0" cy="2790448"/>
          </a:xfrm>
          <a:prstGeom prst="line">
            <a:avLst/>
          </a:prstGeom>
          <a:ln w="190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2931E61-18A1-4F1E-8A64-F9C9C3024D83}"/>
              </a:ext>
            </a:extLst>
          </p:cNvPr>
          <p:cNvSpPr txBox="1"/>
          <p:nvPr/>
        </p:nvSpPr>
        <p:spPr>
          <a:xfrm>
            <a:off x="362982" y="13332819"/>
            <a:ext cx="3055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dirty="0">
                <a:latin typeface="Akrobat Light" panose="00000500000000000000" pitchFamily="50" charset="-52"/>
              </a:rPr>
              <a:t>Омоніми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0ABECD-B515-433A-AFA6-2E95A898FBDC}"/>
              </a:ext>
            </a:extLst>
          </p:cNvPr>
          <p:cNvSpPr txBox="1"/>
          <p:nvPr/>
        </p:nvSpPr>
        <p:spPr>
          <a:xfrm>
            <a:off x="362982" y="13792441"/>
            <a:ext cx="3055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dirty="0">
                <a:latin typeface="Akrobat Light" panose="00000500000000000000" pitchFamily="50" charset="-52"/>
              </a:rPr>
              <a:t>Абстрактні слова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D6FE6A-26FF-4C44-968B-44047AE5E958}"/>
              </a:ext>
            </a:extLst>
          </p:cNvPr>
          <p:cNvSpPr txBox="1"/>
          <p:nvPr/>
        </p:nvSpPr>
        <p:spPr>
          <a:xfrm>
            <a:off x="362982" y="14252063"/>
            <a:ext cx="3055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dirty="0">
                <a:latin typeface="Akrobat Light" panose="00000500000000000000" pitchFamily="50" charset="-52"/>
              </a:rPr>
              <a:t>«Хибні друзі»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783154-252B-4CA0-BDC0-B1766984B676}"/>
              </a:ext>
            </a:extLst>
          </p:cNvPr>
          <p:cNvSpPr txBox="1"/>
          <p:nvPr/>
        </p:nvSpPr>
        <p:spPr>
          <a:xfrm>
            <a:off x="362982" y="14711685"/>
            <a:ext cx="3055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dirty="0">
                <a:latin typeface="Akrobat Light" panose="00000500000000000000" pitchFamily="50" charset="-52"/>
              </a:rPr>
              <a:t>Багатозначні слова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A4CD57-7028-4DC3-BD3F-769DC292728B}"/>
              </a:ext>
            </a:extLst>
          </p:cNvPr>
          <p:cNvSpPr txBox="1"/>
          <p:nvPr/>
        </p:nvSpPr>
        <p:spPr>
          <a:xfrm>
            <a:off x="362982" y="15171303"/>
            <a:ext cx="3055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dirty="0">
                <a:latin typeface="Akrobat Light" panose="00000500000000000000" pitchFamily="50" charset="-52"/>
              </a:rPr>
              <a:t>Фразові дієслова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273309-6EF6-4A35-BCCE-353C5457FBEA}"/>
              </a:ext>
            </a:extLst>
          </p:cNvPr>
          <p:cNvSpPr txBox="1"/>
          <p:nvPr/>
        </p:nvSpPr>
        <p:spPr>
          <a:xfrm>
            <a:off x="362982" y="15685734"/>
            <a:ext cx="3160362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000"/>
              </a:lnSpc>
            </a:pPr>
            <a:r>
              <a:rPr lang="uk-UA" sz="2400" dirty="0" err="1">
                <a:latin typeface="Akrobat Light" panose="00000500000000000000" pitchFamily="50" charset="-52"/>
              </a:rPr>
              <a:t>Скл</a:t>
            </a:r>
            <a:r>
              <a:rPr lang="uk-UA" sz="2400" dirty="0">
                <a:latin typeface="Akrobat Light" panose="00000500000000000000" pitchFamily="50" charset="-52"/>
              </a:rPr>
              <a:t>. вимова і написання</a:t>
            </a:r>
          </a:p>
        </p:txBody>
      </p:sp>
      <p:sp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60DE38B5-EC15-4D1E-8F1C-CEDD3DA90BCB}"/>
              </a:ext>
            </a:extLst>
          </p:cNvPr>
          <p:cNvSpPr/>
          <p:nvPr/>
        </p:nvSpPr>
        <p:spPr>
          <a:xfrm>
            <a:off x="362969" y="16657423"/>
            <a:ext cx="6209280" cy="4436966"/>
          </a:xfrm>
          <a:prstGeom prst="roundRect">
            <a:avLst>
              <a:gd name="adj" fmla="val 3518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13500000" algn="b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6063DD0-6E67-4A88-A9E9-118CF189A9F7}"/>
              </a:ext>
            </a:extLst>
          </p:cNvPr>
          <p:cNvSpPr txBox="1"/>
          <p:nvPr/>
        </p:nvSpPr>
        <p:spPr>
          <a:xfrm>
            <a:off x="362969" y="16528462"/>
            <a:ext cx="60838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Akrobat ExtraBold" panose="00000900000000000000" pitchFamily="50" charset="-52"/>
              </a:rPr>
              <a:t>Висновки</a:t>
            </a:r>
            <a:r>
              <a:rPr lang="ru-RU" sz="2800" dirty="0">
                <a:latin typeface="Akrobat ExtraBold" panose="00000900000000000000" pitchFamily="50" charset="-52"/>
              </a:rPr>
              <a:t>: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41BE305-1146-4867-A2EE-6F051C0BA7CB}"/>
              </a:ext>
            </a:extLst>
          </p:cNvPr>
          <p:cNvSpPr txBox="1"/>
          <p:nvPr/>
        </p:nvSpPr>
        <p:spPr>
          <a:xfrm>
            <a:off x="387802" y="16959924"/>
            <a:ext cx="6184446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200"/>
              </a:lnSpc>
            </a:pPr>
            <a:r>
              <a:rPr lang="uk-UA" sz="2400" dirty="0">
                <a:latin typeface="Akrobat Light" panose="00000500000000000000" pitchFamily="50" charset="-52"/>
              </a:rPr>
              <a:t>Отримані дані свідчать про те, що труднощі запам’ятовування англійських слів мають комплексний характер і зумовлені </a:t>
            </a:r>
            <a:r>
              <a:rPr lang="uk-UA" sz="2400" dirty="0" err="1">
                <a:latin typeface="Akrobat Light" panose="00000500000000000000" pitchFamily="50" charset="-52"/>
              </a:rPr>
              <a:t>мовними</a:t>
            </a:r>
            <a:r>
              <a:rPr lang="uk-UA" sz="2400" dirty="0">
                <a:latin typeface="Akrobat Light" panose="00000500000000000000" pitchFamily="50" charset="-52"/>
              </a:rPr>
              <a:t> особливостями англійської лексики та психологічними чинниками навчання. Виявлено, що механічне заучування слів без контексту та недостатнє практичне використання лексики у мовленні значно знижують ефективність її засвоєння.  Отже, мету дослідження було досягнуто, а поставлені завдання – виконано. Дослідження підтверджує гіпотезу, що певні групи англійських слів є більш складними для запам’ятовування українськими школярами через специфіку англійської мови та особливості підліткового віку</a:t>
            </a:r>
          </a:p>
        </p:txBody>
      </p:sp>
    </p:spTree>
    <p:extLst>
      <p:ext uri="{BB962C8B-B14F-4D97-AF65-F5344CB8AC3E}">
        <p14:creationId xmlns:p14="http://schemas.microsoft.com/office/powerpoint/2010/main" val="41194164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</TotalTime>
  <Words>593</Words>
  <Application>Microsoft Office PowerPoint</Application>
  <PresentationFormat>Произвольный</PresentationFormat>
  <Paragraphs>37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11" baseType="lpstr">
      <vt:lpstr>Akrobat SemiBold</vt:lpstr>
      <vt:lpstr>Calibri Light</vt:lpstr>
      <vt:lpstr>Calibri</vt:lpstr>
      <vt:lpstr>Akrobat Thin</vt:lpstr>
      <vt:lpstr>Akrobat Light</vt:lpstr>
      <vt:lpstr>Akrobat Black</vt:lpstr>
      <vt:lpstr>Akrobat ExtraBold</vt:lpstr>
      <vt:lpstr>Arial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Dgardes Gusь</dc:creator>
  <cp:lastModifiedBy>Dgardes Gusь</cp:lastModifiedBy>
  <cp:revision>33</cp:revision>
  <dcterms:created xsi:type="dcterms:W3CDTF">2026-03-12T10:14:16Z</dcterms:created>
  <dcterms:modified xsi:type="dcterms:W3CDTF">2026-03-13T09:21:33Z</dcterms:modified>
</cp:coreProperties>
</file>