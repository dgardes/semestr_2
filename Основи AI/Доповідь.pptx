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73" r:id="rId2"/>
    <p:sldId id="274" r:id="rId3"/>
    <p:sldId id="277" r:id="rId4"/>
    <p:sldId id="278" r:id="rId5"/>
    <p:sldId id="279" r:id="rId6"/>
    <p:sldId id="280" r:id="rId7"/>
    <p:sldId id="281" r:id="rId8"/>
    <p:sldId id="283" r:id="rId9"/>
    <p:sldId id="282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3" r:id="rId19"/>
    <p:sldId id="297" r:id="rId20"/>
    <p:sldId id="292" r:id="rId21"/>
    <p:sldId id="294" r:id="rId22"/>
    <p:sldId id="295" r:id="rId23"/>
    <p:sldId id="296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</p:sldIdLst>
  <p:sldSz cx="12192000" cy="6858000"/>
  <p:notesSz cx="6858000" cy="9144000"/>
  <p:embeddedFontLst>
    <p:embeddedFont>
      <p:font typeface="Montserrat Medium" panose="00000600000000000000" pitchFamily="2" charset="-52"/>
      <p:regular r:id="rId33"/>
      <p:italic r:id="rId34"/>
    </p:embeddedFont>
    <p:embeddedFont>
      <p:font typeface="Montserrat SemiBold" panose="00000700000000000000" pitchFamily="2" charset="-52"/>
      <p:bold r:id="rId35"/>
      <p:boldItalic r:id="rId36"/>
    </p:embeddedFont>
    <p:embeddedFont>
      <p:font typeface="Segoe UI Black" panose="020B0A02040204020203" pitchFamily="34" charset="0"/>
      <p:bold r:id="rId37"/>
      <p:boldItalic r:id="rId38"/>
    </p:embeddedFont>
  </p:embeddedFontLst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98" userDrawn="1">
          <p15:clr>
            <a:srgbClr val="A4A3A4"/>
          </p15:clr>
        </p15:guide>
        <p15:guide id="3" pos="279" userDrawn="1">
          <p15:clr>
            <a:srgbClr val="A4A3A4"/>
          </p15:clr>
        </p15:guide>
        <p15:guide id="4" orient="horz" pos="39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FF4FF"/>
    <a:srgbClr val="CC0000"/>
    <a:srgbClr val="0F126A"/>
    <a:srgbClr val="669E9A"/>
    <a:srgbClr val="08EDE8"/>
    <a:srgbClr val="E6E6E6"/>
    <a:srgbClr val="1B2B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73" autoAdjust="0"/>
    <p:restoredTop sz="94660"/>
  </p:normalViewPr>
  <p:slideViewPr>
    <p:cSldViewPr snapToGrid="0">
      <p:cViewPr>
        <p:scale>
          <a:sx n="66" d="100"/>
          <a:sy n="66" d="100"/>
        </p:scale>
        <p:origin x="2394" y="1056"/>
      </p:cViewPr>
      <p:guideLst>
        <p:guide orient="horz" pos="2183"/>
        <p:guide pos="98"/>
        <p:guide pos="279"/>
        <p:guide orient="horz" pos="3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C0C6D9-3671-E12A-FDFC-02604AF72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39AA54-364F-13CC-2F46-55BA7316AF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D0533D-89DE-1805-4D0D-3DC754BD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1359B5-3B2F-A7ED-0FC8-B3AACAA56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A6C7445-23D4-A13B-A1DD-27B17B5FF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37781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B145CD-0F91-6F01-3027-C1A0E82E0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F50468-DFBD-7661-CB7F-C2D95512B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437CB2-7D09-3552-F3EA-A7ED771D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D1E42-0006-21F8-0EBE-7BEE58E1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35FB5-4CF8-C426-94A1-E5F7D4B19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22814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A97C85-C0AB-E984-01BE-E7D478982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60B876-3BD5-8661-DFF0-EDEBD53BF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DC76BA-BB0A-6F14-4F06-6524D2E55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B467BB-1B3B-0B80-7941-E0DA81A82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AB7DBF-EC79-97CD-C673-F7DDEC472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06384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A0D0C7-68FB-A9A0-E6E7-98479A9B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4AC902-B181-C5E4-0587-9A65AF268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8C76DFC-E8CD-2109-E40A-C5A6DF6D5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33930C-CE8A-4D26-7026-E7EA46DAD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2DE99B-D5E8-4070-8B1B-06822F721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190858-6776-834C-9D64-AE09ECF7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6270153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1E8F79-5258-610E-3CC9-95740FB79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4CF55A-3EE0-3F3B-9E77-5B93BFAB3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E4B91B0-CD98-0CA2-7997-7EBF1A9AD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EB7D22B-8BFF-C11C-96D7-179CBA308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240AC1-027A-FEA1-E4B8-EFD7B182C8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B4ABFA6-82C8-1578-0594-B5E404AE9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47AA6EA-8763-B3AC-D62C-48EC4904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773B8B-F85E-A862-C177-16014F9F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84414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32CAB0-EA84-CD46-B03D-F5A22FE80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EC42D8-A307-58E3-9980-3DDA2D103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C7E308D-8096-5370-9118-23614E1A3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4FBB004-7C10-3D17-BB2D-EEC3A478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855782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DE3A2C2-DE86-5302-22F1-61513883B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BE8E5F4-F909-9DCE-D00B-E03FA469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66D8D6-15E7-375F-930E-1782267F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01199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130D1-75C7-AFCB-E4DA-B9BCD9E42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544821-70CF-E283-EAE9-932D2A3A5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CD88459-B5D4-04B0-7C5C-1C9223F97F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E96E1A-634C-80CB-84AB-C4D2083E7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932DFA-F679-7CB9-E5B4-98C73C136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423001-B304-7250-6852-60E645F36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15153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938C1A-CCA9-9D8F-2940-7CF037E00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28E1E4F-1ECD-A5B3-8344-F4C7492A10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1FE20C4-3672-B969-5A64-4A0430FAF9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C6421F-696C-9D89-530C-7ED1BDBE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654799C-1018-D9E3-EC00-A31A84D88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E0C455-B860-1709-2A76-3082EF621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205838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7F69F8-7FEA-597F-E40F-80B793E6E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034020-9960-3F43-5CAC-736EAF6F4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D096E1-A348-9BAF-519F-4BB11EE7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557983-66B7-0B90-26FF-D117D1FAF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A0EB72-0CEA-C9FA-0CC5-22381C9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754759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A1ED49-1FC7-AFFD-1D5B-82D8CCAAD1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D76702-B805-A7F4-31C2-FF18C4542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DE7654-99B9-990D-1ABB-F11080E9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169D6B-DD48-D6D2-5AFC-36F0A6BF7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3D436F-15AB-F0E0-DFBF-89B0ABD5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421695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12863C-332D-F0A8-0F35-A6D7AA502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12C0B-4539-7CC6-5705-0F701F648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359BE40-0B4B-5EB7-FBB3-84A5C3B6AD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C7B924-A7F8-42A7-804D-64D8F7507B61}" type="datetimeFigureOut">
              <a:rPr lang="ru-UA" smtClean="0"/>
              <a:t>03/12/2026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3AE384-05C9-BAD8-244B-5577427F9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B51AC7-EB43-9094-5849-D5FDF121B7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2718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9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.png"/><Relationship Id="rId4" Type="http://schemas.openxmlformats.org/officeDocument/2006/relationships/image" Target="../media/image1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23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22.png"/><Relationship Id="rId2" Type="http://schemas.openxmlformats.org/officeDocument/2006/relationships/video" Target="../media/media1.mp4"/><Relationship Id="rId16" Type="http://schemas.openxmlformats.org/officeDocument/2006/relationships/image" Target="../media/image26.png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21.png"/><Relationship Id="rId5" Type="http://schemas.microsoft.com/office/2007/relationships/media" Target="../media/media3.mp4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23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22.png"/><Relationship Id="rId2" Type="http://schemas.openxmlformats.org/officeDocument/2006/relationships/video" Target="../media/media1.mp4"/><Relationship Id="rId16" Type="http://schemas.openxmlformats.org/officeDocument/2006/relationships/image" Target="../media/image26.png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21.png"/><Relationship Id="rId5" Type="http://schemas.microsoft.com/office/2007/relationships/media" Target="../media/media3.mp4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video" Target="../media/media2.mp4"/><Relationship Id="rId13" Type="http://schemas.openxmlformats.org/officeDocument/2006/relationships/image" Target="../media/image24.png"/><Relationship Id="rId3" Type="http://schemas.microsoft.com/office/2007/relationships/media" Target="../media/media3.mp4"/><Relationship Id="rId7" Type="http://schemas.microsoft.com/office/2007/relationships/media" Target="../media/media2.mp4"/><Relationship Id="rId12" Type="http://schemas.openxmlformats.org/officeDocument/2006/relationships/image" Target="../media/image2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4.mp4"/><Relationship Id="rId11" Type="http://schemas.openxmlformats.org/officeDocument/2006/relationships/image" Target="../media/image25.png"/><Relationship Id="rId5" Type="http://schemas.microsoft.com/office/2007/relationships/media" Target="../media/media4.mp4"/><Relationship Id="rId10" Type="http://schemas.openxmlformats.org/officeDocument/2006/relationships/image" Target="../media/image23.png"/><Relationship Id="rId4" Type="http://schemas.openxmlformats.org/officeDocument/2006/relationships/video" Target="../media/media3.mp4"/><Relationship Id="rId9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26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2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24.png"/><Relationship Id="rId5" Type="http://schemas.microsoft.com/office/2007/relationships/media" Target="../media/media3.mp4"/><Relationship Id="rId10" Type="http://schemas.openxmlformats.org/officeDocument/2006/relationships/image" Target="../media/image23.png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microsoft.com/office/2007/relationships/media" Target="../media/media3.mp4"/><Relationship Id="rId7" Type="http://schemas.openxmlformats.org/officeDocument/2006/relationships/image" Target="../media/image27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4.png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3.mp4"/><Relationship Id="rId9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microsoft.com/office/2007/relationships/media" Target="../media/media3.mp4"/><Relationship Id="rId7" Type="http://schemas.openxmlformats.org/officeDocument/2006/relationships/image" Target="../media/image27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4.png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3.mp4"/><Relationship Id="rId9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26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video" Target="../media/media2.mp4"/><Relationship Id="rId13" Type="http://schemas.openxmlformats.org/officeDocument/2006/relationships/image" Target="../media/image24.png"/><Relationship Id="rId3" Type="http://schemas.microsoft.com/office/2007/relationships/media" Target="../media/media3.mp4"/><Relationship Id="rId7" Type="http://schemas.microsoft.com/office/2007/relationships/media" Target="../media/media2.mp4"/><Relationship Id="rId12" Type="http://schemas.openxmlformats.org/officeDocument/2006/relationships/image" Target="../media/image2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4.mp4"/><Relationship Id="rId11" Type="http://schemas.openxmlformats.org/officeDocument/2006/relationships/image" Target="../media/image25.png"/><Relationship Id="rId5" Type="http://schemas.microsoft.com/office/2007/relationships/media" Target="../media/media4.mp4"/><Relationship Id="rId10" Type="http://schemas.openxmlformats.org/officeDocument/2006/relationships/image" Target="../media/image23.png"/><Relationship Id="rId4" Type="http://schemas.openxmlformats.org/officeDocument/2006/relationships/video" Target="../media/media3.mp4"/><Relationship Id="rId9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46" name="вертикаль">
            <a:extLst>
              <a:ext uri="{FF2B5EF4-FFF2-40B4-BE49-F238E27FC236}">
                <a16:creationId xmlns:a16="http://schemas.microsoft.com/office/drawing/2014/main" id="{D331056E-1B7F-4627-84E3-3FD923030477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!!джойстик">
            <a:extLst>
              <a:ext uri="{FF2B5EF4-FFF2-40B4-BE49-F238E27FC236}">
                <a16:creationId xmlns:a16="http://schemas.microsoft.com/office/drawing/2014/main" id="{34633899-E252-4A3B-8200-76D79F3534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19796414">
            <a:off x="5318877" y="1558753"/>
            <a:ext cx="6968054" cy="4883493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DD1373-C85B-4FE8-B6B4-106D61F11ACF}"/>
              </a:ext>
            </a:extLst>
          </p:cNvPr>
          <p:cNvSpPr txBox="1"/>
          <p:nvPr/>
        </p:nvSpPr>
        <p:spPr>
          <a:xfrm>
            <a:off x="607167" y="515157"/>
            <a:ext cx="5268686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500"/>
              </a:lnSpc>
            </a:pPr>
            <a:r>
              <a:rPr lang="uk-UA" sz="40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 Інтелект у ігровій індустрії</a:t>
            </a:r>
            <a:endParaRPr lang="ru-RU" sz="40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47" name="горизонт">
            <a:extLst>
              <a:ext uri="{FF2B5EF4-FFF2-40B4-BE49-F238E27FC236}">
                <a16:creationId xmlns:a16="http://schemas.microsoft.com/office/drawing/2014/main" id="{BB5DFF05-9073-4595-8CCF-13AEEF9A8BA4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миниДжойстик">
            <a:extLst>
              <a:ext uri="{FF2B5EF4-FFF2-40B4-BE49-F238E27FC236}">
                <a16:creationId xmlns:a16="http://schemas.microsoft.com/office/drawing/2014/main" id="{9A1D5D42-2D46-4333-9DF5-2C81659751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682" t="-59241" r="54529" b="8580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8EE761CE-29AB-4451-B9F9-D950062E9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349580" y="-10988"/>
            <a:ext cx="4570857" cy="6858000"/>
          </a:xfrm>
          <a:prstGeom prst="rect">
            <a:avLst/>
          </a:prstGeom>
        </p:spPr>
      </p:pic>
      <p:sp>
        <p:nvSpPr>
          <p:cNvPr id="69" name="Прямоугольник: скругленные углы 68">
            <a:extLst>
              <a:ext uri="{FF2B5EF4-FFF2-40B4-BE49-F238E27FC236}">
                <a16:creationId xmlns:a16="http://schemas.microsoft.com/office/drawing/2014/main" id="{4F519D8F-E5E2-4F98-B700-967E9F04204B}"/>
              </a:ext>
            </a:extLst>
          </p:cNvPr>
          <p:cNvSpPr/>
          <p:nvPr/>
        </p:nvSpPr>
        <p:spPr>
          <a:xfrm>
            <a:off x="677324" y="-2504616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Прямоугольник: скругленные углы 69">
            <a:extLst>
              <a:ext uri="{FF2B5EF4-FFF2-40B4-BE49-F238E27FC236}">
                <a16:creationId xmlns:a16="http://schemas.microsoft.com/office/drawing/2014/main" id="{8FDD9DCD-01CB-4CEA-B327-903C2CD7A1C1}"/>
              </a:ext>
            </a:extLst>
          </p:cNvPr>
          <p:cNvSpPr/>
          <p:nvPr/>
        </p:nvSpPr>
        <p:spPr>
          <a:xfrm>
            <a:off x="14765366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Прямоугольник: скругленные углы 70">
            <a:extLst>
              <a:ext uri="{FF2B5EF4-FFF2-40B4-BE49-F238E27FC236}">
                <a16:creationId xmlns:a16="http://schemas.microsoft.com/office/drawing/2014/main" id="{E4373872-CD7A-4596-9D04-5A60AD95F98C}"/>
              </a:ext>
            </a:extLst>
          </p:cNvPr>
          <p:cNvSpPr/>
          <p:nvPr/>
        </p:nvSpPr>
        <p:spPr>
          <a:xfrm>
            <a:off x="677324" y="7603171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AF2D5D-3E5B-419E-ABD7-7728B2E6D8DF}"/>
              </a:ext>
            </a:extLst>
          </p:cNvPr>
          <p:cNvSpPr txBox="1"/>
          <p:nvPr/>
        </p:nvSpPr>
        <p:spPr>
          <a:xfrm>
            <a:off x="1229876" y="-2356437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002D6D-2370-41FE-BD7F-A3610D055C9E}"/>
              </a:ext>
            </a:extLst>
          </p:cNvPr>
          <p:cNvSpPr txBox="1"/>
          <p:nvPr/>
        </p:nvSpPr>
        <p:spPr>
          <a:xfrm>
            <a:off x="1229875" y="7781137"/>
            <a:ext cx="36659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Адаптивність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та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виклик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1CA4A4-222A-4ABD-938C-3E2A6C852109}"/>
              </a:ext>
            </a:extLst>
          </p:cNvPr>
          <p:cNvSpPr txBox="1"/>
          <p:nvPr/>
        </p:nvSpPr>
        <p:spPr>
          <a:xfrm>
            <a:off x="14765365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568F89D9-6AA9-44FC-9052-41ECBAE089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-2460609"/>
            <a:ext cx="531424" cy="531424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8BA9B6C-3D34-47BD-91D2-2C8C2FB38EB6}"/>
              </a:ext>
            </a:extLst>
          </p:cNvPr>
          <p:cNvSpPr txBox="1"/>
          <p:nvPr/>
        </p:nvSpPr>
        <p:spPr>
          <a:xfrm>
            <a:off x="664817" y="8283199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756F12-9949-4C18-A990-C81B17979E68}"/>
              </a:ext>
            </a:extLst>
          </p:cNvPr>
          <p:cNvSpPr txBox="1"/>
          <p:nvPr/>
        </p:nvSpPr>
        <p:spPr>
          <a:xfrm>
            <a:off x="664817" y="-1907554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2E7FE00-CA89-4583-B718-AD1FD112AFB0}"/>
              </a:ext>
            </a:extLst>
          </p:cNvPr>
          <p:cNvSpPr txBox="1"/>
          <p:nvPr/>
        </p:nvSpPr>
        <p:spPr>
          <a:xfrm>
            <a:off x="14765365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228E8F3-E2E4-45EE-A01B-EA4AB7CA6226}"/>
              </a:ext>
            </a:extLst>
          </p:cNvPr>
          <p:cNvSpPr txBox="1"/>
          <p:nvPr/>
        </p:nvSpPr>
        <p:spPr>
          <a:xfrm>
            <a:off x="14832584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334A1A66-BF90-4EDA-889E-9E16CADD5A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1679" y="7754052"/>
            <a:ext cx="493896" cy="49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794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8" name="!!PlayPhoto" descr="F.E.A.R. on Steam">
            <a:extLst>
              <a:ext uri="{FF2B5EF4-FFF2-40B4-BE49-F238E27FC236}">
                <a16:creationId xmlns:a16="http://schemas.microsoft.com/office/drawing/2014/main" id="{45607217-64CA-4EA9-8ABC-91181C7242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-6484" y="-10989"/>
            <a:ext cx="12183427" cy="6847155"/>
          </a:xfrm>
          <a:prstGeom prst="rect">
            <a:avLst/>
          </a:prstGeom>
          <a:noFill/>
        </p:spPr>
      </p:pic>
      <p:sp>
        <p:nvSpPr>
          <p:cNvPr id="89" name="затемнение">
            <a:extLst>
              <a:ext uri="{FF2B5EF4-FFF2-40B4-BE49-F238E27FC236}">
                <a16:creationId xmlns:a16="http://schemas.microsoft.com/office/drawing/2014/main" id="{925B68E4-B395-47B3-878C-4BAB6CF80F3F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Затемнение низ">
            <a:extLst>
              <a:ext uri="{FF2B5EF4-FFF2-40B4-BE49-F238E27FC236}">
                <a16:creationId xmlns:a16="http://schemas.microsoft.com/office/drawing/2014/main" id="{1D455E75-6F96-446A-BA9E-C03A63EA135B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571251" y="-10988"/>
            <a:ext cx="4570857" cy="6858000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583655" y="442911"/>
            <a:ext cx="50236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Чому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–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серце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сучасного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геймдеву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?</a:t>
            </a: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677324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5633743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677324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1229876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1229875" y="4001283"/>
            <a:ext cx="36776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Адаптивність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та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виклик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563374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1769207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664817" y="4520340"/>
            <a:ext cx="47413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підлаштовує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складність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у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занадто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сильний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– вороги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хитрішими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слабкий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шанс.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664817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563374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5700961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80" name="миниДжойстик">
            <a:extLst>
              <a:ext uri="{FF2B5EF4-FFF2-40B4-BE49-F238E27FC236}">
                <a16:creationId xmlns:a16="http://schemas.microsoft.com/office/drawing/2014/main" id="{071CC80B-E9D6-4514-95D5-B61F61B7292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85" name="!!джойстик">
            <a:extLst>
              <a:ext uri="{FF2B5EF4-FFF2-40B4-BE49-F238E27FC236}">
                <a16:creationId xmlns:a16="http://schemas.microsoft.com/office/drawing/2014/main" id="{994BAFB3-08E6-4AE0-A1F9-ACD8F1F5092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3559542">
            <a:off x="14436184" y="1558752"/>
            <a:ext cx="6968054" cy="4883493"/>
          </a:xfrm>
          <a:prstGeom prst="rect">
            <a:avLst/>
          </a:prstGeom>
        </p:spPr>
      </p:pic>
      <p:sp>
        <p:nvSpPr>
          <p:cNvPr id="91" name="!!рам1">
            <a:extLst>
              <a:ext uri="{FF2B5EF4-FFF2-40B4-BE49-F238E27FC236}">
                <a16:creationId xmlns:a16="http://schemas.microsoft.com/office/drawing/2014/main" id="{D614AA44-CA25-4A90-B1E2-7441B324712A}"/>
              </a:ext>
            </a:extLst>
          </p:cNvPr>
          <p:cNvSpPr/>
          <p:nvPr/>
        </p:nvSpPr>
        <p:spPr>
          <a:xfrm>
            <a:off x="-5989583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815A72B-A107-4507-AE01-76A62E8D96FC}"/>
              </a:ext>
            </a:extLst>
          </p:cNvPr>
          <p:cNvSpPr txBox="1"/>
          <p:nvPr/>
        </p:nvSpPr>
        <p:spPr>
          <a:xfrm>
            <a:off x="-602094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3" name="!!рам2">
            <a:extLst>
              <a:ext uri="{FF2B5EF4-FFF2-40B4-BE49-F238E27FC236}">
                <a16:creationId xmlns:a16="http://schemas.microsoft.com/office/drawing/2014/main" id="{E73E495F-BF27-4D6E-9164-8CC6FFDF00A4}"/>
              </a:ext>
            </a:extLst>
          </p:cNvPr>
          <p:cNvSpPr/>
          <p:nvPr/>
        </p:nvSpPr>
        <p:spPr>
          <a:xfrm>
            <a:off x="-5419612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7E647AB-D756-4EA3-96AB-78B5E8DC4C0A}"/>
              </a:ext>
            </a:extLst>
          </p:cNvPr>
          <p:cNvSpPr txBox="1"/>
          <p:nvPr/>
        </p:nvSpPr>
        <p:spPr>
          <a:xfrm>
            <a:off x="-5450975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5" name="!!рам3">
            <a:extLst>
              <a:ext uri="{FF2B5EF4-FFF2-40B4-BE49-F238E27FC236}">
                <a16:creationId xmlns:a16="http://schemas.microsoft.com/office/drawing/2014/main" id="{14C16A24-DB09-4992-8143-D45C311D2499}"/>
              </a:ext>
            </a:extLst>
          </p:cNvPr>
          <p:cNvSpPr/>
          <p:nvPr/>
        </p:nvSpPr>
        <p:spPr>
          <a:xfrm>
            <a:off x="-4382624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CA74FF1-3F6C-446B-AFCE-8F333C54890B}"/>
              </a:ext>
            </a:extLst>
          </p:cNvPr>
          <p:cNvSpPr txBox="1"/>
          <p:nvPr/>
        </p:nvSpPr>
        <p:spPr>
          <a:xfrm>
            <a:off x="-4413987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7" name="!!рам4">
            <a:extLst>
              <a:ext uri="{FF2B5EF4-FFF2-40B4-BE49-F238E27FC236}">
                <a16:creationId xmlns:a16="http://schemas.microsoft.com/office/drawing/2014/main" id="{E32ACDCA-3E06-4669-8D4A-89FBC1F4D105}"/>
              </a:ext>
            </a:extLst>
          </p:cNvPr>
          <p:cNvSpPr/>
          <p:nvPr/>
        </p:nvSpPr>
        <p:spPr>
          <a:xfrm>
            <a:off x="-3610447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EE328E6-D538-4DCA-AE14-42CEAC46E750}"/>
              </a:ext>
            </a:extLst>
          </p:cNvPr>
          <p:cNvSpPr txBox="1"/>
          <p:nvPr/>
        </p:nvSpPr>
        <p:spPr>
          <a:xfrm>
            <a:off x="-3641810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!!рам5">
            <a:extLst>
              <a:ext uri="{FF2B5EF4-FFF2-40B4-BE49-F238E27FC236}">
                <a16:creationId xmlns:a16="http://schemas.microsoft.com/office/drawing/2014/main" id="{836331C0-F0F9-46BC-816B-814F7218618E}"/>
              </a:ext>
            </a:extLst>
          </p:cNvPr>
          <p:cNvSpPr/>
          <p:nvPr/>
        </p:nvSpPr>
        <p:spPr>
          <a:xfrm>
            <a:off x="-2788924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44E3D9-DB62-4539-A2B6-7E2CAE789E65}"/>
              </a:ext>
            </a:extLst>
          </p:cNvPr>
          <p:cNvSpPr txBox="1"/>
          <p:nvPr/>
        </p:nvSpPr>
        <p:spPr>
          <a:xfrm>
            <a:off x="-2820287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6FFE9E47-F9A9-4829-8128-FC40BE31BD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1679" y="3939404"/>
            <a:ext cx="493896" cy="49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755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62" name="!!PlayPhoto" descr="F.E.A.R. on Steam">
            <a:extLst>
              <a:ext uri="{FF2B5EF4-FFF2-40B4-BE49-F238E27FC236}">
                <a16:creationId xmlns:a16="http://schemas.microsoft.com/office/drawing/2014/main" id="{347B6F47-1AB9-4E7B-92B1-40010BF68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4287" y="5423"/>
            <a:ext cx="12183427" cy="6847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4401" flipH="1">
            <a:off x="11521677" y="2748883"/>
            <a:ext cx="4570857" cy="6858000"/>
          </a:xfrm>
          <a:prstGeom prst="rect">
            <a:avLst/>
          </a:prstGeom>
        </p:spPr>
      </p:pic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-12413462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-3275711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-9498058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-11860910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-8945507" y="4001283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-327571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2345151" y="1769207"/>
            <a:ext cx="531424" cy="531424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532B5DF-2062-4B98-BCAB-6BEBDFFE84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429673" y="3876179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-9510565" y="4503345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-12425969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-327571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-3208493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70868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67732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75491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44128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312092"/>
            <a:ext cx="46075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Революційне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системи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– супротивники тактично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взаємодіють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використовують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спілкуються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координації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штурму.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20F23B-D5A1-4756-A264-C834097AD9FD}"/>
              </a:ext>
            </a:extLst>
          </p:cNvPr>
          <p:cNvSpPr txBox="1"/>
          <p:nvPr/>
        </p:nvSpPr>
        <p:spPr>
          <a:xfrm>
            <a:off x="-1404321" y="-3968509"/>
            <a:ext cx="1518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Примеры реализации игрового ИИ</a:t>
            </a:r>
          </a:p>
          <a:p>
            <a:r>
              <a:rPr lang="ru-RU" dirty="0"/>
              <a:t>Для демонстрации эволюции подходов в индустрии рассмотрим пять ключевых проектов: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Pac</a:t>
            </a:r>
            <a:r>
              <a:rPr lang="ru-RU" b="1" dirty="0"/>
              <a:t>-Man (1980):</a:t>
            </a:r>
            <a:r>
              <a:rPr lang="ru-RU" dirty="0"/>
              <a:t> Использование детерминированных алгоритмов, где каждый из четырех противников имеет уникальный паттерн движения (преследование, перехват, патрулирование), создающий групповую динамику.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F.E.A.R. (2005):</a:t>
            </a:r>
            <a:r>
              <a:rPr lang="ru-RU" dirty="0"/>
              <a:t> Внедрение системы планирования GOAP (</a:t>
            </a:r>
            <a:r>
              <a:rPr lang="ru-RU" dirty="0" err="1"/>
              <a:t>Goal-Oriented</a:t>
            </a:r>
            <a:r>
              <a:rPr lang="ru-RU" dirty="0"/>
              <a:t> Action Planning), позволяющей NPC динамически выстраивать цепочки действий для достижения тактических целей.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The </a:t>
            </a:r>
            <a:r>
              <a:rPr lang="ru-RU" b="1" dirty="0" err="1"/>
              <a:t>Sims</a:t>
            </a:r>
            <a:r>
              <a:rPr lang="ru-RU" b="1" dirty="0"/>
              <a:t>:</a:t>
            </a:r>
            <a:r>
              <a:rPr lang="ru-RU" dirty="0"/>
              <a:t> Применение «Utility-</a:t>
            </a:r>
            <a:r>
              <a:rPr lang="ru-RU" dirty="0" err="1"/>
              <a:t>based</a:t>
            </a:r>
            <a:r>
              <a:rPr lang="ru-RU" dirty="0"/>
              <a:t> AI», где выбор действия персонажа зависит от динамически меняющихся весов приоритетов и иерархии потребностей.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Alien</a:t>
            </a:r>
            <a:r>
              <a:rPr lang="ru-RU" b="1" dirty="0"/>
              <a:t>: </a:t>
            </a:r>
            <a:r>
              <a:rPr lang="ru-RU" b="1" dirty="0" err="1"/>
              <a:t>Isolation</a:t>
            </a:r>
            <a:r>
              <a:rPr lang="ru-RU" b="1" dirty="0"/>
              <a:t>:</a:t>
            </a:r>
            <a:r>
              <a:rPr lang="ru-RU" dirty="0"/>
              <a:t> Использование двухуровневой архитектуры («Директор» и «Охотник»), где система верхнего уровня передает контекстную информацию агенту для адаптации к стилю игры пользователя.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Forza</a:t>
            </a:r>
            <a:r>
              <a:rPr lang="ru-RU" b="1" dirty="0"/>
              <a:t> </a:t>
            </a:r>
            <a:r>
              <a:rPr lang="ru-RU" b="1" dirty="0" err="1"/>
              <a:t>Horizon</a:t>
            </a:r>
            <a:r>
              <a:rPr lang="ru-RU" b="1" dirty="0"/>
              <a:t>:</a:t>
            </a:r>
            <a:r>
              <a:rPr lang="ru-RU" dirty="0"/>
              <a:t> Реализация технологии </a:t>
            </a:r>
            <a:r>
              <a:rPr lang="ru-RU" dirty="0" err="1"/>
              <a:t>Drivatar</a:t>
            </a:r>
            <a:r>
              <a:rPr lang="ru-RU" dirty="0"/>
              <a:t> на базе нейросетей, которая анализирует телеметрию реальных игроков для имитации их стиля вождения в автономных заездах.</a:t>
            </a:r>
          </a:p>
        </p:txBody>
      </p:sp>
    </p:spTree>
    <p:extLst>
      <p:ext uri="{BB962C8B-B14F-4D97-AF65-F5344CB8AC3E}">
        <p14:creationId xmlns:p14="http://schemas.microsoft.com/office/powerpoint/2010/main" val="687372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050" name="!!PlayPhoto" descr="Forza Horizon Wallpapers (79 images) - WallpaperCat">
            <a:extLst>
              <a:ext uri="{FF2B5EF4-FFF2-40B4-BE49-F238E27FC236}">
                <a16:creationId xmlns:a16="http://schemas.microsoft.com/office/drawing/2014/main" id="{0F93B688-AD91-447C-8332-B398D133E1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700085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668722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04865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технології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Drivatar,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аналізує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водіння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цифрових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двійників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заїздів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6635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Pacman Wallpapers - PixelsTalk">
            <a:extLst>
              <a:ext uri="{FF2B5EF4-FFF2-40B4-BE49-F238E27FC236}">
                <a16:creationId xmlns:a16="http://schemas.microsoft.com/office/drawing/2014/main" id="{FD733330-63F2-49AC-A6AC-1AC26DA7F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Рисунок 57" descr="The Sims - The Sims™ 4 - Официальный сайт">
            <a:extLst>
              <a:ext uri="{FF2B5EF4-FFF2-40B4-BE49-F238E27FC236}">
                <a16:creationId xmlns:a16="http://schemas.microsoft.com/office/drawing/2014/main" id="{9CC787FA-EEC3-4599-A46E-96E03F5565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Молния 58">
            <a:extLst>
              <a:ext uri="{FF2B5EF4-FFF2-40B4-BE49-F238E27FC236}">
                <a16:creationId xmlns:a16="http://schemas.microsoft.com/office/drawing/2014/main" id="{722E6311-3398-4486-AE1D-6C6579501A9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692619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661256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Дворівнева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система «Директор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Мисливець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», де одна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частина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підказки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друга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Чужий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вивчає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звички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адаптується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7113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5281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2144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69510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66373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69510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66373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558055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523814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523814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AE9F7DB6-82CB-41FE-BE66-76026949C0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66332">
            <a:off x="12123100" y="3420545"/>
            <a:ext cx="4812324" cy="6652982"/>
          </a:xfrm>
          <a:prstGeom prst="rect">
            <a:avLst/>
          </a:prstGeom>
        </p:spPr>
      </p:pic>
      <p:sp>
        <p:nvSpPr>
          <p:cNvPr id="69" name="Полилиния: фигура 68">
            <a:extLst>
              <a:ext uri="{FF2B5EF4-FFF2-40B4-BE49-F238E27FC236}">
                <a16:creationId xmlns:a16="http://schemas.microsoft.com/office/drawing/2014/main" id="{BBB49FD5-723D-45A5-8F65-355466FA1AC5}"/>
              </a:ext>
            </a:extLst>
          </p:cNvPr>
          <p:cNvSpPr/>
          <p:nvPr/>
        </p:nvSpPr>
        <p:spPr>
          <a:xfrm>
            <a:off x="3315709" y="-2910399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CC7739-3510-4A55-B8C1-5B66B616E942}"/>
              </a:ext>
            </a:extLst>
          </p:cNvPr>
          <p:cNvSpPr txBox="1"/>
          <p:nvPr/>
        </p:nvSpPr>
        <p:spPr>
          <a:xfrm>
            <a:off x="3898012" y="-235858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A19EB0-F6D3-47A6-88CF-4CEBB0C182F4}"/>
              </a:ext>
            </a:extLst>
          </p:cNvPr>
          <p:cNvSpPr txBox="1"/>
          <p:nvPr/>
        </p:nvSpPr>
        <p:spPr>
          <a:xfrm>
            <a:off x="3896593" y="-282811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3B6DFF-C561-4970-ABCF-59243F537A53}"/>
              </a:ext>
            </a:extLst>
          </p:cNvPr>
          <p:cNvSpPr txBox="1"/>
          <p:nvPr/>
        </p:nvSpPr>
        <p:spPr>
          <a:xfrm rot="2833229">
            <a:off x="-1690511" y="8369937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0DE6E6-448F-4022-A87D-69F562778C31}"/>
              </a:ext>
            </a:extLst>
          </p:cNvPr>
          <p:cNvSpPr txBox="1"/>
          <p:nvPr/>
        </p:nvSpPr>
        <p:spPr>
          <a:xfrm rot="20232721">
            <a:off x="700886" y="97007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8BF28D-5A39-46C9-8C42-1B6DD5FCD5DF}"/>
              </a:ext>
            </a:extLst>
          </p:cNvPr>
          <p:cNvSpPr txBox="1"/>
          <p:nvPr/>
        </p:nvSpPr>
        <p:spPr>
          <a:xfrm rot="2451780">
            <a:off x="491678" y="8064751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F529C8-8A5F-4D27-B049-77F6133BFF03}"/>
              </a:ext>
            </a:extLst>
          </p:cNvPr>
          <p:cNvSpPr txBox="1"/>
          <p:nvPr/>
        </p:nvSpPr>
        <p:spPr>
          <a:xfrm>
            <a:off x="3359977" y="810257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D4FAD3-BB15-48B8-B890-C3295C1A4DC3}"/>
              </a:ext>
            </a:extLst>
          </p:cNvPr>
          <p:cNvSpPr txBox="1"/>
          <p:nvPr/>
        </p:nvSpPr>
        <p:spPr>
          <a:xfrm rot="19510982">
            <a:off x="4174918" y="9403574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93C2F40-FD78-4EC0-A3A7-983CFB977BB4}"/>
              </a:ext>
            </a:extLst>
          </p:cNvPr>
          <p:cNvSpPr txBox="1"/>
          <p:nvPr/>
        </p:nvSpPr>
        <p:spPr>
          <a:xfrm rot="19381440">
            <a:off x="-3336931" y="81943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9D9E77-E105-4B45-8D10-F2046503A3E8}"/>
              </a:ext>
            </a:extLst>
          </p:cNvPr>
          <p:cNvSpPr txBox="1"/>
          <p:nvPr/>
        </p:nvSpPr>
        <p:spPr>
          <a:xfrm rot="19540174">
            <a:off x="-4688780" y="645016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94D17-136E-4580-B5A7-9488CACBE84E}"/>
              </a:ext>
            </a:extLst>
          </p:cNvPr>
          <p:cNvSpPr txBox="1"/>
          <p:nvPr/>
        </p:nvSpPr>
        <p:spPr>
          <a:xfrm>
            <a:off x="5810430" y="880180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364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1770598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369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Про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визначення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терміну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«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Інтелект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»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-477322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-4804592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-4122528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-4153891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-3681536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-3712899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-3139246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-3170609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-222598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-2257344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807460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807460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773219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773219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1720747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227256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180302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 rot="20000156">
            <a:off x="661077" y="538884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 rot="362195">
            <a:off x="2721928" y="5190696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 rot="20949433">
            <a:off x="2410509" y="4239447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 rot="1854636">
            <a:off x="4799142" y="3934233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736393">
            <a:off x="4287131" y="5234620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032814">
            <a:off x="131834" y="491599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487110">
            <a:off x="419774" y="37342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30" name="Прямоугольник: скругленные углы 129">
            <a:extLst>
              <a:ext uri="{FF2B5EF4-FFF2-40B4-BE49-F238E27FC236}">
                <a16:creationId xmlns:a16="http://schemas.microsoft.com/office/drawing/2014/main" id="{FABEB959-CEAB-4A54-B94E-BFD40E03CDAD}"/>
              </a:ext>
            </a:extLst>
          </p:cNvPr>
          <p:cNvSpPr/>
          <p:nvPr/>
        </p:nvSpPr>
        <p:spPr>
          <a:xfrm>
            <a:off x="710768" y="-8246648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Прямоугольник: скругленные углы 130">
            <a:extLst>
              <a:ext uri="{FF2B5EF4-FFF2-40B4-BE49-F238E27FC236}">
                <a16:creationId xmlns:a16="http://schemas.microsoft.com/office/drawing/2014/main" id="{306BEF23-FE27-4C54-B826-8EF0B4E9FDB8}"/>
              </a:ext>
            </a:extLst>
          </p:cNvPr>
          <p:cNvSpPr/>
          <p:nvPr/>
        </p:nvSpPr>
        <p:spPr>
          <a:xfrm>
            <a:off x="3489962" y="-739376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Прямоугольник: скругленные углы 131">
            <a:extLst>
              <a:ext uri="{FF2B5EF4-FFF2-40B4-BE49-F238E27FC236}">
                <a16:creationId xmlns:a16="http://schemas.microsoft.com/office/drawing/2014/main" id="{156E8A54-E28F-41BE-BCE9-62AA635D0BBB}"/>
              </a:ext>
            </a:extLst>
          </p:cNvPr>
          <p:cNvSpPr/>
          <p:nvPr/>
        </p:nvSpPr>
        <p:spPr>
          <a:xfrm>
            <a:off x="6269156" y="-59017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Прямоугольник: скругленные углы 132">
            <a:extLst>
              <a:ext uri="{FF2B5EF4-FFF2-40B4-BE49-F238E27FC236}">
                <a16:creationId xmlns:a16="http://schemas.microsoft.com/office/drawing/2014/main" id="{59152B57-9848-493D-BA58-6DD5F86E074C}"/>
              </a:ext>
            </a:extLst>
          </p:cNvPr>
          <p:cNvSpPr/>
          <p:nvPr/>
        </p:nvSpPr>
        <p:spPr>
          <a:xfrm>
            <a:off x="9048350" y="-428330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044EFCB-B69C-4BDA-8A84-E0B9EA1F8910}"/>
              </a:ext>
            </a:extLst>
          </p:cNvPr>
          <p:cNvSpPr txBox="1"/>
          <p:nvPr/>
        </p:nvSpPr>
        <p:spPr>
          <a:xfrm rot="19582091">
            <a:off x="5311554" y="500312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234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9176717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9126866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713124"/>
            <a:ext cx="2455667" cy="394755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713124"/>
            <a:ext cx="2455667" cy="394756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9678682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9209147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713125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713587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713126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713586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9097318">
            <a:off x="5000034" y="7241033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9295560">
            <a:off x="-1089708" y="74429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8797126">
            <a:off x="-2671750" y="39406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DE345E3-798D-4A65-BE66-394811519AFC}"/>
              </a:ext>
            </a:extLst>
          </p:cNvPr>
          <p:cNvSpPr txBox="1"/>
          <p:nvPr/>
        </p:nvSpPr>
        <p:spPr>
          <a:xfrm>
            <a:off x="696682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Найпростіший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вид. У бота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стани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переключається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між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цими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станами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82FD091-0213-4804-A46C-DE25F1284994}"/>
              </a:ext>
            </a:extLst>
          </p:cNvPr>
          <p:cNvSpPr txBox="1"/>
          <p:nvPr/>
        </p:nvSpPr>
        <p:spPr>
          <a:xfrm>
            <a:off x="3492537" y="3434873"/>
            <a:ext cx="24544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Це ієрархія задач. Бот перевіряє умови і обирає гілку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DF3F-4ED4-4DF8-80CB-B52CEC2BF6E1}"/>
              </a:ext>
            </a:extLst>
          </p:cNvPr>
          <p:cNvSpPr txBox="1"/>
          <p:nvPr/>
        </p:nvSpPr>
        <p:spPr>
          <a:xfrm>
            <a:off x="6210912" y="3434873"/>
            <a:ext cx="255416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будує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план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досягнення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Приклад: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F.E.A.R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«щоб вбити гравця, мені потрібно знайти укриття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перезарядитись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обійти з флангу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A907537-BB74-42AB-A815-38C9ECA0705B}"/>
              </a:ext>
            </a:extLst>
          </p:cNvPr>
          <p:cNvSpPr txBox="1"/>
          <p:nvPr/>
        </p:nvSpPr>
        <p:spPr>
          <a:xfrm>
            <a:off x="9084247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оцінює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користність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кожної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у числовому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вигдяді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обирає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те, </a:t>
            </a:r>
          </a:p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найвигідніше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5B0A784-2F60-440C-B1B3-327301D3BC34}"/>
              </a:ext>
            </a:extLst>
          </p:cNvPr>
          <p:cNvSpPr txBox="1"/>
          <p:nvPr/>
        </p:nvSpPr>
        <p:spPr>
          <a:xfrm>
            <a:off x="3855228" y="815879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6" name="!!панель_1">
            <a:extLst>
              <a:ext uri="{FF2B5EF4-FFF2-40B4-BE49-F238E27FC236}">
                <a16:creationId xmlns:a16="http://schemas.microsoft.com/office/drawing/2014/main" id="{E39F9A2D-9357-4477-BA11-1180B448C988}"/>
              </a:ext>
            </a:extLst>
          </p:cNvPr>
          <p:cNvSpPr/>
          <p:nvPr/>
        </p:nvSpPr>
        <p:spPr>
          <a:xfrm>
            <a:off x="-14515115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7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445AB9C3-ACD0-449B-9F67-33C906EDA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99776" y="3139231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FED312D-614A-42D5-BB58-B27BD72E48C6}"/>
              </a:ext>
            </a:extLst>
          </p:cNvPr>
          <p:cNvSpPr txBox="1"/>
          <p:nvPr/>
        </p:nvSpPr>
        <p:spPr>
          <a:xfrm>
            <a:off x="-14474655" y="2976450"/>
            <a:ext cx="514249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Final State Machine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або «Кінцевий автомат» – найстарша і найбільш зрозуміла архітектура для створення ігрового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Ші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об’єкт має декілька станів і він може знаходитись лише в одному стані у конкретний момент.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Загальна будова базується на станах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переходах,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 змінюють стани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подіях, які запускають переходи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Діях, які ШІ робить, коли знаходиться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в певному стані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12728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1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46E4DD5D-4606-8107-7FED-77577B18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443" y="2972317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717786" y="2883237"/>
            <a:ext cx="514249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Final State Machine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або «Кінцевий автомат» – найстарша і найбільш зрозуміла архітектура для створення ігрового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Ші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об’єкт має декілька станів і він може знаходитись лише в одному стані у конкретний момент.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Загальна будова базується на станах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переходах,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 змінюють стани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подіях, які запускають переходи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Діях, які ШІ робить, коли знаходиться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в певному стані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1" name="!!панель_2">
            <a:extLst>
              <a:ext uri="{FF2B5EF4-FFF2-40B4-BE49-F238E27FC236}">
                <a16:creationId xmlns:a16="http://schemas.microsoft.com/office/drawing/2014/main" id="{8958F87A-30E7-40D8-A201-47264EFC3FCE}"/>
              </a:ext>
            </a:extLst>
          </p:cNvPr>
          <p:cNvSpPr/>
          <p:nvPr/>
        </p:nvSpPr>
        <p:spPr>
          <a:xfrm>
            <a:off x="-12905360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E014D10-AB6B-492E-AC90-528ECD36A418}"/>
              </a:ext>
            </a:extLst>
          </p:cNvPr>
          <p:cNvSpPr txBox="1"/>
          <p:nvPr/>
        </p:nvSpPr>
        <p:spPr>
          <a:xfrm>
            <a:off x="-12728808" y="2832776"/>
            <a:ext cx="51424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наразі є найбільш популярним варіантом реалізації штучного інтелекту.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навідміну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від кінцевого автомату, ШІ кожного разу проходить по вузлах, перевіряючи умови і в результаті робить певні дії.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будуються з вузлів, які бувають різного типу. Вузли найнижчого рівня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назвиваються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«листями» і зазвичай виконують дію. Також є составні вузли, які керують потоком виконання і зазвичай мають дочірні вузли.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5" name="Picture 2" descr="Behavior Tree in Unreal Engine - Overview | Unreal Engine 5.7 Documentation  | Epic Developer Community">
            <a:extLst>
              <a:ext uri="{FF2B5EF4-FFF2-40B4-BE49-F238E27FC236}">
                <a16:creationId xmlns:a16="http://schemas.microsoft.com/office/drawing/2014/main" id="{22074EC6-6EAF-4895-9C0A-E71001530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429113" y="2861159"/>
            <a:ext cx="5142499" cy="28319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2437939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2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853878" y="2832776"/>
            <a:ext cx="51424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наразі є найбільш популярним варіантом реалізації штучного інтелекту.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навідміну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від кінцевого автомату, ШІ кожного разу проходить по вузлах, перевіряючи умови і в результаті робить певні дії.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будуються з вузлів, які бувають різного типу. Вузли найнижчого рівня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назвиваються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«листями» і зазвичай виконують дію. Також є составні вузли, які керують потоком виконання і зазвичай мають дочірні вузли.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4" name="Picture 2" descr="Behavior Tree in Unreal Engine - Overview | Unreal Engine 5.7 Documentation  | Epic Developer Community">
            <a:extLst>
              <a:ext uri="{FF2B5EF4-FFF2-40B4-BE49-F238E27FC236}">
                <a16:creationId xmlns:a16="http://schemas.microsoft.com/office/drawing/2014/main" id="{81041C18-6B99-4282-A850-BC1B78AE5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3573" y="2861159"/>
            <a:ext cx="5142499" cy="28319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6" name="!!панель_1">
            <a:extLst>
              <a:ext uri="{FF2B5EF4-FFF2-40B4-BE49-F238E27FC236}">
                <a16:creationId xmlns:a16="http://schemas.microsoft.com/office/drawing/2014/main" id="{1F96EA6A-74A9-4198-9878-BF53EFDECD38}"/>
              </a:ext>
            </a:extLst>
          </p:cNvPr>
          <p:cNvSpPr/>
          <p:nvPr/>
        </p:nvSpPr>
        <p:spPr>
          <a:xfrm>
            <a:off x="1511501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7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FA32B931-3B6E-4C11-9487-7DC79B16D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5133" y="2972317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27E5944B-F7EF-4D53-9E11-60D9EE41D5F6}"/>
              </a:ext>
            </a:extLst>
          </p:cNvPr>
          <p:cNvSpPr txBox="1"/>
          <p:nvPr/>
        </p:nvSpPr>
        <p:spPr>
          <a:xfrm>
            <a:off x="15155476" y="2883237"/>
            <a:ext cx="514249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Final State Machine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або «Кінцевий автомат» – найстарша і найбільш зрозуміла архітектура для створення ігрового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Ші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об’єкт має декілька станів і він може знаходитись лише в одному стані у конкретний момент.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Загальна будова базується на станах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переходах,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 змінюють стани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подіях, які запускають переходи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Діях, які ШІ робить, коли знаходиться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в певному стані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9" name="!!панель_3">
            <a:extLst>
              <a:ext uri="{FF2B5EF4-FFF2-40B4-BE49-F238E27FC236}">
                <a16:creationId xmlns:a16="http://schemas.microsoft.com/office/drawing/2014/main" id="{057150CA-41ED-4081-8911-3CFFA4DDF94E}"/>
              </a:ext>
            </a:extLst>
          </p:cNvPr>
          <p:cNvSpPr/>
          <p:nvPr/>
        </p:nvSpPr>
        <p:spPr>
          <a:xfrm>
            <a:off x="-15425272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950F3A-FF03-457E-8568-052CAE6A7CE4}"/>
              </a:ext>
            </a:extLst>
          </p:cNvPr>
          <p:cNvSpPr txBox="1"/>
          <p:nvPr/>
        </p:nvSpPr>
        <p:spPr>
          <a:xfrm>
            <a:off x="-15248720" y="2832776"/>
            <a:ext cx="52614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«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 дій, орієнтованих на досягнення 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є одним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іграх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доволі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гнучким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варіантом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бот має деякі цілі, і він самостійно будує послідовність дій для досягнення цієї цілі.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Такий алгоритм базується на цілях (що потрібно)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станах світу, які описують навколишнє середовище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діях, які необхідні для досягнення цілі та планувальнику, який створює послідовність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1" name="Picture 2" descr="Goal Oriented Action Planning. An artificial intelligence technique | by  Vedant Chaudhari | Medium">
            <a:extLst>
              <a:ext uri="{FF2B5EF4-FFF2-40B4-BE49-F238E27FC236}">
                <a16:creationId xmlns:a16="http://schemas.microsoft.com/office/drawing/2014/main" id="{B3B6D07A-83DF-4F52-AD95-92B30556D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77658" y="2751113"/>
            <a:ext cx="4579660" cy="305310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2545392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3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853878" y="2832776"/>
            <a:ext cx="52614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«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 дій, орієнтованих на досягнення 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є одним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іграх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доволі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гнучким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варіантом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бот має деякі цілі, і він самостійно будує послідовність дій для досягнення цієї цілі.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Такий алгоритм базується на цілях (що потрібно)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станах світу, які описують навколишнє середовище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діях, які необхідні для досягнення цілі та планувальнику, який створює послідовність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2050" name="Picture 2" descr="Goal Oriented Action Planning. An artificial intelligence technique | by  Vedant Chaudhari | Medium">
            <a:extLst>
              <a:ext uri="{FF2B5EF4-FFF2-40B4-BE49-F238E27FC236}">
                <a16:creationId xmlns:a16="http://schemas.microsoft.com/office/drawing/2014/main" id="{4DC5D204-B0F0-4510-BD12-8E9681C9E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940" y="2751113"/>
            <a:ext cx="4579660" cy="305310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9" name="!!панель_2">
            <a:extLst>
              <a:ext uri="{FF2B5EF4-FFF2-40B4-BE49-F238E27FC236}">
                <a16:creationId xmlns:a16="http://schemas.microsoft.com/office/drawing/2014/main" id="{F11DE932-B602-40B4-8C7A-26D41765E402}"/>
              </a:ext>
            </a:extLst>
          </p:cNvPr>
          <p:cNvSpPr/>
          <p:nvPr/>
        </p:nvSpPr>
        <p:spPr>
          <a:xfrm>
            <a:off x="15656258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01C6B7-5B40-4EFF-AD3B-01691BC2C787}"/>
              </a:ext>
            </a:extLst>
          </p:cNvPr>
          <p:cNvSpPr txBox="1"/>
          <p:nvPr/>
        </p:nvSpPr>
        <p:spPr>
          <a:xfrm>
            <a:off x="15832810" y="2832776"/>
            <a:ext cx="51424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наразі є найбільш популярним варіантом реалізації штучного інтелекту.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навідміну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від кінцевого автомату, ШІ кожного разу проходить по вузлах, перевіряючи умови і в результаті робить певні дії.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будуються з вузлів, які бувають різного типу. Вузли найнижчого рівня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назвиваються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«листями» і зазвичай виконують дію. Також є составні вузли, які керують потоком виконання і зазвичай мають дочірні вузли.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1" name="Picture 2" descr="Behavior Tree in Unreal Engine - Overview | Unreal Engine 5.7 Documentation  | Epic Developer Community">
            <a:extLst>
              <a:ext uri="{FF2B5EF4-FFF2-40B4-BE49-F238E27FC236}">
                <a16:creationId xmlns:a16="http://schemas.microsoft.com/office/drawing/2014/main" id="{188D4CC5-C324-4C45-A189-CCC190E1F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32505" y="2861159"/>
            <a:ext cx="5142499" cy="28319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4" name="!!панель_4">
            <a:extLst>
              <a:ext uri="{FF2B5EF4-FFF2-40B4-BE49-F238E27FC236}">
                <a16:creationId xmlns:a16="http://schemas.microsoft.com/office/drawing/2014/main" id="{05575819-8697-4296-BB01-AC22B481620F}"/>
              </a:ext>
            </a:extLst>
          </p:cNvPr>
          <p:cNvSpPr/>
          <p:nvPr/>
        </p:nvSpPr>
        <p:spPr>
          <a:xfrm>
            <a:off x="-14133430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5322F58-0FC0-4F42-823A-F6E127655404}"/>
              </a:ext>
            </a:extLst>
          </p:cNvPr>
          <p:cNvSpPr txBox="1"/>
          <p:nvPr/>
        </p:nvSpPr>
        <p:spPr>
          <a:xfrm>
            <a:off x="-13956877" y="3082155"/>
            <a:ext cx="533669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Штучний Інтелект на основі корисності можна назвати найбільш людяною реалізацією ігрового ШІ.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кожна дія має певний коефіцієнт корисності в певний проміжок часу. Бот робить ту дію, користь якої є найбільшою.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базується на отримані даних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навколишьного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середовища та власних потреб, використанні математичних функцій для оцінки корисності та виборі найефективнішої дії.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6" name="Picture 2" descr="Utility AI (Discussion) - News &amp; General Discussion - Unity Discussions">
            <a:extLst>
              <a:ext uri="{FF2B5EF4-FFF2-40B4-BE49-F238E27FC236}">
                <a16:creationId xmlns:a16="http://schemas.microsoft.com/office/drawing/2014/main" id="{063EF8D7-DC2F-467C-B0EE-654FCB1BB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387799" y="2793657"/>
            <a:ext cx="4915164" cy="3039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4289229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4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853879" y="3082155"/>
            <a:ext cx="533669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Штучний Інтелект на основі корисності можна назвати найбільш людяною реалізацією ігрового ШІ.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кожна дія має певний коефіцієнт корисності в певний проміжок часу. Бот робить ту дію, користь якої є найбільшою.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базується на отримані даних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навколишьного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середовища та власних потреб, використанні математичних функцій для оцінки корисності та виборі найефективнішої дії.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4098" name="Picture 2" descr="Utility AI (Discussion) - News &amp; General Discussion - Unity Discussions">
            <a:extLst>
              <a:ext uri="{FF2B5EF4-FFF2-40B4-BE49-F238E27FC236}">
                <a16:creationId xmlns:a16="http://schemas.microsoft.com/office/drawing/2014/main" id="{EB109D2C-E1C5-4938-99A3-F51728421A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2957" y="2793657"/>
            <a:ext cx="4915164" cy="3039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6" name="!!панель_3">
            <a:extLst>
              <a:ext uri="{FF2B5EF4-FFF2-40B4-BE49-F238E27FC236}">
                <a16:creationId xmlns:a16="http://schemas.microsoft.com/office/drawing/2014/main" id="{A7C0670B-C901-4596-AD0C-89D397090C3E}"/>
              </a:ext>
            </a:extLst>
          </p:cNvPr>
          <p:cNvSpPr/>
          <p:nvPr/>
        </p:nvSpPr>
        <p:spPr>
          <a:xfrm>
            <a:off x="14879306" y="27136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77988EC-6853-4522-8176-546CBCC3F8A1}"/>
              </a:ext>
            </a:extLst>
          </p:cNvPr>
          <p:cNvSpPr txBox="1"/>
          <p:nvPr/>
        </p:nvSpPr>
        <p:spPr>
          <a:xfrm>
            <a:off x="15178657" y="2832776"/>
            <a:ext cx="52614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«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 дій, орієнтованих на досягнення 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є одним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іграх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доволі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гнучким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варіантом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бот має деякі цілі, і він самостійно будує послідовність дій для досягнення цієї цілі.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Такий алгоритм базується на цілях (що потрібно)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станах світу, які описують навколишнє середовище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діях, які необхідні для досягнення цілі та планувальнику, який створює послідовність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5" name="Picture 2" descr="Goal Oriented Action Planning. An artificial intelligence technique | by  Vedant Chaudhari | Medium">
            <a:extLst>
              <a:ext uri="{FF2B5EF4-FFF2-40B4-BE49-F238E27FC236}">
                <a16:creationId xmlns:a16="http://schemas.microsoft.com/office/drawing/2014/main" id="{643D8169-D30B-4692-9FF4-DA4A20796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49719" y="2751113"/>
            <a:ext cx="4579660" cy="305310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7" name="Прямоугольник: скругленные углы 66">
            <a:extLst>
              <a:ext uri="{FF2B5EF4-FFF2-40B4-BE49-F238E27FC236}">
                <a16:creationId xmlns:a16="http://schemas.microsoft.com/office/drawing/2014/main" id="{16CF71C6-3A06-49BA-A6CE-1A0C96C67621}"/>
              </a:ext>
            </a:extLst>
          </p:cNvPr>
          <p:cNvSpPr/>
          <p:nvPr/>
        </p:nvSpPr>
        <p:spPr>
          <a:xfrm>
            <a:off x="-11756783" y="1692665"/>
            <a:ext cx="4027166" cy="3885385"/>
          </a:xfrm>
          <a:prstGeom prst="roundRect">
            <a:avLst>
              <a:gd name="adj" fmla="val 589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rgbClr val="08EDE8">
                  <a:alpha val="40000"/>
                </a:srgbClr>
              </a:gs>
            </a:gsLst>
            <a:lin ang="5400000" scaled="1"/>
          </a:gra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166573-01AF-4964-8AA5-EB940D5B951C}"/>
              </a:ext>
            </a:extLst>
          </p:cNvPr>
          <p:cNvSpPr txBox="1"/>
          <p:nvPr/>
        </p:nvSpPr>
        <p:spPr>
          <a:xfrm>
            <a:off x="-11761543" y="1745908"/>
            <a:ext cx="402321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 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2F6B90B-0D48-476B-AB80-02669D8064CB}"/>
              </a:ext>
            </a:extLst>
          </p:cNvPr>
          <p:cNvSpPr txBox="1"/>
          <p:nvPr/>
        </p:nvSpPr>
        <p:spPr>
          <a:xfrm>
            <a:off x="-11746659" y="2172907"/>
            <a:ext cx="4011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AI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90" name="Рисунок 89">
            <a:extLst>
              <a:ext uri="{FF2B5EF4-FFF2-40B4-BE49-F238E27FC236}">
                <a16:creationId xmlns:a16="http://schemas.microsoft.com/office/drawing/2014/main" id="{992E3754-3AB8-42AC-96BA-5872E24EB46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74" t="7067" r="26172" b="22507"/>
          <a:stretch/>
        </p:blipFill>
        <p:spPr>
          <a:xfrm>
            <a:off x="-11149718" y="2947733"/>
            <a:ext cx="2776200" cy="2625374"/>
          </a:xfrm>
          <a:prstGeom prst="rect">
            <a:avLst/>
          </a:prstGeom>
        </p:spPr>
      </p:pic>
      <p:sp>
        <p:nvSpPr>
          <p:cNvPr id="91" name="Прямоугольник: скругленные углы 90">
            <a:extLst>
              <a:ext uri="{FF2B5EF4-FFF2-40B4-BE49-F238E27FC236}">
                <a16:creationId xmlns:a16="http://schemas.microsoft.com/office/drawing/2014/main" id="{74E4D34D-638A-446B-A388-8525434388F5}"/>
              </a:ext>
            </a:extLst>
          </p:cNvPr>
          <p:cNvSpPr/>
          <p:nvPr/>
        </p:nvSpPr>
        <p:spPr>
          <a:xfrm>
            <a:off x="-7328329" y="1692665"/>
            <a:ext cx="5026138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Прямоугольник: скругленные углы 91">
            <a:extLst>
              <a:ext uri="{FF2B5EF4-FFF2-40B4-BE49-F238E27FC236}">
                <a16:creationId xmlns:a16="http://schemas.microsoft.com/office/drawing/2014/main" id="{6EC353E9-7DA3-4B44-ADFC-4EEE34491D08}"/>
              </a:ext>
            </a:extLst>
          </p:cNvPr>
          <p:cNvSpPr/>
          <p:nvPr/>
        </p:nvSpPr>
        <p:spPr>
          <a:xfrm>
            <a:off x="-7328329" y="3836772"/>
            <a:ext cx="5037861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C072A48-6339-4454-A2BE-949665690B9A}"/>
              </a:ext>
            </a:extLst>
          </p:cNvPr>
          <p:cNvSpPr txBox="1"/>
          <p:nvPr/>
        </p:nvSpPr>
        <p:spPr>
          <a:xfrm>
            <a:off x="-7083656" y="1960424"/>
            <a:ext cx="437506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 відміну від усіх попередніх реалізацій ШІ, Штучний Інтелект на основі машинного навчання не має попередньо заданого алгоритму і навчається самостійно на основі вхідних даних і власному досвіді.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D655D63-F4D0-4E7C-86A9-986ECCF75077}"/>
              </a:ext>
            </a:extLst>
          </p:cNvPr>
          <p:cNvSpPr txBox="1"/>
          <p:nvPr/>
        </p:nvSpPr>
        <p:spPr>
          <a:xfrm>
            <a:off x="-7083656" y="4000500"/>
            <a:ext cx="46231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Нейромережевий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використовує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перцептрони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що є математичним аналогом нейронів. ШІ отримує дані і пропускає їх через ваги, які регулюють те, наскільки важливий кожен з вхідних параметрів. На основі цього він робить висновки і дії.</a:t>
            </a:r>
          </a:p>
        </p:txBody>
      </p:sp>
    </p:spTree>
    <p:extLst>
      <p:ext uri="{BB962C8B-B14F-4D97-AF65-F5344CB8AC3E}">
        <p14:creationId xmlns:p14="http://schemas.microsoft.com/office/powerpoint/2010/main" val="1008261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1338418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1616338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1894257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2172177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1338418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1616338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1892850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2172176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1336874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1615059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1893245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2171430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4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1335074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13527299" y="3082155"/>
            <a:ext cx="533669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Штучний Інтелект на основі корисності можна назвати найбільш людяною реалізацією ігрового ШІ.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кожна дія має певний коефіцієнт корисності в певний проміжок часу. Бот робить ту дію, користь якої є найбільшою.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базується на отримані даних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навколишьного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середовища та власних потреб, використанні математичних функцій для оцінки корисності та виборі найефективнішої дії.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4098" name="Picture 2" descr="Utility AI (Discussion) - News &amp; General Discussion - Unity Discussions">
            <a:extLst>
              <a:ext uri="{FF2B5EF4-FFF2-40B4-BE49-F238E27FC236}">
                <a16:creationId xmlns:a16="http://schemas.microsoft.com/office/drawing/2014/main" id="{EB109D2C-E1C5-4938-99A3-F51728421A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6377" y="2793657"/>
            <a:ext cx="4915164" cy="3039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8" name="Прямоугольник: скругленные углы 57">
            <a:extLst>
              <a:ext uri="{FF2B5EF4-FFF2-40B4-BE49-F238E27FC236}">
                <a16:creationId xmlns:a16="http://schemas.microsoft.com/office/drawing/2014/main" id="{C3C80F1D-04D5-4BDD-AEB7-EA7CEE0BD04A}"/>
              </a:ext>
            </a:extLst>
          </p:cNvPr>
          <p:cNvSpPr/>
          <p:nvPr/>
        </p:nvSpPr>
        <p:spPr>
          <a:xfrm>
            <a:off x="1367199" y="1692665"/>
            <a:ext cx="4027166" cy="3885385"/>
          </a:xfrm>
          <a:prstGeom prst="roundRect">
            <a:avLst>
              <a:gd name="adj" fmla="val 589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rgbClr val="08EDE8">
                  <a:alpha val="40000"/>
                </a:srgbClr>
              </a:gs>
            </a:gsLst>
            <a:lin ang="5400000" scaled="1"/>
          </a:gra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01B2B4-64B5-42D7-B659-E983368C181A}"/>
              </a:ext>
            </a:extLst>
          </p:cNvPr>
          <p:cNvSpPr txBox="1"/>
          <p:nvPr/>
        </p:nvSpPr>
        <p:spPr>
          <a:xfrm>
            <a:off x="1362439" y="1745908"/>
            <a:ext cx="402321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 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212F1A-6E6A-4AEA-A22B-442E99550D3E}"/>
              </a:ext>
            </a:extLst>
          </p:cNvPr>
          <p:cNvSpPr txBox="1"/>
          <p:nvPr/>
        </p:nvSpPr>
        <p:spPr>
          <a:xfrm>
            <a:off x="1377323" y="2172907"/>
            <a:ext cx="4011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AI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AC9BAC-774C-414E-83C1-565C4906FD9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74" t="7067" r="26172" b="22507"/>
          <a:stretch/>
        </p:blipFill>
        <p:spPr>
          <a:xfrm>
            <a:off x="1974264" y="2947733"/>
            <a:ext cx="2776200" cy="2625374"/>
          </a:xfrm>
          <a:prstGeom prst="rect">
            <a:avLst/>
          </a:prstGeom>
        </p:spPr>
      </p:pic>
      <p:sp>
        <p:nvSpPr>
          <p:cNvPr id="67" name="Прямоугольник: скругленные углы 66">
            <a:extLst>
              <a:ext uri="{FF2B5EF4-FFF2-40B4-BE49-F238E27FC236}">
                <a16:creationId xmlns:a16="http://schemas.microsoft.com/office/drawing/2014/main" id="{AAA9DBA0-76A5-480D-9EAC-85665D8CA890}"/>
              </a:ext>
            </a:extLst>
          </p:cNvPr>
          <p:cNvSpPr/>
          <p:nvPr/>
        </p:nvSpPr>
        <p:spPr>
          <a:xfrm>
            <a:off x="5795653" y="1692665"/>
            <a:ext cx="5026138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Прямоугольник: скругленные углы 72">
            <a:extLst>
              <a:ext uri="{FF2B5EF4-FFF2-40B4-BE49-F238E27FC236}">
                <a16:creationId xmlns:a16="http://schemas.microsoft.com/office/drawing/2014/main" id="{BF0233C6-E958-4544-9733-C8FCC30BA52B}"/>
              </a:ext>
            </a:extLst>
          </p:cNvPr>
          <p:cNvSpPr/>
          <p:nvPr/>
        </p:nvSpPr>
        <p:spPr>
          <a:xfrm>
            <a:off x="5795653" y="3836772"/>
            <a:ext cx="5037861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7313FE-5474-4CC0-B7B2-DD77A486B19F}"/>
              </a:ext>
            </a:extLst>
          </p:cNvPr>
          <p:cNvSpPr txBox="1"/>
          <p:nvPr/>
        </p:nvSpPr>
        <p:spPr>
          <a:xfrm>
            <a:off x="6040326" y="1960424"/>
            <a:ext cx="437506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 відміну від усіх попередніх реалізацій ШІ, Штучний Інтелект на основі машинного навчання не має попередньо заданого алгоритму і навчається самостійно на основі вхідних даних і власному досвіді. 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4E9B8FC-939B-43E5-A788-6EEDB8380A06}"/>
              </a:ext>
            </a:extLst>
          </p:cNvPr>
          <p:cNvSpPr txBox="1"/>
          <p:nvPr/>
        </p:nvSpPr>
        <p:spPr>
          <a:xfrm>
            <a:off x="6040326" y="4000500"/>
            <a:ext cx="46231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Нейромережевий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використовує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перцептрони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що є математичним аналогом нейронів. ШІ отримує дані і пропускає їх через ваги, які регулюють те, наскільки важливий кожен з вхідних параметрів. На основі цього він робить висновки і дії.</a:t>
            </a: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!!рам3">
            <a:extLst>
              <a:ext uri="{FF2B5EF4-FFF2-40B4-BE49-F238E27FC236}">
                <a16:creationId xmlns:a16="http://schemas.microsoft.com/office/drawing/2014/main" id="{C5436DC1-4290-4815-B610-A513A90A5D1A}"/>
              </a:ext>
            </a:extLst>
          </p:cNvPr>
          <p:cNvSpPr/>
          <p:nvPr/>
        </p:nvSpPr>
        <p:spPr>
          <a:xfrm>
            <a:off x="-6459246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EA5334B-2412-4DE6-AD30-6D2ADC8FB301}"/>
              </a:ext>
            </a:extLst>
          </p:cNvPr>
          <p:cNvSpPr txBox="1"/>
          <p:nvPr/>
        </p:nvSpPr>
        <p:spPr>
          <a:xfrm>
            <a:off x="-5899283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9707525-A00F-4BA7-99B3-08D55F2B7B3F}"/>
              </a:ext>
            </a:extLst>
          </p:cNvPr>
          <p:cNvSpPr txBox="1"/>
          <p:nvPr/>
        </p:nvSpPr>
        <p:spPr>
          <a:xfrm>
            <a:off x="-6348210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sp>
        <p:nvSpPr>
          <p:cNvPr id="135" name="!!рам3">
            <a:extLst>
              <a:ext uri="{FF2B5EF4-FFF2-40B4-BE49-F238E27FC236}">
                <a16:creationId xmlns:a16="http://schemas.microsoft.com/office/drawing/2014/main" id="{DE62C4AE-1A6C-41C7-9287-AE5051ACD21F}"/>
              </a:ext>
            </a:extLst>
          </p:cNvPr>
          <p:cNvSpPr/>
          <p:nvPr/>
        </p:nvSpPr>
        <p:spPr>
          <a:xfrm>
            <a:off x="-6459246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D1EB551-5027-41EA-A93B-3C53DCD4DF53}"/>
              </a:ext>
            </a:extLst>
          </p:cNvPr>
          <p:cNvSpPr txBox="1"/>
          <p:nvPr/>
        </p:nvSpPr>
        <p:spPr>
          <a:xfrm>
            <a:off x="-5899283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2EB4B1-45C1-4412-BA55-651E29DA011C}"/>
              </a:ext>
            </a:extLst>
          </p:cNvPr>
          <p:cNvSpPr txBox="1"/>
          <p:nvPr/>
        </p:nvSpPr>
        <p:spPr>
          <a:xfrm>
            <a:off x="-6424308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38" name="!!рам3">
            <a:extLst>
              <a:ext uri="{FF2B5EF4-FFF2-40B4-BE49-F238E27FC236}">
                <a16:creationId xmlns:a16="http://schemas.microsoft.com/office/drawing/2014/main" id="{1909E704-72BE-4E3E-AB6B-C479200A8FC2}"/>
              </a:ext>
            </a:extLst>
          </p:cNvPr>
          <p:cNvSpPr/>
          <p:nvPr/>
        </p:nvSpPr>
        <p:spPr>
          <a:xfrm>
            <a:off x="-6459246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00DFD4A-900A-4EB2-ADF6-A434E3E50170}"/>
              </a:ext>
            </a:extLst>
          </p:cNvPr>
          <p:cNvSpPr txBox="1"/>
          <p:nvPr/>
        </p:nvSpPr>
        <p:spPr>
          <a:xfrm>
            <a:off x="-5899283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D865F8C-2618-4A1B-9DDA-C4A8156BF8BE}"/>
              </a:ext>
            </a:extLst>
          </p:cNvPr>
          <p:cNvSpPr txBox="1"/>
          <p:nvPr/>
        </p:nvSpPr>
        <p:spPr>
          <a:xfrm>
            <a:off x="-6424308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7992894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643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постановка задачі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58" name="Прямоугольник: скругленные углы 57">
            <a:extLst>
              <a:ext uri="{FF2B5EF4-FFF2-40B4-BE49-F238E27FC236}">
                <a16:creationId xmlns:a16="http://schemas.microsoft.com/office/drawing/2014/main" id="{C3C80F1D-04D5-4BDD-AEB7-EA7CEE0BD04A}"/>
              </a:ext>
            </a:extLst>
          </p:cNvPr>
          <p:cNvSpPr/>
          <p:nvPr/>
        </p:nvSpPr>
        <p:spPr>
          <a:xfrm>
            <a:off x="14225938" y="1692665"/>
            <a:ext cx="4027166" cy="3885385"/>
          </a:xfrm>
          <a:prstGeom prst="roundRect">
            <a:avLst>
              <a:gd name="adj" fmla="val 589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rgbClr val="08EDE8">
                  <a:alpha val="40000"/>
                </a:srgbClr>
              </a:gs>
            </a:gsLst>
            <a:lin ang="5400000" scaled="1"/>
          </a:gra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01B2B4-64B5-42D7-B659-E983368C181A}"/>
              </a:ext>
            </a:extLst>
          </p:cNvPr>
          <p:cNvSpPr txBox="1"/>
          <p:nvPr/>
        </p:nvSpPr>
        <p:spPr>
          <a:xfrm>
            <a:off x="14221178" y="1745908"/>
            <a:ext cx="402321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 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212F1A-6E6A-4AEA-A22B-442E99550D3E}"/>
              </a:ext>
            </a:extLst>
          </p:cNvPr>
          <p:cNvSpPr txBox="1"/>
          <p:nvPr/>
        </p:nvSpPr>
        <p:spPr>
          <a:xfrm>
            <a:off x="14236062" y="2172907"/>
            <a:ext cx="4011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AI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AC9BAC-774C-414E-83C1-565C4906FD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74" t="7067" r="26172" b="22507"/>
          <a:stretch/>
        </p:blipFill>
        <p:spPr>
          <a:xfrm>
            <a:off x="14833003" y="2947733"/>
            <a:ext cx="2776200" cy="2625374"/>
          </a:xfrm>
          <a:prstGeom prst="rect">
            <a:avLst/>
          </a:prstGeom>
        </p:spPr>
      </p:pic>
      <p:sp>
        <p:nvSpPr>
          <p:cNvPr id="67" name="Прямоугольник: скругленные углы 66">
            <a:extLst>
              <a:ext uri="{FF2B5EF4-FFF2-40B4-BE49-F238E27FC236}">
                <a16:creationId xmlns:a16="http://schemas.microsoft.com/office/drawing/2014/main" id="{AAA9DBA0-76A5-480D-9EAC-85665D8CA890}"/>
              </a:ext>
            </a:extLst>
          </p:cNvPr>
          <p:cNvSpPr/>
          <p:nvPr/>
        </p:nvSpPr>
        <p:spPr>
          <a:xfrm>
            <a:off x="5795653" y="-3435202"/>
            <a:ext cx="5026138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Прямоугольник: скругленные углы 72">
            <a:extLst>
              <a:ext uri="{FF2B5EF4-FFF2-40B4-BE49-F238E27FC236}">
                <a16:creationId xmlns:a16="http://schemas.microsoft.com/office/drawing/2014/main" id="{BF0233C6-E958-4544-9733-C8FCC30BA52B}"/>
              </a:ext>
            </a:extLst>
          </p:cNvPr>
          <p:cNvSpPr/>
          <p:nvPr/>
        </p:nvSpPr>
        <p:spPr>
          <a:xfrm>
            <a:off x="5795653" y="8016501"/>
            <a:ext cx="5037861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7313FE-5474-4CC0-B7B2-DD77A486B19F}"/>
              </a:ext>
            </a:extLst>
          </p:cNvPr>
          <p:cNvSpPr txBox="1"/>
          <p:nvPr/>
        </p:nvSpPr>
        <p:spPr>
          <a:xfrm>
            <a:off x="6040326" y="-3167443"/>
            <a:ext cx="437506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 відміну від усіх попередніх реалізацій ШІ, Штучний Інтелект на основі машинного навчання не має попередньо заданого алгоритму і навчається самостійно на основі вхідних даних і власному досвіді. 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4E9B8FC-939B-43E5-A788-6EEDB8380A06}"/>
              </a:ext>
            </a:extLst>
          </p:cNvPr>
          <p:cNvSpPr txBox="1"/>
          <p:nvPr/>
        </p:nvSpPr>
        <p:spPr>
          <a:xfrm>
            <a:off x="6040326" y="8180229"/>
            <a:ext cx="46231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Нейромережевий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використовує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перцептрони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що є математичним аналогом нейронів. ШІ отримує дані і пропускає їх через ваги, які регулюють те, наскільки важливий кожен з вхідних параметрів. На основі цього він робить висновки і дії.</a:t>
            </a: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!!рам3">
            <a:extLst>
              <a:ext uri="{FF2B5EF4-FFF2-40B4-BE49-F238E27FC236}">
                <a16:creationId xmlns:a16="http://schemas.microsoft.com/office/drawing/2014/main" id="{93486AFD-4ACD-48D0-ADD3-6F6EBC47D476}"/>
              </a:ext>
            </a:extLst>
          </p:cNvPr>
          <p:cNvSpPr/>
          <p:nvPr/>
        </p:nvSpPr>
        <p:spPr>
          <a:xfrm>
            <a:off x="708172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43F210-3954-441B-8979-1E55BFE00F65}"/>
              </a:ext>
            </a:extLst>
          </p:cNvPr>
          <p:cNvSpPr txBox="1"/>
          <p:nvPr/>
        </p:nvSpPr>
        <p:spPr>
          <a:xfrm>
            <a:off x="1268135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09F9CE-1D93-4796-A901-31BE6506FE3A}"/>
              </a:ext>
            </a:extLst>
          </p:cNvPr>
          <p:cNvSpPr txBox="1"/>
          <p:nvPr/>
        </p:nvSpPr>
        <p:spPr>
          <a:xfrm>
            <a:off x="819208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07B70AD-F68B-48A9-B335-57B6359296E9}"/>
              </a:ext>
            </a:extLst>
          </p:cNvPr>
          <p:cNvGrpSpPr/>
          <p:nvPr/>
        </p:nvGrpSpPr>
        <p:grpSpPr>
          <a:xfrm>
            <a:off x="4609707" y="4794893"/>
            <a:ext cx="856264" cy="856264"/>
            <a:chOff x="7662119" y="-689429"/>
            <a:chExt cx="8236858" cy="8236858"/>
          </a:xfrm>
        </p:grpSpPr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D539007E-4D32-4895-B4FC-3840C21DC5C7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5" name="Овал 94">
              <a:extLst>
                <a:ext uri="{FF2B5EF4-FFF2-40B4-BE49-F238E27FC236}">
                  <a16:creationId xmlns:a16="http://schemas.microsoft.com/office/drawing/2014/main" id="{DC6D5FAC-96B3-46F7-BB33-25D5D3BB18D6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6" name="Овал 95">
              <a:extLst>
                <a:ext uri="{FF2B5EF4-FFF2-40B4-BE49-F238E27FC236}">
                  <a16:creationId xmlns:a16="http://schemas.microsoft.com/office/drawing/2014/main" id="{38FDB206-DEDE-4685-A9D9-3DD217AB07D8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4D4DCD92-4170-4AA9-8F18-C8C3043C2D8D}"/>
              </a:ext>
            </a:extLst>
          </p:cNvPr>
          <p:cNvGrpSpPr/>
          <p:nvPr/>
        </p:nvGrpSpPr>
        <p:grpSpPr>
          <a:xfrm>
            <a:off x="9461368" y="1848949"/>
            <a:ext cx="856264" cy="856264"/>
            <a:chOff x="7662119" y="-689429"/>
            <a:chExt cx="8236858" cy="8236858"/>
          </a:xfrm>
        </p:grpSpPr>
        <p:sp>
          <p:nvSpPr>
            <p:cNvPr id="56" name="Овал 55">
              <a:extLst>
                <a:ext uri="{FF2B5EF4-FFF2-40B4-BE49-F238E27FC236}">
                  <a16:creationId xmlns:a16="http://schemas.microsoft.com/office/drawing/2014/main" id="{7E7B9B62-5DB7-4D7D-BE43-EFE9E989EE81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57" name="Овал 56">
              <a:extLst>
                <a:ext uri="{FF2B5EF4-FFF2-40B4-BE49-F238E27FC236}">
                  <a16:creationId xmlns:a16="http://schemas.microsoft.com/office/drawing/2014/main" id="{3793068B-25B8-4055-AE69-E796C5358D73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61" name="Овал 60">
              <a:extLst>
                <a:ext uri="{FF2B5EF4-FFF2-40B4-BE49-F238E27FC236}">
                  <a16:creationId xmlns:a16="http://schemas.microsoft.com/office/drawing/2014/main" id="{1900AA5B-3DFC-44BD-B66B-96EFF546ABB9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B94E3556-BB25-4B52-8A6F-E65F3797F746}"/>
              </a:ext>
            </a:extLst>
          </p:cNvPr>
          <p:cNvSpPr txBox="1"/>
          <p:nvPr/>
        </p:nvSpPr>
        <p:spPr>
          <a:xfrm>
            <a:off x="4658055" y="390058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</a:t>
            </a:r>
            <a:endParaRPr lang="ru-RU" sz="6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42C441-4272-4578-B9D0-CFFEB5B3B832}"/>
              </a:ext>
            </a:extLst>
          </p:cNvPr>
          <p:cNvSpPr txBox="1"/>
          <p:nvPr/>
        </p:nvSpPr>
        <p:spPr>
          <a:xfrm>
            <a:off x="9512922" y="88899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Б</a:t>
            </a:r>
            <a:endParaRPr lang="ru-RU" sz="6000" dirty="0"/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3439FC69-96B2-4A62-8CD1-1AFBECCA665D}"/>
              </a:ext>
            </a:extLst>
          </p:cNvPr>
          <p:cNvCxnSpPr>
            <a:cxnSpLocks/>
          </p:cNvCxnSpPr>
          <p:nvPr/>
        </p:nvCxnSpPr>
        <p:spPr>
          <a:xfrm flipV="1">
            <a:off x="5514319" y="2571750"/>
            <a:ext cx="3934272" cy="2419464"/>
          </a:xfrm>
          <a:prstGeom prst="line">
            <a:avLst/>
          </a:prstGeom>
          <a:ln w="50800" cap="rnd">
            <a:solidFill>
              <a:srgbClr val="0F126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!!рам3">
            <a:extLst>
              <a:ext uri="{FF2B5EF4-FFF2-40B4-BE49-F238E27FC236}">
                <a16:creationId xmlns:a16="http://schemas.microsoft.com/office/drawing/2014/main" id="{F9F050DE-DD36-411D-BDA5-D6F7AE5EB5E6}"/>
              </a:ext>
            </a:extLst>
          </p:cNvPr>
          <p:cNvSpPr/>
          <p:nvPr/>
        </p:nvSpPr>
        <p:spPr>
          <a:xfrm>
            <a:off x="-6459246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03D3098-8C90-4BB0-8352-B0642FC01C39}"/>
              </a:ext>
            </a:extLst>
          </p:cNvPr>
          <p:cNvSpPr txBox="1"/>
          <p:nvPr/>
        </p:nvSpPr>
        <p:spPr>
          <a:xfrm>
            <a:off x="-5899283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53A0422-2919-4226-85B4-DC5CDC6A3696}"/>
              </a:ext>
            </a:extLst>
          </p:cNvPr>
          <p:cNvSpPr txBox="1"/>
          <p:nvPr/>
        </p:nvSpPr>
        <p:spPr>
          <a:xfrm>
            <a:off x="-6424308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35" name="!!рам3">
            <a:extLst>
              <a:ext uri="{FF2B5EF4-FFF2-40B4-BE49-F238E27FC236}">
                <a16:creationId xmlns:a16="http://schemas.microsoft.com/office/drawing/2014/main" id="{110A63C4-7A60-461E-A978-1080056A1A64}"/>
              </a:ext>
            </a:extLst>
          </p:cNvPr>
          <p:cNvSpPr/>
          <p:nvPr/>
        </p:nvSpPr>
        <p:spPr>
          <a:xfrm>
            <a:off x="-6459246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9721BD1-51EA-418E-B903-0E9B79A9E7C5}"/>
              </a:ext>
            </a:extLst>
          </p:cNvPr>
          <p:cNvSpPr txBox="1"/>
          <p:nvPr/>
        </p:nvSpPr>
        <p:spPr>
          <a:xfrm>
            <a:off x="-5899283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D09EE79-40D0-4239-BCE4-C91263589843}"/>
              </a:ext>
            </a:extLst>
          </p:cNvPr>
          <p:cNvSpPr txBox="1"/>
          <p:nvPr/>
        </p:nvSpPr>
        <p:spPr>
          <a:xfrm>
            <a:off x="-6424308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3855424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93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55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643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постановка задачі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!!рам3">
            <a:extLst>
              <a:ext uri="{FF2B5EF4-FFF2-40B4-BE49-F238E27FC236}">
                <a16:creationId xmlns:a16="http://schemas.microsoft.com/office/drawing/2014/main" id="{93486AFD-4ACD-48D0-ADD3-6F6EBC47D476}"/>
              </a:ext>
            </a:extLst>
          </p:cNvPr>
          <p:cNvSpPr/>
          <p:nvPr/>
        </p:nvSpPr>
        <p:spPr>
          <a:xfrm>
            <a:off x="708172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43F210-3954-441B-8979-1E55BFE00F65}"/>
              </a:ext>
            </a:extLst>
          </p:cNvPr>
          <p:cNvSpPr txBox="1"/>
          <p:nvPr/>
        </p:nvSpPr>
        <p:spPr>
          <a:xfrm>
            <a:off x="1268135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09F9CE-1D93-4796-A901-31BE6506FE3A}"/>
              </a:ext>
            </a:extLst>
          </p:cNvPr>
          <p:cNvSpPr txBox="1"/>
          <p:nvPr/>
        </p:nvSpPr>
        <p:spPr>
          <a:xfrm>
            <a:off x="819208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07B70AD-F68B-48A9-B335-57B6359296E9}"/>
              </a:ext>
            </a:extLst>
          </p:cNvPr>
          <p:cNvGrpSpPr/>
          <p:nvPr/>
        </p:nvGrpSpPr>
        <p:grpSpPr>
          <a:xfrm>
            <a:off x="4609707" y="4794893"/>
            <a:ext cx="856264" cy="856264"/>
            <a:chOff x="7662119" y="-689429"/>
            <a:chExt cx="8236858" cy="8236858"/>
          </a:xfrm>
        </p:grpSpPr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D539007E-4D32-4895-B4FC-3840C21DC5C7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5" name="Овал 94">
              <a:extLst>
                <a:ext uri="{FF2B5EF4-FFF2-40B4-BE49-F238E27FC236}">
                  <a16:creationId xmlns:a16="http://schemas.microsoft.com/office/drawing/2014/main" id="{DC6D5FAC-96B3-46F7-BB33-25D5D3BB18D6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6" name="Овал 95">
              <a:extLst>
                <a:ext uri="{FF2B5EF4-FFF2-40B4-BE49-F238E27FC236}">
                  <a16:creationId xmlns:a16="http://schemas.microsoft.com/office/drawing/2014/main" id="{38FDB206-DEDE-4685-A9D9-3DD217AB07D8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4D4DCD92-4170-4AA9-8F18-C8C3043C2D8D}"/>
              </a:ext>
            </a:extLst>
          </p:cNvPr>
          <p:cNvGrpSpPr/>
          <p:nvPr/>
        </p:nvGrpSpPr>
        <p:grpSpPr>
          <a:xfrm>
            <a:off x="9461368" y="1848949"/>
            <a:ext cx="856264" cy="856264"/>
            <a:chOff x="7662119" y="-689429"/>
            <a:chExt cx="8236858" cy="8236858"/>
          </a:xfrm>
        </p:grpSpPr>
        <p:sp>
          <p:nvSpPr>
            <p:cNvPr id="56" name="Овал 55">
              <a:extLst>
                <a:ext uri="{FF2B5EF4-FFF2-40B4-BE49-F238E27FC236}">
                  <a16:creationId xmlns:a16="http://schemas.microsoft.com/office/drawing/2014/main" id="{7E7B9B62-5DB7-4D7D-BE43-EFE9E989EE81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57" name="Овал 56">
              <a:extLst>
                <a:ext uri="{FF2B5EF4-FFF2-40B4-BE49-F238E27FC236}">
                  <a16:creationId xmlns:a16="http://schemas.microsoft.com/office/drawing/2014/main" id="{3793068B-25B8-4055-AE69-E796C5358D73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61" name="Овал 60">
              <a:extLst>
                <a:ext uri="{FF2B5EF4-FFF2-40B4-BE49-F238E27FC236}">
                  <a16:creationId xmlns:a16="http://schemas.microsoft.com/office/drawing/2014/main" id="{1900AA5B-3DFC-44BD-B66B-96EFF546ABB9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B94E3556-BB25-4B52-8A6F-E65F3797F746}"/>
              </a:ext>
            </a:extLst>
          </p:cNvPr>
          <p:cNvSpPr txBox="1"/>
          <p:nvPr/>
        </p:nvSpPr>
        <p:spPr>
          <a:xfrm>
            <a:off x="4658055" y="390058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</a:t>
            </a:r>
            <a:endParaRPr lang="ru-RU" sz="6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42C441-4272-4578-B9D0-CFFEB5B3B832}"/>
              </a:ext>
            </a:extLst>
          </p:cNvPr>
          <p:cNvSpPr txBox="1"/>
          <p:nvPr/>
        </p:nvSpPr>
        <p:spPr>
          <a:xfrm>
            <a:off x="9512922" y="88899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Б</a:t>
            </a:r>
            <a:endParaRPr lang="ru-RU" sz="6000" dirty="0"/>
          </a:p>
        </p:txBody>
      </p:sp>
      <p:sp>
        <p:nvSpPr>
          <p:cNvPr id="98" name="!!рам3">
            <a:extLst>
              <a:ext uri="{FF2B5EF4-FFF2-40B4-BE49-F238E27FC236}">
                <a16:creationId xmlns:a16="http://schemas.microsoft.com/office/drawing/2014/main" id="{E92F395F-FB02-437F-B732-A7C1E53D5979}"/>
              </a:ext>
            </a:extLst>
          </p:cNvPr>
          <p:cNvSpPr/>
          <p:nvPr/>
        </p:nvSpPr>
        <p:spPr>
          <a:xfrm>
            <a:off x="708172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DF8C008-760F-4AB2-8432-183BC9BEBA9A}"/>
              </a:ext>
            </a:extLst>
          </p:cNvPr>
          <p:cNvSpPr txBox="1"/>
          <p:nvPr/>
        </p:nvSpPr>
        <p:spPr>
          <a:xfrm>
            <a:off x="1268135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0FE5C2-0E4D-43BF-A2AD-C649ADB140A4}"/>
              </a:ext>
            </a:extLst>
          </p:cNvPr>
          <p:cNvSpPr txBox="1"/>
          <p:nvPr/>
        </p:nvSpPr>
        <p:spPr>
          <a:xfrm>
            <a:off x="743110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23" name="!!рам3">
            <a:extLst>
              <a:ext uri="{FF2B5EF4-FFF2-40B4-BE49-F238E27FC236}">
                <a16:creationId xmlns:a16="http://schemas.microsoft.com/office/drawing/2014/main" id="{F7F8F3B9-4EE5-48CC-AD48-2AE9B7F7444F}"/>
              </a:ext>
            </a:extLst>
          </p:cNvPr>
          <p:cNvSpPr/>
          <p:nvPr/>
        </p:nvSpPr>
        <p:spPr>
          <a:xfrm>
            <a:off x="-6459246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D337671-0B5B-4BA9-A19D-A677306CE21C}"/>
              </a:ext>
            </a:extLst>
          </p:cNvPr>
          <p:cNvSpPr txBox="1"/>
          <p:nvPr/>
        </p:nvSpPr>
        <p:spPr>
          <a:xfrm>
            <a:off x="-5899283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D49B420-EC56-47F0-B3E8-D7B3910992A8}"/>
              </a:ext>
            </a:extLst>
          </p:cNvPr>
          <p:cNvSpPr txBox="1"/>
          <p:nvPr/>
        </p:nvSpPr>
        <p:spPr>
          <a:xfrm>
            <a:off x="-6424308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ABA76DB-042E-4006-937D-D2F1C6C840BA}"/>
              </a:ext>
            </a:extLst>
          </p:cNvPr>
          <p:cNvSpPr/>
          <p:nvPr/>
        </p:nvSpPr>
        <p:spPr>
          <a:xfrm>
            <a:off x="5803691" y="3669174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4B2F3A7-330E-4401-BF15-85BBFF222C08}"/>
              </a:ext>
            </a:extLst>
          </p:cNvPr>
          <p:cNvSpPr/>
          <p:nvPr/>
        </p:nvSpPr>
        <p:spPr>
          <a:xfrm>
            <a:off x="8200135" y="3076539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олилиния: фигура 4">
            <a:extLst>
              <a:ext uri="{FF2B5EF4-FFF2-40B4-BE49-F238E27FC236}">
                <a16:creationId xmlns:a16="http://schemas.microsoft.com/office/drawing/2014/main" id="{9ABF346A-99B4-45AD-84AE-C7F8C502750E}"/>
              </a:ext>
            </a:extLst>
          </p:cNvPr>
          <p:cNvSpPr/>
          <p:nvPr/>
        </p:nvSpPr>
        <p:spPr>
          <a:xfrm>
            <a:off x="5675086" y="2336800"/>
            <a:ext cx="3628571" cy="2685143"/>
          </a:xfrm>
          <a:custGeom>
            <a:avLst/>
            <a:gdLst>
              <a:gd name="connsiteX0" fmla="*/ 0 w 3628571"/>
              <a:gd name="connsiteY0" fmla="*/ 2685143 h 2685143"/>
              <a:gd name="connsiteX1" fmla="*/ 2206171 w 3628571"/>
              <a:gd name="connsiteY1" fmla="*/ 2002971 h 2685143"/>
              <a:gd name="connsiteX2" fmla="*/ 1915885 w 3628571"/>
              <a:gd name="connsiteY2" fmla="*/ 1146629 h 2685143"/>
              <a:gd name="connsiteX3" fmla="*/ 1988457 w 3628571"/>
              <a:gd name="connsiteY3" fmla="*/ 537029 h 2685143"/>
              <a:gd name="connsiteX4" fmla="*/ 3628571 w 3628571"/>
              <a:gd name="connsiteY4" fmla="*/ 0 h 2685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28571" h="2685143">
                <a:moveTo>
                  <a:pt x="0" y="2685143"/>
                </a:moveTo>
                <a:cubicBezTo>
                  <a:pt x="943428" y="2472266"/>
                  <a:pt x="1886857" y="2259390"/>
                  <a:pt x="2206171" y="2002971"/>
                </a:cubicBezTo>
                <a:cubicBezTo>
                  <a:pt x="2525485" y="1746552"/>
                  <a:pt x="1952171" y="1390952"/>
                  <a:pt x="1915885" y="1146629"/>
                </a:cubicBezTo>
                <a:cubicBezTo>
                  <a:pt x="1879599" y="902306"/>
                  <a:pt x="1703009" y="728134"/>
                  <a:pt x="1988457" y="537029"/>
                </a:cubicBezTo>
                <a:cubicBezTo>
                  <a:pt x="2273905" y="345924"/>
                  <a:pt x="3628571" y="0"/>
                  <a:pt x="3628571" y="0"/>
                </a:cubicBezTo>
              </a:path>
            </a:pathLst>
          </a:custGeom>
          <a:ln w="50800" cap="rnd">
            <a:solidFill>
              <a:srgbClr val="0F126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7756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93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55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643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постановка задачі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!!рам3">
            <a:extLst>
              <a:ext uri="{FF2B5EF4-FFF2-40B4-BE49-F238E27FC236}">
                <a16:creationId xmlns:a16="http://schemas.microsoft.com/office/drawing/2014/main" id="{93486AFD-4ACD-48D0-ADD3-6F6EBC47D476}"/>
              </a:ext>
            </a:extLst>
          </p:cNvPr>
          <p:cNvSpPr/>
          <p:nvPr/>
        </p:nvSpPr>
        <p:spPr>
          <a:xfrm>
            <a:off x="708172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43F210-3954-441B-8979-1E55BFE00F65}"/>
              </a:ext>
            </a:extLst>
          </p:cNvPr>
          <p:cNvSpPr txBox="1"/>
          <p:nvPr/>
        </p:nvSpPr>
        <p:spPr>
          <a:xfrm>
            <a:off x="1268135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09F9CE-1D93-4796-A901-31BE6506FE3A}"/>
              </a:ext>
            </a:extLst>
          </p:cNvPr>
          <p:cNvSpPr txBox="1"/>
          <p:nvPr/>
        </p:nvSpPr>
        <p:spPr>
          <a:xfrm>
            <a:off x="819208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sp>
        <p:nvSpPr>
          <p:cNvPr id="98" name="!!рам3">
            <a:extLst>
              <a:ext uri="{FF2B5EF4-FFF2-40B4-BE49-F238E27FC236}">
                <a16:creationId xmlns:a16="http://schemas.microsoft.com/office/drawing/2014/main" id="{E92F395F-FB02-437F-B732-A7C1E53D5979}"/>
              </a:ext>
            </a:extLst>
          </p:cNvPr>
          <p:cNvSpPr/>
          <p:nvPr/>
        </p:nvSpPr>
        <p:spPr>
          <a:xfrm>
            <a:off x="708172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DF8C008-760F-4AB2-8432-183BC9BEBA9A}"/>
              </a:ext>
            </a:extLst>
          </p:cNvPr>
          <p:cNvSpPr txBox="1"/>
          <p:nvPr/>
        </p:nvSpPr>
        <p:spPr>
          <a:xfrm>
            <a:off x="1268135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0FE5C2-0E4D-43BF-A2AD-C649ADB140A4}"/>
              </a:ext>
            </a:extLst>
          </p:cNvPr>
          <p:cNvSpPr txBox="1"/>
          <p:nvPr/>
        </p:nvSpPr>
        <p:spPr>
          <a:xfrm>
            <a:off x="743110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17" name="!!рам3">
            <a:extLst>
              <a:ext uri="{FF2B5EF4-FFF2-40B4-BE49-F238E27FC236}">
                <a16:creationId xmlns:a16="http://schemas.microsoft.com/office/drawing/2014/main" id="{70DFBB37-387F-485E-8279-C35374400522}"/>
              </a:ext>
            </a:extLst>
          </p:cNvPr>
          <p:cNvSpPr/>
          <p:nvPr/>
        </p:nvSpPr>
        <p:spPr>
          <a:xfrm>
            <a:off x="708172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CA681A-A85F-4403-B518-F2DED4085FFF}"/>
              </a:ext>
            </a:extLst>
          </p:cNvPr>
          <p:cNvSpPr txBox="1"/>
          <p:nvPr/>
        </p:nvSpPr>
        <p:spPr>
          <a:xfrm>
            <a:off x="1268135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CDA67E-271E-4134-ADA1-10DACC143BB8}"/>
              </a:ext>
            </a:extLst>
          </p:cNvPr>
          <p:cNvSpPr txBox="1"/>
          <p:nvPr/>
        </p:nvSpPr>
        <p:spPr>
          <a:xfrm>
            <a:off x="743110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  <p:grpSp>
        <p:nvGrpSpPr>
          <p:cNvPr id="126" name="Группа 125">
            <a:extLst>
              <a:ext uri="{FF2B5EF4-FFF2-40B4-BE49-F238E27FC236}">
                <a16:creationId xmlns:a16="http://schemas.microsoft.com/office/drawing/2014/main" id="{278BC096-1AA9-41C5-80F8-D7B4E0126A50}"/>
              </a:ext>
            </a:extLst>
          </p:cNvPr>
          <p:cNvGrpSpPr/>
          <p:nvPr/>
        </p:nvGrpSpPr>
        <p:grpSpPr>
          <a:xfrm>
            <a:off x="4609707" y="4794893"/>
            <a:ext cx="856264" cy="856264"/>
            <a:chOff x="7662119" y="-689429"/>
            <a:chExt cx="8236858" cy="8236858"/>
          </a:xfrm>
        </p:grpSpPr>
        <p:sp>
          <p:nvSpPr>
            <p:cNvPr id="127" name="Овал 126">
              <a:extLst>
                <a:ext uri="{FF2B5EF4-FFF2-40B4-BE49-F238E27FC236}">
                  <a16:creationId xmlns:a16="http://schemas.microsoft.com/office/drawing/2014/main" id="{321EBE1B-A668-436F-88F4-D4A5032CF730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28" name="Овал 127">
              <a:extLst>
                <a:ext uri="{FF2B5EF4-FFF2-40B4-BE49-F238E27FC236}">
                  <a16:creationId xmlns:a16="http://schemas.microsoft.com/office/drawing/2014/main" id="{5931E598-BA18-41B8-AEEE-A80A163CD882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29" name="Овал 128">
              <a:extLst>
                <a:ext uri="{FF2B5EF4-FFF2-40B4-BE49-F238E27FC236}">
                  <a16:creationId xmlns:a16="http://schemas.microsoft.com/office/drawing/2014/main" id="{1CAC526E-338E-4B8A-9980-B6036935C7D3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grpSp>
        <p:nvGrpSpPr>
          <p:cNvPr id="130" name="Группа 129">
            <a:extLst>
              <a:ext uri="{FF2B5EF4-FFF2-40B4-BE49-F238E27FC236}">
                <a16:creationId xmlns:a16="http://schemas.microsoft.com/office/drawing/2014/main" id="{FDD0741B-B08E-4491-A1AE-79EA445E802A}"/>
              </a:ext>
            </a:extLst>
          </p:cNvPr>
          <p:cNvGrpSpPr/>
          <p:nvPr/>
        </p:nvGrpSpPr>
        <p:grpSpPr>
          <a:xfrm>
            <a:off x="9461368" y="1848949"/>
            <a:ext cx="856264" cy="856264"/>
            <a:chOff x="7662119" y="-689429"/>
            <a:chExt cx="8236858" cy="8236858"/>
          </a:xfrm>
        </p:grpSpPr>
        <p:sp>
          <p:nvSpPr>
            <p:cNvPr id="131" name="Овал 130">
              <a:extLst>
                <a:ext uri="{FF2B5EF4-FFF2-40B4-BE49-F238E27FC236}">
                  <a16:creationId xmlns:a16="http://schemas.microsoft.com/office/drawing/2014/main" id="{8671DDF7-2AE2-4748-8A45-44F49C5A76B2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32" name="Овал 131">
              <a:extLst>
                <a:ext uri="{FF2B5EF4-FFF2-40B4-BE49-F238E27FC236}">
                  <a16:creationId xmlns:a16="http://schemas.microsoft.com/office/drawing/2014/main" id="{9D8D6F58-0CDB-4496-9199-2D82C1791ECD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33" name="Овал 132">
              <a:extLst>
                <a:ext uri="{FF2B5EF4-FFF2-40B4-BE49-F238E27FC236}">
                  <a16:creationId xmlns:a16="http://schemas.microsoft.com/office/drawing/2014/main" id="{E95BE421-A6B0-4790-BF27-12060D4B8543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6BC054F3-6CB3-4B27-937F-C14E0C6BBA04}"/>
              </a:ext>
            </a:extLst>
          </p:cNvPr>
          <p:cNvSpPr txBox="1"/>
          <p:nvPr/>
        </p:nvSpPr>
        <p:spPr>
          <a:xfrm>
            <a:off x="4658055" y="390058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</a:t>
            </a:r>
            <a:endParaRPr lang="ru-RU" sz="60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17DFAA0-04C3-4FD2-9778-EDBF2EDBCB12}"/>
              </a:ext>
            </a:extLst>
          </p:cNvPr>
          <p:cNvSpPr txBox="1"/>
          <p:nvPr/>
        </p:nvSpPr>
        <p:spPr>
          <a:xfrm>
            <a:off x="9512922" y="88899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Б</a:t>
            </a:r>
            <a:endParaRPr lang="ru-RU" sz="6000" dirty="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4A712A44-DDD8-4946-A23D-14F2DCE65D06}"/>
              </a:ext>
            </a:extLst>
          </p:cNvPr>
          <p:cNvSpPr/>
          <p:nvPr/>
        </p:nvSpPr>
        <p:spPr>
          <a:xfrm>
            <a:off x="5803691" y="3669174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F7D2DE-3034-4BD7-82A1-A57D80CB3543}"/>
              </a:ext>
            </a:extLst>
          </p:cNvPr>
          <p:cNvSpPr/>
          <p:nvPr/>
        </p:nvSpPr>
        <p:spPr>
          <a:xfrm>
            <a:off x="8200135" y="3076539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Полилиния: фигура 137">
            <a:extLst>
              <a:ext uri="{FF2B5EF4-FFF2-40B4-BE49-F238E27FC236}">
                <a16:creationId xmlns:a16="http://schemas.microsoft.com/office/drawing/2014/main" id="{1F609BB9-C53D-4723-A101-A6EA96AB6DBC}"/>
              </a:ext>
            </a:extLst>
          </p:cNvPr>
          <p:cNvSpPr/>
          <p:nvPr/>
        </p:nvSpPr>
        <p:spPr>
          <a:xfrm>
            <a:off x="5675086" y="2336800"/>
            <a:ext cx="3628571" cy="2685143"/>
          </a:xfrm>
          <a:custGeom>
            <a:avLst/>
            <a:gdLst>
              <a:gd name="connsiteX0" fmla="*/ 0 w 3628571"/>
              <a:gd name="connsiteY0" fmla="*/ 2685143 h 2685143"/>
              <a:gd name="connsiteX1" fmla="*/ 2206171 w 3628571"/>
              <a:gd name="connsiteY1" fmla="*/ 2002971 h 2685143"/>
              <a:gd name="connsiteX2" fmla="*/ 1915885 w 3628571"/>
              <a:gd name="connsiteY2" fmla="*/ 1146629 h 2685143"/>
              <a:gd name="connsiteX3" fmla="*/ 1988457 w 3628571"/>
              <a:gd name="connsiteY3" fmla="*/ 537029 h 2685143"/>
              <a:gd name="connsiteX4" fmla="*/ 3628571 w 3628571"/>
              <a:gd name="connsiteY4" fmla="*/ 0 h 2685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28571" h="2685143">
                <a:moveTo>
                  <a:pt x="0" y="2685143"/>
                </a:moveTo>
                <a:cubicBezTo>
                  <a:pt x="943428" y="2472266"/>
                  <a:pt x="1886857" y="2259390"/>
                  <a:pt x="2206171" y="2002971"/>
                </a:cubicBezTo>
                <a:cubicBezTo>
                  <a:pt x="2525485" y="1746552"/>
                  <a:pt x="1952171" y="1390952"/>
                  <a:pt x="1915885" y="1146629"/>
                </a:cubicBezTo>
                <a:cubicBezTo>
                  <a:pt x="1879599" y="902306"/>
                  <a:pt x="1703009" y="728134"/>
                  <a:pt x="1988457" y="537029"/>
                </a:cubicBezTo>
                <a:cubicBezTo>
                  <a:pt x="2273905" y="345924"/>
                  <a:pt x="3628571" y="0"/>
                  <a:pt x="3628571" y="0"/>
                </a:cubicBezTo>
              </a:path>
            </a:pathLst>
          </a:custGeom>
          <a:ln w="50800" cap="rnd">
            <a:solidFill>
              <a:srgbClr val="0F126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" name="Соединитель: уступ 4">
            <a:extLst>
              <a:ext uri="{FF2B5EF4-FFF2-40B4-BE49-F238E27FC236}">
                <a16:creationId xmlns:a16="http://schemas.microsoft.com/office/drawing/2014/main" id="{4218243E-9F5C-4A21-91CB-C2916B42A18C}"/>
              </a:ext>
            </a:extLst>
          </p:cNvPr>
          <p:cNvCxnSpPr>
            <a:cxnSpLocks/>
          </p:cNvCxnSpPr>
          <p:nvPr/>
        </p:nvCxnSpPr>
        <p:spPr>
          <a:xfrm flipV="1">
            <a:off x="5675086" y="2286000"/>
            <a:ext cx="3765697" cy="2857500"/>
          </a:xfrm>
          <a:prstGeom prst="bentConnector3">
            <a:avLst/>
          </a:prstGeom>
          <a:ln w="50800" cap="rnd">
            <a:solidFill>
              <a:srgbClr val="08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7DDA8F22-C3EB-4862-91EB-E80963DE7ABB}"/>
              </a:ext>
            </a:extLst>
          </p:cNvPr>
          <p:cNvSpPr/>
          <p:nvPr/>
        </p:nvSpPr>
        <p:spPr>
          <a:xfrm>
            <a:off x="5646057" y="2641600"/>
            <a:ext cx="5254172" cy="3019327"/>
          </a:xfrm>
          <a:custGeom>
            <a:avLst/>
            <a:gdLst>
              <a:gd name="connsiteX0" fmla="*/ 0 w 5254172"/>
              <a:gd name="connsiteY0" fmla="*/ 2917371 h 3019327"/>
              <a:gd name="connsiteX1" fmla="*/ 508000 w 5254172"/>
              <a:gd name="connsiteY1" fmla="*/ 3018971 h 3019327"/>
              <a:gd name="connsiteX2" fmla="*/ 2960914 w 5254172"/>
              <a:gd name="connsiteY2" fmla="*/ 2975429 h 3019327"/>
              <a:gd name="connsiteX3" fmla="*/ 3991429 w 5254172"/>
              <a:gd name="connsiteY3" fmla="*/ 2699657 h 3019327"/>
              <a:gd name="connsiteX4" fmla="*/ 4107543 w 5254172"/>
              <a:gd name="connsiteY4" fmla="*/ 2554514 h 3019327"/>
              <a:gd name="connsiteX5" fmla="*/ 4223657 w 5254172"/>
              <a:gd name="connsiteY5" fmla="*/ 2177143 h 3019327"/>
              <a:gd name="connsiteX6" fmla="*/ 4310743 w 5254172"/>
              <a:gd name="connsiteY6" fmla="*/ 1828800 h 3019327"/>
              <a:gd name="connsiteX7" fmla="*/ 4252686 w 5254172"/>
              <a:gd name="connsiteY7" fmla="*/ 1567543 h 3019327"/>
              <a:gd name="connsiteX8" fmla="*/ 4180114 w 5254172"/>
              <a:gd name="connsiteY8" fmla="*/ 1494971 h 3019327"/>
              <a:gd name="connsiteX9" fmla="*/ 3788229 w 5254172"/>
              <a:gd name="connsiteY9" fmla="*/ 1320800 h 3019327"/>
              <a:gd name="connsiteX10" fmla="*/ 3585029 w 5254172"/>
              <a:gd name="connsiteY10" fmla="*/ 1262743 h 3019327"/>
              <a:gd name="connsiteX11" fmla="*/ 3106057 w 5254172"/>
              <a:gd name="connsiteY11" fmla="*/ 1277257 h 3019327"/>
              <a:gd name="connsiteX12" fmla="*/ 2946400 w 5254172"/>
              <a:gd name="connsiteY12" fmla="*/ 1320800 h 3019327"/>
              <a:gd name="connsiteX13" fmla="*/ 2612572 w 5254172"/>
              <a:gd name="connsiteY13" fmla="*/ 1509486 h 3019327"/>
              <a:gd name="connsiteX14" fmla="*/ 2554514 w 5254172"/>
              <a:gd name="connsiteY14" fmla="*/ 1567543 h 3019327"/>
              <a:gd name="connsiteX15" fmla="*/ 2612572 w 5254172"/>
              <a:gd name="connsiteY15" fmla="*/ 2017486 h 3019327"/>
              <a:gd name="connsiteX16" fmla="*/ 2902857 w 5254172"/>
              <a:gd name="connsiteY16" fmla="*/ 2206171 h 3019327"/>
              <a:gd name="connsiteX17" fmla="*/ 3483429 w 5254172"/>
              <a:gd name="connsiteY17" fmla="*/ 2322286 h 3019327"/>
              <a:gd name="connsiteX18" fmla="*/ 4165600 w 5254172"/>
              <a:gd name="connsiteY18" fmla="*/ 2249714 h 3019327"/>
              <a:gd name="connsiteX19" fmla="*/ 4891314 w 5254172"/>
              <a:gd name="connsiteY19" fmla="*/ 1901371 h 3019327"/>
              <a:gd name="connsiteX20" fmla="*/ 5080000 w 5254172"/>
              <a:gd name="connsiteY20" fmla="*/ 1683657 h 3019327"/>
              <a:gd name="connsiteX21" fmla="*/ 5254172 w 5254172"/>
              <a:gd name="connsiteY21" fmla="*/ 1016000 h 3019327"/>
              <a:gd name="connsiteX22" fmla="*/ 5181600 w 5254172"/>
              <a:gd name="connsiteY22" fmla="*/ 261257 h 3019327"/>
              <a:gd name="connsiteX23" fmla="*/ 5152572 w 5254172"/>
              <a:gd name="connsiteY23" fmla="*/ 174171 h 3019327"/>
              <a:gd name="connsiteX24" fmla="*/ 4978400 w 5254172"/>
              <a:gd name="connsiteY24" fmla="*/ 87086 h 3019327"/>
              <a:gd name="connsiteX25" fmla="*/ 4934857 w 5254172"/>
              <a:gd name="connsiteY25" fmla="*/ 58057 h 3019327"/>
              <a:gd name="connsiteX26" fmla="*/ 4789714 w 5254172"/>
              <a:gd name="connsiteY26" fmla="*/ 0 h 3019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5254172" h="3019327">
                <a:moveTo>
                  <a:pt x="0" y="2917371"/>
                </a:moveTo>
                <a:cubicBezTo>
                  <a:pt x="188581" y="2998192"/>
                  <a:pt x="209210" y="3017454"/>
                  <a:pt x="508000" y="3018971"/>
                </a:cubicBezTo>
                <a:cubicBezTo>
                  <a:pt x="1325756" y="3023122"/>
                  <a:pt x="2143276" y="2989943"/>
                  <a:pt x="2960914" y="2975429"/>
                </a:cubicBezTo>
                <a:cubicBezTo>
                  <a:pt x="3872695" y="2786784"/>
                  <a:pt x="3550442" y="2937111"/>
                  <a:pt x="3991429" y="2699657"/>
                </a:cubicBezTo>
                <a:cubicBezTo>
                  <a:pt x="4030134" y="2651276"/>
                  <a:pt x="4077270" y="2608573"/>
                  <a:pt x="4107543" y="2554514"/>
                </a:cubicBezTo>
                <a:cubicBezTo>
                  <a:pt x="4227920" y="2339555"/>
                  <a:pt x="4171511" y="2377038"/>
                  <a:pt x="4223657" y="2177143"/>
                </a:cubicBezTo>
                <a:cubicBezTo>
                  <a:pt x="4329817" y="1770192"/>
                  <a:pt x="4243290" y="2233512"/>
                  <a:pt x="4310743" y="1828800"/>
                </a:cubicBezTo>
                <a:cubicBezTo>
                  <a:pt x="4291391" y="1741714"/>
                  <a:pt x="4285194" y="1650619"/>
                  <a:pt x="4252686" y="1567543"/>
                </a:cubicBezTo>
                <a:cubicBezTo>
                  <a:pt x="4240220" y="1535684"/>
                  <a:pt x="4209337" y="1512759"/>
                  <a:pt x="4180114" y="1494971"/>
                </a:cubicBezTo>
                <a:cubicBezTo>
                  <a:pt x="3934075" y="1345208"/>
                  <a:pt x="3984699" y="1394477"/>
                  <a:pt x="3788229" y="1320800"/>
                </a:cubicBezTo>
                <a:cubicBezTo>
                  <a:pt x="3624483" y="1259395"/>
                  <a:pt x="3751610" y="1286540"/>
                  <a:pt x="3585029" y="1262743"/>
                </a:cubicBezTo>
                <a:cubicBezTo>
                  <a:pt x="3425372" y="1267581"/>
                  <a:pt x="3265132" y="1262796"/>
                  <a:pt x="3106057" y="1277257"/>
                </a:cubicBezTo>
                <a:cubicBezTo>
                  <a:pt x="3051121" y="1282251"/>
                  <a:pt x="2997617" y="1300313"/>
                  <a:pt x="2946400" y="1320800"/>
                </a:cubicBezTo>
                <a:cubicBezTo>
                  <a:pt x="2841935" y="1362586"/>
                  <a:pt x="2705633" y="1437901"/>
                  <a:pt x="2612572" y="1509486"/>
                </a:cubicBezTo>
                <a:cubicBezTo>
                  <a:pt x="2590879" y="1526173"/>
                  <a:pt x="2573867" y="1548191"/>
                  <a:pt x="2554514" y="1567543"/>
                </a:cubicBezTo>
                <a:cubicBezTo>
                  <a:pt x="2531415" y="1752339"/>
                  <a:pt x="2515543" y="1774913"/>
                  <a:pt x="2612572" y="2017486"/>
                </a:cubicBezTo>
                <a:cubicBezTo>
                  <a:pt x="2650324" y="2111865"/>
                  <a:pt x="2833873" y="2180302"/>
                  <a:pt x="2902857" y="2206171"/>
                </a:cubicBezTo>
                <a:cubicBezTo>
                  <a:pt x="3196988" y="2316470"/>
                  <a:pt x="3166265" y="2292079"/>
                  <a:pt x="3483429" y="2322286"/>
                </a:cubicBezTo>
                <a:cubicBezTo>
                  <a:pt x="3704658" y="2312667"/>
                  <a:pt x="3950688" y="2315503"/>
                  <a:pt x="4165600" y="2249714"/>
                </a:cubicBezTo>
                <a:cubicBezTo>
                  <a:pt x="4348001" y="2193877"/>
                  <a:pt x="4726124" y="1987270"/>
                  <a:pt x="4891314" y="1901371"/>
                </a:cubicBezTo>
                <a:cubicBezTo>
                  <a:pt x="4954209" y="1828800"/>
                  <a:pt x="5036178" y="1769109"/>
                  <a:pt x="5080000" y="1683657"/>
                </a:cubicBezTo>
                <a:cubicBezTo>
                  <a:pt x="5132401" y="1581475"/>
                  <a:pt x="5226774" y="1136550"/>
                  <a:pt x="5254172" y="1016000"/>
                </a:cubicBezTo>
                <a:cubicBezTo>
                  <a:pt x="5231202" y="579567"/>
                  <a:pt x="5260068" y="575133"/>
                  <a:pt x="5181600" y="261257"/>
                </a:cubicBezTo>
                <a:cubicBezTo>
                  <a:pt x="5174179" y="231572"/>
                  <a:pt x="5173041" y="196915"/>
                  <a:pt x="5152572" y="174171"/>
                </a:cubicBezTo>
                <a:cubicBezTo>
                  <a:pt x="5111400" y="128424"/>
                  <a:pt x="5031716" y="113744"/>
                  <a:pt x="4978400" y="87086"/>
                </a:cubicBezTo>
                <a:cubicBezTo>
                  <a:pt x="4962797" y="79285"/>
                  <a:pt x="4950798" y="65142"/>
                  <a:pt x="4934857" y="58057"/>
                </a:cubicBezTo>
                <a:cubicBezTo>
                  <a:pt x="4612010" y="-85431"/>
                  <a:pt x="5027338" y="118812"/>
                  <a:pt x="4789714" y="0"/>
                </a:cubicBezTo>
              </a:path>
            </a:pathLst>
          </a:custGeom>
          <a:ln w="50800" cap="rnd">
            <a:solidFill>
              <a:srgbClr val="669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4D74548-0DC9-4F02-99D8-0D303AE80A89}"/>
              </a:ext>
            </a:extLst>
          </p:cNvPr>
          <p:cNvSpPr txBox="1"/>
          <p:nvPr/>
        </p:nvSpPr>
        <p:spPr>
          <a:xfrm>
            <a:off x="5585601" y="4498781"/>
            <a:ext cx="856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126A"/>
                </a:solidFill>
                <a:latin typeface="Montserrat Medium" panose="00000600000000000000" pitchFamily="2" charset="-52"/>
              </a:rPr>
              <a:t>Alg_1</a:t>
            </a:r>
            <a:endParaRPr lang="ru-RU" sz="1800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D02CD129-4362-41D7-A01A-754AFC833512}"/>
              </a:ext>
            </a:extLst>
          </p:cNvPr>
          <p:cNvSpPr txBox="1"/>
          <p:nvPr/>
        </p:nvSpPr>
        <p:spPr>
          <a:xfrm>
            <a:off x="7571974" y="4868511"/>
            <a:ext cx="856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8EDE8"/>
                </a:solidFill>
                <a:latin typeface="Montserrat Medium" panose="00000600000000000000" pitchFamily="2" charset="-52"/>
              </a:rPr>
              <a:t>Alg_2</a:t>
            </a:r>
            <a:endParaRPr lang="ru-RU" sz="18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839A47F-AE15-44C1-9938-7840924AAD0A}"/>
              </a:ext>
            </a:extLst>
          </p:cNvPr>
          <p:cNvSpPr txBox="1"/>
          <p:nvPr/>
        </p:nvSpPr>
        <p:spPr>
          <a:xfrm>
            <a:off x="9095624" y="4076520"/>
            <a:ext cx="856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Alg_3</a:t>
            </a:r>
            <a:endParaRPr lang="ru-RU" sz="18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7" name="Picture 2" descr="Using navmeshes - A* Pathfinding Project">
            <a:extLst>
              <a:ext uri="{FF2B5EF4-FFF2-40B4-BE49-F238E27FC236}">
                <a16:creationId xmlns:a16="http://schemas.microsoft.com/office/drawing/2014/main" id="{E132B97F-DA5A-4A12-BE2F-091EDA24E2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23" r="5823"/>
          <a:stretch/>
        </p:blipFill>
        <p:spPr bwMode="auto">
          <a:xfrm>
            <a:off x="13383298" y="1158956"/>
            <a:ext cx="2758941" cy="1551904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73" name="!!Box_1">
            <a:extLst>
              <a:ext uri="{FF2B5EF4-FFF2-40B4-BE49-F238E27FC236}">
                <a16:creationId xmlns:a16="http://schemas.microsoft.com/office/drawing/2014/main" id="{3129451C-33C0-4E22-81D0-5911A1C1E82F}"/>
              </a:ext>
            </a:extLst>
          </p:cNvPr>
          <p:cNvSpPr/>
          <p:nvPr/>
        </p:nvSpPr>
        <p:spPr>
          <a:xfrm>
            <a:off x="-8212192" y="1153009"/>
            <a:ext cx="7187028" cy="156379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BA5E4E9-EFB3-40AB-B0EB-84CF67CB796E}"/>
              </a:ext>
            </a:extLst>
          </p:cNvPr>
          <p:cNvSpPr txBox="1"/>
          <p:nvPr/>
        </p:nvSpPr>
        <p:spPr>
          <a:xfrm>
            <a:off x="-8212192" y="1228694"/>
            <a:ext cx="1386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NavMesh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366FFA-8486-4F96-A55C-1538D0E497D6}"/>
              </a:ext>
            </a:extLst>
          </p:cNvPr>
          <p:cNvSpPr txBox="1"/>
          <p:nvPr/>
        </p:nvSpPr>
        <p:spPr>
          <a:xfrm>
            <a:off x="-8203544" y="1633131"/>
            <a:ext cx="6944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Найпопулярніший метод організації переміщення ботів. Логіка навігаційного мешу полягає в тому, що ШІ будує сітку з урахуванням геометрії локації та за алгоритмом пошуку шукає найкоротший шлях.</a:t>
            </a:r>
          </a:p>
        </p:txBody>
      </p:sp>
      <p:sp>
        <p:nvSpPr>
          <p:cNvPr id="91" name="!!Box_2">
            <a:extLst>
              <a:ext uri="{FF2B5EF4-FFF2-40B4-BE49-F238E27FC236}">
                <a16:creationId xmlns:a16="http://schemas.microsoft.com/office/drawing/2014/main" id="{95252150-908F-48FD-8470-BC595EC4B557}"/>
              </a:ext>
            </a:extLst>
          </p:cNvPr>
          <p:cNvSpPr/>
          <p:nvPr/>
        </p:nvSpPr>
        <p:spPr>
          <a:xfrm>
            <a:off x="-8212192" y="2876245"/>
            <a:ext cx="7187028" cy="156379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CFC38C-4F51-40EA-9545-ED0BD2D52CAD}"/>
              </a:ext>
            </a:extLst>
          </p:cNvPr>
          <p:cNvSpPr txBox="1"/>
          <p:nvPr/>
        </p:nvSpPr>
        <p:spPr>
          <a:xfrm>
            <a:off x="-8212193" y="2951114"/>
            <a:ext cx="2848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Steering Behaviors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B85A7B2-BE56-4727-BFFA-9631034FED76}"/>
              </a:ext>
            </a:extLst>
          </p:cNvPr>
          <p:cNvSpPr txBox="1"/>
          <p:nvPr/>
        </p:nvSpPr>
        <p:spPr>
          <a:xfrm>
            <a:off x="-8203544" y="3355551"/>
            <a:ext cx="6944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Цей метод реалізації переміщення не прораховує заздалегідь маршрут, а відштовхується від навколишнього середовища, використовуючи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лучі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орієнтації в просторі </a:t>
            </a:r>
          </a:p>
        </p:txBody>
      </p:sp>
      <p:sp>
        <p:nvSpPr>
          <p:cNvPr id="95" name="!!Box_3">
            <a:extLst>
              <a:ext uri="{FF2B5EF4-FFF2-40B4-BE49-F238E27FC236}">
                <a16:creationId xmlns:a16="http://schemas.microsoft.com/office/drawing/2014/main" id="{CE3DBA7D-83BE-4F7B-8CD7-E27999FE7837}"/>
              </a:ext>
            </a:extLst>
          </p:cNvPr>
          <p:cNvSpPr/>
          <p:nvPr/>
        </p:nvSpPr>
        <p:spPr>
          <a:xfrm>
            <a:off x="-8212192" y="4599481"/>
            <a:ext cx="7187028" cy="156379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7DBD44B-2FC7-4A26-A4FF-831F1B12F97E}"/>
              </a:ext>
            </a:extLst>
          </p:cNvPr>
          <p:cNvSpPr txBox="1"/>
          <p:nvPr/>
        </p:nvSpPr>
        <p:spPr>
          <a:xfrm>
            <a:off x="-8212192" y="4673534"/>
            <a:ext cx="4095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agents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8E11E0C-00FA-4441-9EF7-A0CCC648155F}"/>
              </a:ext>
            </a:extLst>
          </p:cNvPr>
          <p:cNvSpPr txBox="1"/>
          <p:nvPr/>
        </p:nvSpPr>
        <p:spPr>
          <a:xfrm>
            <a:off x="-8203544" y="5077971"/>
            <a:ext cx="6944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Агенти машинного навчання використовують сенсори, зокрема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лучі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для отримання інформації про навколишнє середовище та подальшого аналізу та прийняття рішення.</a:t>
            </a:r>
          </a:p>
        </p:txBody>
      </p:sp>
      <p:pic>
        <p:nvPicPr>
          <p:cNvPr id="115" name="Рисунок 114">
            <a:extLst>
              <a:ext uri="{FF2B5EF4-FFF2-40B4-BE49-F238E27FC236}">
                <a16:creationId xmlns:a16="http://schemas.microsoft.com/office/drawing/2014/main" id="{019BBE3A-6C8A-411D-AFE2-B4EB3393A1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55" b="6855"/>
          <a:stretch/>
        </p:blipFill>
        <p:spPr>
          <a:xfrm>
            <a:off x="14606630" y="2873183"/>
            <a:ext cx="2776583" cy="1561828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16" name="Picture 6" descr="Detactable Tags in Ray Perception Sensor3D are not working · Issue #4178 ·  Unity-Technologies/ml-agents">
            <a:extLst>
              <a:ext uri="{FF2B5EF4-FFF2-40B4-BE49-F238E27FC236}">
                <a16:creationId xmlns:a16="http://schemas.microsoft.com/office/drawing/2014/main" id="{2F027B0F-05CF-42DC-AFB3-72D1B4CDFB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85" t="177" r="2383" b="-177"/>
          <a:stretch/>
        </p:blipFill>
        <p:spPr bwMode="auto">
          <a:xfrm>
            <a:off x="13365656" y="4597335"/>
            <a:ext cx="2787714" cy="156809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4152973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126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130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70337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Тестовані алгоритми</a:t>
            </a:r>
          </a:p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Для вирішення задачі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!!рам3">
            <a:extLst>
              <a:ext uri="{FF2B5EF4-FFF2-40B4-BE49-F238E27FC236}">
                <a16:creationId xmlns:a16="http://schemas.microsoft.com/office/drawing/2014/main" id="{93486AFD-4ACD-48D0-ADD3-6F6EBC47D476}"/>
              </a:ext>
            </a:extLst>
          </p:cNvPr>
          <p:cNvSpPr/>
          <p:nvPr/>
        </p:nvSpPr>
        <p:spPr>
          <a:xfrm>
            <a:off x="-4931720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43F210-3954-441B-8979-1E55BFE00F65}"/>
              </a:ext>
            </a:extLst>
          </p:cNvPr>
          <p:cNvSpPr txBox="1"/>
          <p:nvPr/>
        </p:nvSpPr>
        <p:spPr>
          <a:xfrm>
            <a:off x="-4371757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09F9CE-1D93-4796-A901-31BE6506FE3A}"/>
              </a:ext>
            </a:extLst>
          </p:cNvPr>
          <p:cNvSpPr txBox="1"/>
          <p:nvPr/>
        </p:nvSpPr>
        <p:spPr>
          <a:xfrm>
            <a:off x="-4820684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sp>
        <p:nvSpPr>
          <p:cNvPr id="98" name="!!рам3">
            <a:extLst>
              <a:ext uri="{FF2B5EF4-FFF2-40B4-BE49-F238E27FC236}">
                <a16:creationId xmlns:a16="http://schemas.microsoft.com/office/drawing/2014/main" id="{E92F395F-FB02-437F-B732-A7C1E53D5979}"/>
              </a:ext>
            </a:extLst>
          </p:cNvPr>
          <p:cNvSpPr/>
          <p:nvPr/>
        </p:nvSpPr>
        <p:spPr>
          <a:xfrm>
            <a:off x="-7454688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DF8C008-760F-4AB2-8432-183BC9BEBA9A}"/>
              </a:ext>
            </a:extLst>
          </p:cNvPr>
          <p:cNvSpPr txBox="1"/>
          <p:nvPr/>
        </p:nvSpPr>
        <p:spPr>
          <a:xfrm>
            <a:off x="-6894725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0FE5C2-0E4D-43BF-A2AD-C649ADB140A4}"/>
              </a:ext>
            </a:extLst>
          </p:cNvPr>
          <p:cNvSpPr txBox="1"/>
          <p:nvPr/>
        </p:nvSpPr>
        <p:spPr>
          <a:xfrm>
            <a:off x="-7419750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17" name="!!рам3">
            <a:extLst>
              <a:ext uri="{FF2B5EF4-FFF2-40B4-BE49-F238E27FC236}">
                <a16:creationId xmlns:a16="http://schemas.microsoft.com/office/drawing/2014/main" id="{70DFBB37-387F-485E-8279-C35374400522}"/>
              </a:ext>
            </a:extLst>
          </p:cNvPr>
          <p:cNvSpPr/>
          <p:nvPr/>
        </p:nvSpPr>
        <p:spPr>
          <a:xfrm>
            <a:off x="-10350388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CA681A-A85F-4403-B518-F2DED4085FFF}"/>
              </a:ext>
            </a:extLst>
          </p:cNvPr>
          <p:cNvSpPr txBox="1"/>
          <p:nvPr/>
        </p:nvSpPr>
        <p:spPr>
          <a:xfrm>
            <a:off x="-9790425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CDA67E-271E-4134-ADA1-10DACC143BB8}"/>
              </a:ext>
            </a:extLst>
          </p:cNvPr>
          <p:cNvSpPr txBox="1"/>
          <p:nvPr/>
        </p:nvSpPr>
        <p:spPr>
          <a:xfrm>
            <a:off x="-10315450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  <p:pic>
        <p:nvPicPr>
          <p:cNvPr id="1026" name="Picture 2" descr="Using navmeshes - A* Pathfinding Project">
            <a:extLst>
              <a:ext uri="{FF2B5EF4-FFF2-40B4-BE49-F238E27FC236}">
                <a16:creationId xmlns:a16="http://schemas.microsoft.com/office/drawing/2014/main" id="{7BBE4537-9E4F-46B3-A179-E29E86DCED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23" r="5823"/>
          <a:stretch/>
        </p:blipFill>
        <p:spPr bwMode="auto">
          <a:xfrm>
            <a:off x="8078386" y="1158956"/>
            <a:ext cx="2758941" cy="1551904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115" name="!!Box_1">
            <a:extLst>
              <a:ext uri="{FF2B5EF4-FFF2-40B4-BE49-F238E27FC236}">
                <a16:creationId xmlns:a16="http://schemas.microsoft.com/office/drawing/2014/main" id="{B04BA15B-8003-4FF9-A751-CA1A56B903D7}"/>
              </a:ext>
            </a:extLst>
          </p:cNvPr>
          <p:cNvSpPr/>
          <p:nvPr/>
        </p:nvSpPr>
        <p:spPr>
          <a:xfrm>
            <a:off x="695325" y="1153009"/>
            <a:ext cx="7187028" cy="156379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41BBADB-832A-4075-8285-7C1F3A285460}"/>
              </a:ext>
            </a:extLst>
          </p:cNvPr>
          <p:cNvSpPr txBox="1"/>
          <p:nvPr/>
        </p:nvSpPr>
        <p:spPr>
          <a:xfrm>
            <a:off x="695325" y="1228694"/>
            <a:ext cx="1386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NavMesh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FB7A5B4-7A07-429A-8FE6-F275866016D8}"/>
              </a:ext>
            </a:extLst>
          </p:cNvPr>
          <p:cNvSpPr txBox="1"/>
          <p:nvPr/>
        </p:nvSpPr>
        <p:spPr>
          <a:xfrm>
            <a:off x="703973" y="1633131"/>
            <a:ext cx="6944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Найпопулярніший метод організації переміщення ботів. Логіка навігаційного мешу полягає в тому, що ШІ будує сітку з урахуванням геометрії локації та за алгоритмом пошуку шукає найкоротший шлях.</a:t>
            </a:r>
          </a:p>
        </p:txBody>
      </p:sp>
      <p:sp>
        <p:nvSpPr>
          <p:cNvPr id="143" name="!!Box_2">
            <a:extLst>
              <a:ext uri="{FF2B5EF4-FFF2-40B4-BE49-F238E27FC236}">
                <a16:creationId xmlns:a16="http://schemas.microsoft.com/office/drawing/2014/main" id="{82B4591D-05BC-4CCD-A6DE-938C6D44F86D}"/>
              </a:ext>
            </a:extLst>
          </p:cNvPr>
          <p:cNvSpPr/>
          <p:nvPr/>
        </p:nvSpPr>
        <p:spPr>
          <a:xfrm>
            <a:off x="695325" y="2876245"/>
            <a:ext cx="7187028" cy="156379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ACB808BD-F7B9-4376-BD71-9BB628D3E5D6}"/>
              </a:ext>
            </a:extLst>
          </p:cNvPr>
          <p:cNvSpPr txBox="1"/>
          <p:nvPr/>
        </p:nvSpPr>
        <p:spPr>
          <a:xfrm>
            <a:off x="695324" y="2951114"/>
            <a:ext cx="2848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Steering Behaviors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3E874424-B929-44D1-929F-3EC1B2C3420D}"/>
              </a:ext>
            </a:extLst>
          </p:cNvPr>
          <p:cNvSpPr txBox="1"/>
          <p:nvPr/>
        </p:nvSpPr>
        <p:spPr>
          <a:xfrm>
            <a:off x="703973" y="3355551"/>
            <a:ext cx="6944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Цей метод реалізації переміщення не прораховує заздалегідь маршрут, а відштовхується від навколишнього середовища, використовуючи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лучі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орієнтації в просторі </a:t>
            </a:r>
          </a:p>
        </p:txBody>
      </p:sp>
      <p:sp>
        <p:nvSpPr>
          <p:cNvPr id="146" name="!!Box_3">
            <a:extLst>
              <a:ext uri="{FF2B5EF4-FFF2-40B4-BE49-F238E27FC236}">
                <a16:creationId xmlns:a16="http://schemas.microsoft.com/office/drawing/2014/main" id="{D53EDB4C-7373-4499-80D2-DC1132BF79FF}"/>
              </a:ext>
            </a:extLst>
          </p:cNvPr>
          <p:cNvSpPr/>
          <p:nvPr/>
        </p:nvSpPr>
        <p:spPr>
          <a:xfrm>
            <a:off x="695325" y="4599481"/>
            <a:ext cx="7187028" cy="156379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753B2B88-34C7-4D2D-963F-6F1AD488531D}"/>
              </a:ext>
            </a:extLst>
          </p:cNvPr>
          <p:cNvSpPr txBox="1"/>
          <p:nvPr/>
        </p:nvSpPr>
        <p:spPr>
          <a:xfrm>
            <a:off x="695325" y="4673534"/>
            <a:ext cx="4095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agents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C2014C0-921F-4143-93BA-76E9F63EC1AA}"/>
              </a:ext>
            </a:extLst>
          </p:cNvPr>
          <p:cNvSpPr txBox="1"/>
          <p:nvPr/>
        </p:nvSpPr>
        <p:spPr>
          <a:xfrm>
            <a:off x="703973" y="5077971"/>
            <a:ext cx="6944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Агенти машинного навчання використовують сенсори, зокрема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лучі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для отримання інформації про навколишнє середовище та подальшого аналізу та прийняття рішення.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31E48E-BA3E-4648-B9C7-729A983FAE32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t="6855" b="6855"/>
          <a:stretch/>
        </p:blipFill>
        <p:spPr>
          <a:xfrm>
            <a:off x="8060744" y="2873184"/>
            <a:ext cx="2776583" cy="1561828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49" name="Picture 6" descr="Detactable Tags in Ray Perception Sensor3D are not working · Issue #4178 ·  Unity-Technologies/ml-agents">
            <a:extLst>
              <a:ext uri="{FF2B5EF4-FFF2-40B4-BE49-F238E27FC236}">
                <a16:creationId xmlns:a16="http://schemas.microsoft.com/office/drawing/2014/main" id="{B9C74A49-0CD5-458A-ACB7-759F36F417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85" t="177" r="2383" b="-177"/>
          <a:stretch/>
        </p:blipFill>
        <p:spPr bwMode="auto">
          <a:xfrm>
            <a:off x="8060744" y="4597335"/>
            <a:ext cx="2787714" cy="156809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50" name="Игрок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3BFF338B-A019-42D1-AC45-854344B1716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-4977618" y="3518094"/>
            <a:ext cx="3687721" cy="207434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51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99479D74-9517-4019-82A2-3CE92CA92CF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-2331741" y="8270550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52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F98037F9-AF6C-434E-9C51-CB4F28EB01E6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10583325" y="7960560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53" name="ML AI аген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ADB980DE-9800-45AD-A168-F38E5A2D1BD7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3593430" y="2888483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3178856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15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16" fill="hold"/>
                                        <p:tgtEl>
                                          <p:spTgt spid="15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16" fill="hold"/>
                                        <p:tgtEl>
                                          <p:spTgt spid="15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5016" fill="hold"/>
                                        <p:tgtEl>
                                          <p:spTgt spid="15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50"/>
                </p:tgtEl>
              </p:cMediaNode>
            </p:video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51"/>
                </p:tgtEl>
              </p:cMediaNode>
            </p:video>
            <p:video>
              <p:cMediaNode vol="80000">
                <p:cTn id="15" repeatCount="indefinite" fill="hold" display="0">
                  <p:stCondLst>
                    <p:cond delay="indefinite"/>
                  </p:stCondLst>
                </p:cTn>
                <p:tgtEl>
                  <p:spTgt spid="152"/>
                </p:tgtEl>
              </p:cMediaNode>
            </p:video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15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84764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Інтерактив</a:t>
            </a:r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: На якому відео який алгоритм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Picture 2" descr="Using navmeshes - A* Pathfinding Project">
            <a:extLst>
              <a:ext uri="{FF2B5EF4-FFF2-40B4-BE49-F238E27FC236}">
                <a16:creationId xmlns:a16="http://schemas.microsoft.com/office/drawing/2014/main" id="{7515EBC0-8BB4-434F-8156-9E8B3C8EB5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23" r="5823"/>
          <a:stretch/>
        </p:blipFill>
        <p:spPr bwMode="auto">
          <a:xfrm>
            <a:off x="17102958" y="1158956"/>
            <a:ext cx="2758941" cy="1551904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7" name="!!Box_1">
            <a:extLst>
              <a:ext uri="{FF2B5EF4-FFF2-40B4-BE49-F238E27FC236}">
                <a16:creationId xmlns:a16="http://schemas.microsoft.com/office/drawing/2014/main" id="{116ADDAC-37D3-46CE-84C7-21B1CF3C410E}"/>
              </a:ext>
            </a:extLst>
          </p:cNvPr>
          <p:cNvSpPr/>
          <p:nvPr/>
        </p:nvSpPr>
        <p:spPr>
          <a:xfrm>
            <a:off x="463096" y="1147147"/>
            <a:ext cx="3542846" cy="54401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5B546E-652F-489C-8A8E-238628714845}"/>
              </a:ext>
            </a:extLst>
          </p:cNvPr>
          <p:cNvSpPr txBox="1"/>
          <p:nvPr/>
        </p:nvSpPr>
        <p:spPr>
          <a:xfrm>
            <a:off x="463096" y="1219101"/>
            <a:ext cx="1386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NavMesh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Box_2">
            <a:extLst>
              <a:ext uri="{FF2B5EF4-FFF2-40B4-BE49-F238E27FC236}">
                <a16:creationId xmlns:a16="http://schemas.microsoft.com/office/drawing/2014/main" id="{F02BBB78-529C-45D6-85BE-2509F1DAECF8}"/>
              </a:ext>
            </a:extLst>
          </p:cNvPr>
          <p:cNvSpPr/>
          <p:nvPr/>
        </p:nvSpPr>
        <p:spPr>
          <a:xfrm>
            <a:off x="4122458" y="1147147"/>
            <a:ext cx="3542846" cy="54401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C2E2FBE-BD46-4A4D-AF69-1D1D2D23325F}"/>
              </a:ext>
            </a:extLst>
          </p:cNvPr>
          <p:cNvSpPr txBox="1"/>
          <p:nvPr/>
        </p:nvSpPr>
        <p:spPr>
          <a:xfrm>
            <a:off x="4122457" y="1219101"/>
            <a:ext cx="2848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Steering Behaviors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Box_3">
            <a:extLst>
              <a:ext uri="{FF2B5EF4-FFF2-40B4-BE49-F238E27FC236}">
                <a16:creationId xmlns:a16="http://schemas.microsoft.com/office/drawing/2014/main" id="{0A47ADCB-8725-4133-BFDB-C587701650B4}"/>
              </a:ext>
            </a:extLst>
          </p:cNvPr>
          <p:cNvSpPr/>
          <p:nvPr/>
        </p:nvSpPr>
        <p:spPr>
          <a:xfrm>
            <a:off x="7781820" y="1147147"/>
            <a:ext cx="3542846" cy="54401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0FAB13-E52D-4DB9-84E2-E762C113A771}"/>
              </a:ext>
            </a:extLst>
          </p:cNvPr>
          <p:cNvSpPr txBox="1"/>
          <p:nvPr/>
        </p:nvSpPr>
        <p:spPr>
          <a:xfrm>
            <a:off x="7781820" y="1215338"/>
            <a:ext cx="4095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agents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97" name="Рисунок 96">
            <a:extLst>
              <a:ext uri="{FF2B5EF4-FFF2-40B4-BE49-F238E27FC236}">
                <a16:creationId xmlns:a16="http://schemas.microsoft.com/office/drawing/2014/main" id="{C561ED67-79D1-42BD-87C6-3A83F517F90D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t="6855" b="6855"/>
          <a:stretch/>
        </p:blipFill>
        <p:spPr>
          <a:xfrm>
            <a:off x="15313666" y="2873184"/>
            <a:ext cx="2776583" cy="1561828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16" name="Picture 6" descr="Detactable Tags in Ray Perception Sensor3D are not working · Issue #4178 ·  Unity-Technologies/ml-agents">
            <a:extLst>
              <a:ext uri="{FF2B5EF4-FFF2-40B4-BE49-F238E27FC236}">
                <a16:creationId xmlns:a16="http://schemas.microsoft.com/office/drawing/2014/main" id="{98D29C8D-8950-486C-A1C0-8184D7CDC9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85" t="177" r="2383" b="-177"/>
          <a:stretch/>
        </p:blipFill>
        <p:spPr bwMode="auto">
          <a:xfrm>
            <a:off x="13007533" y="4597335"/>
            <a:ext cx="2787714" cy="156809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9" name="Игрок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D4AF6538-EC81-4A13-8F0C-64B8D7E8D97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383717" y="1943712"/>
            <a:ext cx="3687721" cy="207434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0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B5379629-652B-4C74-BBEE-2C953FC0639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1381181" y="4167536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1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101C9DFA-05B3-4912-917B-C832A41211F5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7120271" y="4167536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2" name="ML AI аген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5BBB25BD-C500-41DF-B3EE-D8852B9CDCDC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111995" y="1944083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FB76A6CB-BC3D-40EB-969E-62CAFBA448F0}"/>
              </a:ext>
            </a:extLst>
          </p:cNvPr>
          <p:cNvSpPr txBox="1"/>
          <p:nvPr/>
        </p:nvSpPr>
        <p:spPr>
          <a:xfrm>
            <a:off x="812030" y="2519895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32231-5F48-4067-A3BF-3720B432355B}"/>
              </a:ext>
            </a:extLst>
          </p:cNvPr>
          <p:cNvSpPr txBox="1"/>
          <p:nvPr/>
        </p:nvSpPr>
        <p:spPr>
          <a:xfrm>
            <a:off x="765556" y="463549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5BE2061-F72C-416D-A50E-C4ADC8645412}"/>
              </a:ext>
            </a:extLst>
          </p:cNvPr>
          <p:cNvSpPr txBox="1"/>
          <p:nvPr/>
        </p:nvSpPr>
        <p:spPr>
          <a:xfrm>
            <a:off x="6518403" y="2519895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4B9B62A7-C02F-4C06-AA18-42138ACE79E3}"/>
              </a:ext>
            </a:extLst>
          </p:cNvPr>
          <p:cNvSpPr txBox="1"/>
          <p:nvPr/>
        </p:nvSpPr>
        <p:spPr>
          <a:xfrm>
            <a:off x="6452996" y="463549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4 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478119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16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16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5016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15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84764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Інтерактив</a:t>
            </a:r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: На якому відео який алгоритм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Игрок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D4AF6538-EC81-4A13-8F0C-64B8D7E8D97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383717" y="1943712"/>
            <a:ext cx="3687721" cy="207434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1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101C9DFA-05B3-4912-917B-C832A41211F5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120271" y="4167536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2" name="ML AI аген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5BBB25BD-C500-41DF-B3EE-D8852B9CDCDC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7111995" y="1944083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58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131C9E19-C6B8-417B-9B18-E657A5E7C25B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381181" y="4167536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FB76A6CB-BC3D-40EB-969E-62CAFBA448F0}"/>
              </a:ext>
            </a:extLst>
          </p:cNvPr>
          <p:cNvSpPr txBox="1"/>
          <p:nvPr/>
        </p:nvSpPr>
        <p:spPr>
          <a:xfrm>
            <a:off x="812030" y="2519895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32231-5F48-4067-A3BF-3720B432355B}"/>
              </a:ext>
            </a:extLst>
          </p:cNvPr>
          <p:cNvSpPr txBox="1"/>
          <p:nvPr/>
        </p:nvSpPr>
        <p:spPr>
          <a:xfrm>
            <a:off x="765556" y="463549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5BE2061-F72C-416D-A50E-C4ADC8645412}"/>
              </a:ext>
            </a:extLst>
          </p:cNvPr>
          <p:cNvSpPr txBox="1"/>
          <p:nvPr/>
        </p:nvSpPr>
        <p:spPr>
          <a:xfrm>
            <a:off x="6518403" y="2519895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4B9B62A7-C02F-4C06-AA18-42138ACE79E3}"/>
              </a:ext>
            </a:extLst>
          </p:cNvPr>
          <p:cNvSpPr txBox="1"/>
          <p:nvPr/>
        </p:nvSpPr>
        <p:spPr>
          <a:xfrm>
            <a:off x="6452996" y="463549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4 </a:t>
            </a:r>
            <a:endParaRPr lang="ru-RU" sz="60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5B546E-652F-489C-8A8E-238628714845}"/>
              </a:ext>
            </a:extLst>
          </p:cNvPr>
          <p:cNvSpPr txBox="1"/>
          <p:nvPr/>
        </p:nvSpPr>
        <p:spPr>
          <a:xfrm>
            <a:off x="8270332" y="5826686"/>
            <a:ext cx="1386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rgbClr val="0F126A"/>
                </a:solidFill>
                <a:latin typeface="Montserrat Medium" panose="00000600000000000000" pitchFamily="2" charset="-52"/>
              </a:rPr>
              <a:t>NavMesh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C2E2FBE-BD46-4A4D-AF69-1D1D2D23325F}"/>
              </a:ext>
            </a:extLst>
          </p:cNvPr>
          <p:cNvSpPr txBox="1"/>
          <p:nvPr/>
        </p:nvSpPr>
        <p:spPr>
          <a:xfrm>
            <a:off x="1775561" y="5790626"/>
            <a:ext cx="2848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Steering Behaviors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0FAB13-E52D-4DB9-84E2-E762C113A771}"/>
              </a:ext>
            </a:extLst>
          </p:cNvPr>
          <p:cNvSpPr txBox="1"/>
          <p:nvPr/>
        </p:nvSpPr>
        <p:spPr>
          <a:xfrm>
            <a:off x="7262190" y="3548314"/>
            <a:ext cx="4055726" cy="40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Machine Learning agents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E3BAF9-F54E-4BD2-9BED-2951F02AA05A}"/>
              </a:ext>
            </a:extLst>
          </p:cNvPr>
          <p:cNvSpPr txBox="1"/>
          <p:nvPr/>
        </p:nvSpPr>
        <p:spPr>
          <a:xfrm>
            <a:off x="2680269" y="3548314"/>
            <a:ext cx="1110033" cy="40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Player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101528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16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16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5016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5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58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7383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реалізація власного скрипту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(</a:t>
            </a:r>
            <a:r>
              <a:rPr lang="en-US" sz="28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Steering Behaviors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)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Игрок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D4AF6538-EC81-4A13-8F0C-64B8D7E8D97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-3542855" y="-3490762"/>
            <a:ext cx="3687721" cy="207434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0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B5379629-652B-4C74-BBEE-2C953FC0639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-3542855" y="8077947"/>
            <a:ext cx="3542847" cy="1992851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1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101C9DFA-05B3-4912-917B-C832A41211F5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2191995" y="7806698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2" name="ML AI аген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5BBB25BD-C500-41DF-B3EE-D8852B9CDCDC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2191995" y="-3575085"/>
            <a:ext cx="3686400" cy="207360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3" name="Овал 2">
            <a:extLst>
              <a:ext uri="{FF2B5EF4-FFF2-40B4-BE49-F238E27FC236}">
                <a16:creationId xmlns:a16="http://schemas.microsoft.com/office/drawing/2014/main" id="{B5647CAA-B4EB-44D2-B8BE-85289B71EE61}"/>
              </a:ext>
            </a:extLst>
          </p:cNvPr>
          <p:cNvSpPr/>
          <p:nvPr/>
        </p:nvSpPr>
        <p:spPr>
          <a:xfrm>
            <a:off x="623024" y="4091775"/>
            <a:ext cx="1059364" cy="105936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Agent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cxnSp>
        <p:nvCxnSpPr>
          <p:cNvPr id="5" name="!!ЛучВверх">
            <a:extLst>
              <a:ext uri="{FF2B5EF4-FFF2-40B4-BE49-F238E27FC236}">
                <a16:creationId xmlns:a16="http://schemas.microsoft.com/office/drawing/2014/main" id="{C3DDFB4B-18AE-4D70-81E1-A8E19F632BE7}"/>
              </a:ext>
            </a:extLst>
          </p:cNvPr>
          <p:cNvCxnSpPr>
            <a:cxnSpLocks/>
          </p:cNvCxnSpPr>
          <p:nvPr/>
        </p:nvCxnSpPr>
        <p:spPr>
          <a:xfrm flipV="1">
            <a:off x="1152706" y="2973070"/>
            <a:ext cx="0" cy="101600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ЛучВниз">
            <a:extLst>
              <a:ext uri="{FF2B5EF4-FFF2-40B4-BE49-F238E27FC236}">
                <a16:creationId xmlns:a16="http://schemas.microsoft.com/office/drawing/2014/main" id="{B099AA2E-0715-46E8-9491-0316EDB1F7DE}"/>
              </a:ext>
            </a:extLst>
          </p:cNvPr>
          <p:cNvCxnSpPr>
            <a:cxnSpLocks/>
          </p:cNvCxnSpPr>
          <p:nvPr/>
        </p:nvCxnSpPr>
        <p:spPr>
          <a:xfrm flipV="1">
            <a:off x="1152706" y="5264173"/>
            <a:ext cx="0" cy="101600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!!ЛучПрямо_2">
            <a:extLst>
              <a:ext uri="{FF2B5EF4-FFF2-40B4-BE49-F238E27FC236}">
                <a16:creationId xmlns:a16="http://schemas.microsoft.com/office/drawing/2014/main" id="{4F3446D2-F6B6-4054-9DDD-E9022D793532}"/>
              </a:ext>
            </a:extLst>
          </p:cNvPr>
          <p:cNvCxnSpPr>
            <a:cxnSpLocks/>
          </p:cNvCxnSpPr>
          <p:nvPr/>
        </p:nvCxnSpPr>
        <p:spPr>
          <a:xfrm>
            <a:off x="1152707" y="5264173"/>
            <a:ext cx="2166222" cy="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ЛучПрямо_1">
            <a:extLst>
              <a:ext uri="{FF2B5EF4-FFF2-40B4-BE49-F238E27FC236}">
                <a16:creationId xmlns:a16="http://schemas.microsoft.com/office/drawing/2014/main" id="{7317E625-B43A-484D-865B-FF43A2BA22F8}"/>
              </a:ext>
            </a:extLst>
          </p:cNvPr>
          <p:cNvCxnSpPr>
            <a:cxnSpLocks/>
          </p:cNvCxnSpPr>
          <p:nvPr/>
        </p:nvCxnSpPr>
        <p:spPr>
          <a:xfrm>
            <a:off x="1152707" y="4000500"/>
            <a:ext cx="2166222" cy="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716A9A5-959B-4BA8-BEAA-670EBA33C902}"/>
              </a:ext>
            </a:extLst>
          </p:cNvPr>
          <p:cNvSpPr/>
          <p:nvPr/>
        </p:nvSpPr>
        <p:spPr>
          <a:xfrm>
            <a:off x="4302249" y="3820800"/>
            <a:ext cx="1562136" cy="18795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омб 12">
            <a:extLst>
              <a:ext uri="{FF2B5EF4-FFF2-40B4-BE49-F238E27FC236}">
                <a16:creationId xmlns:a16="http://schemas.microsoft.com/office/drawing/2014/main" id="{E9541AAB-6079-4714-8F1A-681C6F0D0259}"/>
              </a:ext>
            </a:extLst>
          </p:cNvPr>
          <p:cNvSpPr/>
          <p:nvPr/>
        </p:nvSpPr>
        <p:spPr>
          <a:xfrm>
            <a:off x="9621097" y="4153016"/>
            <a:ext cx="1161133" cy="1161133"/>
          </a:xfrm>
          <a:prstGeom prst="diamond">
            <a:avLst/>
          </a:prstGeom>
          <a:ln w="44450">
            <a:solidFill>
              <a:srgbClr val="0F12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A9EE86-6BBA-43FA-97FC-136D712F3FDF}"/>
              </a:ext>
            </a:extLst>
          </p:cNvPr>
          <p:cNvSpPr txBox="1"/>
          <p:nvPr/>
        </p:nvSpPr>
        <p:spPr>
          <a:xfrm>
            <a:off x="9669463" y="4545788"/>
            <a:ext cx="10450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ціль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64A958C-4E81-47E1-9505-15F6EC45A11D}"/>
              </a:ext>
            </a:extLst>
          </p:cNvPr>
          <p:cNvSpPr txBox="1"/>
          <p:nvPr/>
        </p:nvSpPr>
        <p:spPr>
          <a:xfrm>
            <a:off x="4314958" y="4616443"/>
            <a:ext cx="15621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Перешкода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5A3BBF3-4854-4C84-9FEE-BBBE8C279C71}"/>
              </a:ext>
            </a:extLst>
          </p:cNvPr>
          <p:cNvSpPr txBox="1"/>
          <p:nvPr/>
        </p:nvSpPr>
        <p:spPr>
          <a:xfrm>
            <a:off x="13342056" y="9480187"/>
            <a:ext cx="1386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rgbClr val="0F126A"/>
                </a:solidFill>
                <a:latin typeface="Montserrat Medium" panose="00000600000000000000" pitchFamily="2" charset="-52"/>
              </a:rPr>
              <a:t>NavMesh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DE96E3C-7212-484B-A6EA-221686473197}"/>
              </a:ext>
            </a:extLst>
          </p:cNvPr>
          <p:cNvSpPr txBox="1"/>
          <p:nvPr/>
        </p:nvSpPr>
        <p:spPr>
          <a:xfrm>
            <a:off x="-2855192" y="9670688"/>
            <a:ext cx="2848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Steering Behaviors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9070C68-9112-46CE-900F-D0317D6CC8EA}"/>
              </a:ext>
            </a:extLst>
          </p:cNvPr>
          <p:cNvSpPr txBox="1"/>
          <p:nvPr/>
        </p:nvSpPr>
        <p:spPr>
          <a:xfrm>
            <a:off x="12400248" y="-1910933"/>
            <a:ext cx="4055726" cy="40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Machine Learning agents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7249E6C-2B31-4EB7-86F4-01A6BE6C81B7}"/>
              </a:ext>
            </a:extLst>
          </p:cNvPr>
          <p:cNvSpPr txBox="1"/>
          <p:nvPr/>
        </p:nvSpPr>
        <p:spPr>
          <a:xfrm>
            <a:off x="-2326449" y="-1908307"/>
            <a:ext cx="1110033" cy="40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Player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40658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16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16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5016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2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28" repeatCount="indefinite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29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30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7383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реалізація власного скрипту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(</a:t>
            </a:r>
            <a:r>
              <a:rPr lang="en-US" sz="28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Steering Behaviors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)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Овал 2">
            <a:extLst>
              <a:ext uri="{FF2B5EF4-FFF2-40B4-BE49-F238E27FC236}">
                <a16:creationId xmlns:a16="http://schemas.microsoft.com/office/drawing/2014/main" id="{B5647CAA-B4EB-44D2-B8BE-85289B71EE61}"/>
              </a:ext>
            </a:extLst>
          </p:cNvPr>
          <p:cNvSpPr/>
          <p:nvPr/>
        </p:nvSpPr>
        <p:spPr>
          <a:xfrm rot="1524245">
            <a:off x="3332526" y="1886310"/>
            <a:ext cx="1059364" cy="105936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Agent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cxnSp>
        <p:nvCxnSpPr>
          <p:cNvPr id="5" name="!!ЛучВверх">
            <a:extLst>
              <a:ext uri="{FF2B5EF4-FFF2-40B4-BE49-F238E27FC236}">
                <a16:creationId xmlns:a16="http://schemas.microsoft.com/office/drawing/2014/main" id="{C3DDFB4B-18AE-4D70-81E1-A8E19F632BE7}"/>
              </a:ext>
            </a:extLst>
          </p:cNvPr>
          <p:cNvCxnSpPr>
            <a:cxnSpLocks/>
          </p:cNvCxnSpPr>
          <p:nvPr/>
        </p:nvCxnSpPr>
        <p:spPr>
          <a:xfrm rot="1524245" flipV="1">
            <a:off x="4351434" y="877875"/>
            <a:ext cx="0" cy="101600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ЛучВниз">
            <a:extLst>
              <a:ext uri="{FF2B5EF4-FFF2-40B4-BE49-F238E27FC236}">
                <a16:creationId xmlns:a16="http://schemas.microsoft.com/office/drawing/2014/main" id="{B099AA2E-0715-46E8-9491-0316EDB1F7DE}"/>
              </a:ext>
            </a:extLst>
          </p:cNvPr>
          <p:cNvCxnSpPr>
            <a:cxnSpLocks/>
          </p:cNvCxnSpPr>
          <p:nvPr/>
        </p:nvCxnSpPr>
        <p:spPr>
          <a:xfrm rot="1524245" flipV="1">
            <a:off x="3368552" y="2947439"/>
            <a:ext cx="0" cy="101600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!!ЛучПрямо_2">
            <a:extLst>
              <a:ext uri="{FF2B5EF4-FFF2-40B4-BE49-F238E27FC236}">
                <a16:creationId xmlns:a16="http://schemas.microsoft.com/office/drawing/2014/main" id="{4F3446D2-F6B6-4054-9DDD-E9022D793532}"/>
              </a:ext>
            </a:extLst>
          </p:cNvPr>
          <p:cNvCxnSpPr>
            <a:cxnSpLocks/>
          </p:cNvCxnSpPr>
          <p:nvPr/>
        </p:nvCxnSpPr>
        <p:spPr>
          <a:xfrm rot="1524245">
            <a:off x="3481753" y="3461215"/>
            <a:ext cx="2166222" cy="0"/>
          </a:xfrm>
          <a:prstGeom prst="line">
            <a:avLst/>
          </a:prstGeom>
          <a:ln cap="rnd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ЛучПрямо_1">
            <a:extLst>
              <a:ext uri="{FF2B5EF4-FFF2-40B4-BE49-F238E27FC236}">
                <a16:creationId xmlns:a16="http://schemas.microsoft.com/office/drawing/2014/main" id="{7317E625-B43A-484D-865B-FF43A2BA22F8}"/>
              </a:ext>
            </a:extLst>
          </p:cNvPr>
          <p:cNvCxnSpPr>
            <a:cxnSpLocks/>
          </p:cNvCxnSpPr>
          <p:nvPr/>
        </p:nvCxnSpPr>
        <p:spPr>
          <a:xfrm rot="1524245">
            <a:off x="4023868" y="2319733"/>
            <a:ext cx="2166222" cy="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716A9A5-959B-4BA8-BEAA-670EBA33C902}"/>
              </a:ext>
            </a:extLst>
          </p:cNvPr>
          <p:cNvSpPr/>
          <p:nvPr/>
        </p:nvSpPr>
        <p:spPr>
          <a:xfrm>
            <a:off x="4302249" y="3820800"/>
            <a:ext cx="1562136" cy="18795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омб 12">
            <a:extLst>
              <a:ext uri="{FF2B5EF4-FFF2-40B4-BE49-F238E27FC236}">
                <a16:creationId xmlns:a16="http://schemas.microsoft.com/office/drawing/2014/main" id="{E9541AAB-6079-4714-8F1A-681C6F0D0259}"/>
              </a:ext>
            </a:extLst>
          </p:cNvPr>
          <p:cNvSpPr/>
          <p:nvPr/>
        </p:nvSpPr>
        <p:spPr>
          <a:xfrm>
            <a:off x="9621097" y="4153016"/>
            <a:ext cx="1161133" cy="1161133"/>
          </a:xfrm>
          <a:prstGeom prst="diamond">
            <a:avLst/>
          </a:prstGeom>
          <a:ln w="44450">
            <a:solidFill>
              <a:srgbClr val="0F12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A9EE86-6BBA-43FA-97FC-136D712F3FDF}"/>
              </a:ext>
            </a:extLst>
          </p:cNvPr>
          <p:cNvSpPr txBox="1"/>
          <p:nvPr/>
        </p:nvSpPr>
        <p:spPr>
          <a:xfrm>
            <a:off x="9669463" y="4545788"/>
            <a:ext cx="10450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ціль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64A958C-4E81-47E1-9505-15F6EC45A11D}"/>
              </a:ext>
            </a:extLst>
          </p:cNvPr>
          <p:cNvSpPr txBox="1"/>
          <p:nvPr/>
        </p:nvSpPr>
        <p:spPr>
          <a:xfrm>
            <a:off x="4314958" y="4616443"/>
            <a:ext cx="15621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Перешкода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9" name="!!Box_1">
            <a:extLst>
              <a:ext uri="{FF2B5EF4-FFF2-40B4-BE49-F238E27FC236}">
                <a16:creationId xmlns:a16="http://schemas.microsoft.com/office/drawing/2014/main" id="{3953F719-3133-4714-BC7E-455ACB8E1E70}"/>
              </a:ext>
            </a:extLst>
          </p:cNvPr>
          <p:cNvSpPr/>
          <p:nvPr/>
        </p:nvSpPr>
        <p:spPr>
          <a:xfrm>
            <a:off x="7483792" y="568198"/>
            <a:ext cx="3997739" cy="1732405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2F5B59-7C4E-4075-BCFA-1BE1510E524F}"/>
              </a:ext>
            </a:extLst>
          </p:cNvPr>
          <p:cNvSpPr txBox="1"/>
          <p:nvPr/>
        </p:nvSpPr>
        <p:spPr>
          <a:xfrm>
            <a:off x="7544350" y="676792"/>
            <a:ext cx="397031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Логіка: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Якщо промінь перед персонажем не бачить перешкод – йдемо вперед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Інакше: обходити стороною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*Агент завжди повертається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промінями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своєї цілі</a:t>
            </a: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F688295C-6F6E-4CFA-A80A-AF63C1247C1E}"/>
              </a:ext>
            </a:extLst>
          </p:cNvPr>
          <p:cNvSpPr/>
          <p:nvPr/>
        </p:nvSpPr>
        <p:spPr>
          <a:xfrm>
            <a:off x="8688310" y="-2600162"/>
            <a:ext cx="841195" cy="253420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E3558E2D-8C36-4AC6-BA44-8E18A744386B}"/>
              </a:ext>
            </a:extLst>
          </p:cNvPr>
          <p:cNvSpPr/>
          <p:nvPr/>
        </p:nvSpPr>
        <p:spPr>
          <a:xfrm>
            <a:off x="2181294" y="-2178707"/>
            <a:ext cx="2709332" cy="81970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7264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7383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реалізація власного скрипту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(</a:t>
            </a:r>
            <a:r>
              <a:rPr lang="en-US" sz="28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Steering Behaviors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)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Овал 2">
            <a:extLst>
              <a:ext uri="{FF2B5EF4-FFF2-40B4-BE49-F238E27FC236}">
                <a16:creationId xmlns:a16="http://schemas.microsoft.com/office/drawing/2014/main" id="{B5647CAA-B4EB-44D2-B8BE-85289B71EE61}"/>
              </a:ext>
            </a:extLst>
          </p:cNvPr>
          <p:cNvSpPr/>
          <p:nvPr/>
        </p:nvSpPr>
        <p:spPr>
          <a:xfrm rot="554317">
            <a:off x="3672746" y="3429498"/>
            <a:ext cx="1059364" cy="105936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Agent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cxnSp>
        <p:nvCxnSpPr>
          <p:cNvPr id="5" name="!!ЛучВверх">
            <a:extLst>
              <a:ext uri="{FF2B5EF4-FFF2-40B4-BE49-F238E27FC236}">
                <a16:creationId xmlns:a16="http://schemas.microsoft.com/office/drawing/2014/main" id="{C3DDFB4B-18AE-4D70-81E1-A8E19F632BE7}"/>
              </a:ext>
            </a:extLst>
          </p:cNvPr>
          <p:cNvCxnSpPr>
            <a:cxnSpLocks/>
          </p:cNvCxnSpPr>
          <p:nvPr/>
        </p:nvCxnSpPr>
        <p:spPr>
          <a:xfrm rot="554317" flipV="1">
            <a:off x="4385514" y="2325586"/>
            <a:ext cx="0" cy="1016000"/>
          </a:xfrm>
          <a:prstGeom prst="line">
            <a:avLst/>
          </a:prstGeom>
          <a:ln cap="rnd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ЛучВниз">
            <a:extLst>
              <a:ext uri="{FF2B5EF4-FFF2-40B4-BE49-F238E27FC236}">
                <a16:creationId xmlns:a16="http://schemas.microsoft.com/office/drawing/2014/main" id="{B099AA2E-0715-46E8-9491-0316EDB1F7DE}"/>
              </a:ext>
            </a:extLst>
          </p:cNvPr>
          <p:cNvCxnSpPr>
            <a:cxnSpLocks/>
          </p:cNvCxnSpPr>
          <p:nvPr/>
        </p:nvCxnSpPr>
        <p:spPr>
          <a:xfrm rot="554317" flipV="1">
            <a:off x="4017685" y="4586969"/>
            <a:ext cx="0" cy="101600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!!ЛучПрямо_2">
            <a:extLst>
              <a:ext uri="{FF2B5EF4-FFF2-40B4-BE49-F238E27FC236}">
                <a16:creationId xmlns:a16="http://schemas.microsoft.com/office/drawing/2014/main" id="{4F3446D2-F6B6-4054-9DDD-E9022D793532}"/>
              </a:ext>
            </a:extLst>
          </p:cNvPr>
          <p:cNvCxnSpPr>
            <a:cxnSpLocks/>
          </p:cNvCxnSpPr>
          <p:nvPr/>
        </p:nvCxnSpPr>
        <p:spPr>
          <a:xfrm rot="554317">
            <a:off x="4085194" y="4767448"/>
            <a:ext cx="2166222" cy="0"/>
          </a:xfrm>
          <a:prstGeom prst="line">
            <a:avLst/>
          </a:prstGeom>
          <a:ln cap="rnd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ЛучПрямо_1">
            <a:extLst>
              <a:ext uri="{FF2B5EF4-FFF2-40B4-BE49-F238E27FC236}">
                <a16:creationId xmlns:a16="http://schemas.microsoft.com/office/drawing/2014/main" id="{7317E625-B43A-484D-865B-FF43A2BA22F8}"/>
              </a:ext>
            </a:extLst>
          </p:cNvPr>
          <p:cNvCxnSpPr>
            <a:cxnSpLocks/>
          </p:cNvCxnSpPr>
          <p:nvPr/>
        </p:nvCxnSpPr>
        <p:spPr>
          <a:xfrm rot="554317">
            <a:off x="4288072" y="3520167"/>
            <a:ext cx="2166222" cy="0"/>
          </a:xfrm>
          <a:prstGeom prst="line">
            <a:avLst/>
          </a:prstGeom>
          <a:ln cap="rnd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716A9A5-959B-4BA8-BEAA-670EBA33C902}"/>
              </a:ext>
            </a:extLst>
          </p:cNvPr>
          <p:cNvSpPr/>
          <p:nvPr/>
        </p:nvSpPr>
        <p:spPr>
          <a:xfrm>
            <a:off x="4302249" y="7559754"/>
            <a:ext cx="1562136" cy="18795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омб 12">
            <a:extLst>
              <a:ext uri="{FF2B5EF4-FFF2-40B4-BE49-F238E27FC236}">
                <a16:creationId xmlns:a16="http://schemas.microsoft.com/office/drawing/2014/main" id="{E9541AAB-6079-4714-8F1A-681C6F0D0259}"/>
              </a:ext>
            </a:extLst>
          </p:cNvPr>
          <p:cNvSpPr/>
          <p:nvPr/>
        </p:nvSpPr>
        <p:spPr>
          <a:xfrm>
            <a:off x="9621097" y="4153016"/>
            <a:ext cx="1161133" cy="1161133"/>
          </a:xfrm>
          <a:prstGeom prst="diamond">
            <a:avLst/>
          </a:prstGeom>
          <a:ln w="44450">
            <a:solidFill>
              <a:srgbClr val="0F12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A9EE86-6BBA-43FA-97FC-136D712F3FDF}"/>
              </a:ext>
            </a:extLst>
          </p:cNvPr>
          <p:cNvSpPr txBox="1"/>
          <p:nvPr/>
        </p:nvSpPr>
        <p:spPr>
          <a:xfrm>
            <a:off x="9669463" y="4545788"/>
            <a:ext cx="10450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ціль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64A958C-4E81-47E1-9505-15F6EC45A11D}"/>
              </a:ext>
            </a:extLst>
          </p:cNvPr>
          <p:cNvSpPr txBox="1"/>
          <p:nvPr/>
        </p:nvSpPr>
        <p:spPr>
          <a:xfrm>
            <a:off x="4314958" y="8355397"/>
            <a:ext cx="15621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Перешкода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9" name="!!Box_1">
            <a:extLst>
              <a:ext uri="{FF2B5EF4-FFF2-40B4-BE49-F238E27FC236}">
                <a16:creationId xmlns:a16="http://schemas.microsoft.com/office/drawing/2014/main" id="{3953F719-3133-4714-BC7E-455ACB8E1E70}"/>
              </a:ext>
            </a:extLst>
          </p:cNvPr>
          <p:cNvSpPr/>
          <p:nvPr/>
        </p:nvSpPr>
        <p:spPr>
          <a:xfrm>
            <a:off x="7483792" y="568198"/>
            <a:ext cx="3997739" cy="23429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2F5B59-7C4E-4075-BCFA-1BE1510E524F}"/>
              </a:ext>
            </a:extLst>
          </p:cNvPr>
          <p:cNvSpPr txBox="1"/>
          <p:nvPr/>
        </p:nvSpPr>
        <p:spPr>
          <a:xfrm>
            <a:off x="7544350" y="676792"/>
            <a:ext cx="397031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Логіка: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Якщо промінь перед персонажем не бачить перешкод – йдемо вперед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Інакше: обходити стороною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Якщо боковий промінь бачить перешкоду – йдемо в інший бік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*Агент завжди повертається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промінями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своєї цілі</a:t>
            </a: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EF2248B8-E484-41C7-B491-DBA036D613BB}"/>
              </a:ext>
            </a:extLst>
          </p:cNvPr>
          <p:cNvSpPr/>
          <p:nvPr/>
        </p:nvSpPr>
        <p:spPr>
          <a:xfrm>
            <a:off x="6352727" y="1833119"/>
            <a:ext cx="841195" cy="253420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6E03B34D-5F26-4F58-9C3F-82766B91F224}"/>
              </a:ext>
            </a:extLst>
          </p:cNvPr>
          <p:cNvSpPr/>
          <p:nvPr/>
        </p:nvSpPr>
        <p:spPr>
          <a:xfrm>
            <a:off x="3643393" y="1833120"/>
            <a:ext cx="2709332" cy="81970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олилиния: фигура 16">
            <a:extLst>
              <a:ext uri="{FF2B5EF4-FFF2-40B4-BE49-F238E27FC236}">
                <a16:creationId xmlns:a16="http://schemas.microsoft.com/office/drawing/2014/main" id="{4257E738-1367-4022-8B91-DD2192DBCCD8}"/>
              </a:ext>
            </a:extLst>
          </p:cNvPr>
          <p:cNvSpPr/>
          <p:nvPr/>
        </p:nvSpPr>
        <p:spPr>
          <a:xfrm rot="21218641">
            <a:off x="2804563" y="3012890"/>
            <a:ext cx="1082446" cy="2336800"/>
          </a:xfrm>
          <a:custGeom>
            <a:avLst/>
            <a:gdLst>
              <a:gd name="connsiteX0" fmla="*/ 1082446 w 1082446"/>
              <a:gd name="connsiteY0" fmla="*/ 0 h 2336800"/>
              <a:gd name="connsiteX1" fmla="*/ 168046 w 1082446"/>
              <a:gd name="connsiteY1" fmla="*/ 889000 h 2336800"/>
              <a:gd name="connsiteX2" fmla="*/ 2946 w 1082446"/>
              <a:gd name="connsiteY2" fmla="*/ 2336800 h 233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2446" h="2336800">
                <a:moveTo>
                  <a:pt x="1082446" y="0"/>
                </a:moveTo>
                <a:cubicBezTo>
                  <a:pt x="715204" y="249766"/>
                  <a:pt x="347963" y="499533"/>
                  <a:pt x="168046" y="889000"/>
                </a:cubicBezTo>
                <a:cubicBezTo>
                  <a:pt x="-11871" y="1278467"/>
                  <a:pt x="-4463" y="1807633"/>
                  <a:pt x="2946" y="2336800"/>
                </a:cubicBezTo>
              </a:path>
            </a:pathLst>
          </a:custGeom>
          <a:noFill/>
          <a:ln w="47625">
            <a:solidFill>
              <a:schemeClr val="bg1"/>
            </a:solidFill>
            <a:prstDash val="dash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1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8E1BCC03-8270-4F81-AEE9-F438841D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93533" y="7600149"/>
            <a:ext cx="5101770" cy="2869746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93" name="Рисунок 92">
            <a:extLst>
              <a:ext uri="{FF2B5EF4-FFF2-40B4-BE49-F238E27FC236}">
                <a16:creationId xmlns:a16="http://schemas.microsoft.com/office/drawing/2014/main" id="{AB2120AF-3BE2-444C-85E2-03383099B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7" y="7600149"/>
            <a:ext cx="4404576" cy="283958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CA3B1608-1D69-40B7-A683-BCD04A3F90CE}"/>
              </a:ext>
            </a:extLst>
          </p:cNvPr>
          <p:cNvSpPr txBox="1"/>
          <p:nvPr/>
        </p:nvSpPr>
        <p:spPr>
          <a:xfrm>
            <a:off x="908931" y="7205519"/>
            <a:ext cx="3948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променів у </a:t>
            </a:r>
            <a:r>
              <a:rPr lang="en-US" dirty="0">
                <a:solidFill>
                  <a:srgbClr val="08EDE8"/>
                </a:solidFill>
                <a:latin typeface="Montserrat Medium" panose="00000600000000000000" pitchFamily="2" charset="-52"/>
              </a:rPr>
              <a:t>Unity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860D31-E87B-4539-9EA3-66D866DD5F33}"/>
              </a:ext>
            </a:extLst>
          </p:cNvPr>
          <p:cNvSpPr txBox="1"/>
          <p:nvPr/>
        </p:nvSpPr>
        <p:spPr>
          <a:xfrm>
            <a:off x="6870015" y="7205519"/>
            <a:ext cx="4327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Демонстрація роботи алгоритму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996615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5016" fill="hold"/>
                                        <p:tgtEl>
                                          <p:spTgt spid="9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91"/>
                </p:tgtEl>
              </p:cMediaNode>
            </p:video>
          </p:childTnLst>
        </p:cTn>
      </p:par>
    </p:tnLst>
    <p:bldLst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7383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реалізація власного скрипту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(</a:t>
            </a:r>
            <a:r>
              <a:rPr lang="en-US" sz="28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Steering Behaviors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)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Ромб 12">
            <a:extLst>
              <a:ext uri="{FF2B5EF4-FFF2-40B4-BE49-F238E27FC236}">
                <a16:creationId xmlns:a16="http://schemas.microsoft.com/office/drawing/2014/main" id="{E9541AAB-6079-4714-8F1A-681C6F0D0259}"/>
              </a:ext>
            </a:extLst>
          </p:cNvPr>
          <p:cNvSpPr/>
          <p:nvPr/>
        </p:nvSpPr>
        <p:spPr>
          <a:xfrm>
            <a:off x="12782804" y="4153016"/>
            <a:ext cx="1161133" cy="1161133"/>
          </a:xfrm>
          <a:prstGeom prst="diamond">
            <a:avLst/>
          </a:prstGeom>
          <a:ln w="44450">
            <a:solidFill>
              <a:srgbClr val="0F12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A9EE86-6BBA-43FA-97FC-136D712F3FDF}"/>
              </a:ext>
            </a:extLst>
          </p:cNvPr>
          <p:cNvSpPr txBox="1"/>
          <p:nvPr/>
        </p:nvSpPr>
        <p:spPr>
          <a:xfrm>
            <a:off x="12831170" y="4545788"/>
            <a:ext cx="10450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ціль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9" name="!!Box_1">
            <a:extLst>
              <a:ext uri="{FF2B5EF4-FFF2-40B4-BE49-F238E27FC236}">
                <a16:creationId xmlns:a16="http://schemas.microsoft.com/office/drawing/2014/main" id="{3953F719-3133-4714-BC7E-455ACB8E1E70}"/>
              </a:ext>
            </a:extLst>
          </p:cNvPr>
          <p:cNvSpPr/>
          <p:nvPr/>
        </p:nvSpPr>
        <p:spPr>
          <a:xfrm>
            <a:off x="7483792" y="568198"/>
            <a:ext cx="3997739" cy="23429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2F5B59-7C4E-4075-BCFA-1BE1510E524F}"/>
              </a:ext>
            </a:extLst>
          </p:cNvPr>
          <p:cNvSpPr txBox="1"/>
          <p:nvPr/>
        </p:nvSpPr>
        <p:spPr>
          <a:xfrm>
            <a:off x="7544350" y="676792"/>
            <a:ext cx="397031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Логіка: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Якщо промінь перед персонажем не бачить перешкод – йдемо вперед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Інакше: обходити стороною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Якщо боковий промінь бачить перешкоду – йдемо в інший бік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*Агент завжди повертається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промінями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своєї цілі</a:t>
            </a:r>
          </a:p>
        </p:txBody>
      </p:sp>
      <p:pic>
        <p:nvPicPr>
          <p:cNvPr id="53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92696259-1647-4014-9AAF-C44F140AE39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393533" y="3408820"/>
            <a:ext cx="5101770" cy="2869746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59F180-8E2A-4AA3-A0A3-BE3DC87E14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547" y="3408820"/>
            <a:ext cx="4404576" cy="283958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813C94B-E737-4734-A374-229D7E435CF3}"/>
              </a:ext>
            </a:extLst>
          </p:cNvPr>
          <p:cNvSpPr txBox="1"/>
          <p:nvPr/>
        </p:nvSpPr>
        <p:spPr>
          <a:xfrm>
            <a:off x="908931" y="3014190"/>
            <a:ext cx="3948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променів у </a:t>
            </a:r>
            <a:r>
              <a:rPr lang="en-US" dirty="0">
                <a:solidFill>
                  <a:srgbClr val="08EDE8"/>
                </a:solidFill>
                <a:latin typeface="Montserrat Medium" panose="00000600000000000000" pitchFamily="2" charset="-52"/>
              </a:rPr>
              <a:t>Unity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9E7FBE-D975-48A4-B52B-FA1AD5DF9A0C}"/>
              </a:ext>
            </a:extLst>
          </p:cNvPr>
          <p:cNvSpPr txBox="1"/>
          <p:nvPr/>
        </p:nvSpPr>
        <p:spPr>
          <a:xfrm>
            <a:off x="6870015" y="3014190"/>
            <a:ext cx="4327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Демонстрація роботи алгоритму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9CFAF2-C0D9-40B2-A297-244482E8952D}"/>
              </a:ext>
            </a:extLst>
          </p:cNvPr>
          <p:cNvSpPr txBox="1"/>
          <p:nvPr/>
        </p:nvSpPr>
        <p:spPr>
          <a:xfrm>
            <a:off x="13174246" y="1727518"/>
            <a:ext cx="6082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запеченого навігаційного мешу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2B5487FD-48A3-4D3F-A9D6-D58ED35194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98797" y="2134723"/>
            <a:ext cx="6480614" cy="3564914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67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0A861E81-A973-4550-BED2-CD433212B043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-6376264" y="3339659"/>
            <a:ext cx="4208372" cy="2367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07F31D21-CBB7-442B-A58A-EFE02DBC051E}"/>
              </a:ext>
            </a:extLst>
          </p:cNvPr>
          <p:cNvSpPr txBox="1"/>
          <p:nvPr/>
        </p:nvSpPr>
        <p:spPr>
          <a:xfrm>
            <a:off x="-6344849" y="2901165"/>
            <a:ext cx="4327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Демонстрація роботи алгоритму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9" name="!!Box_1">
            <a:extLst>
              <a:ext uri="{FF2B5EF4-FFF2-40B4-BE49-F238E27FC236}">
                <a16:creationId xmlns:a16="http://schemas.microsoft.com/office/drawing/2014/main" id="{10624783-AA4D-49F8-85D8-CCAD855580B7}"/>
              </a:ext>
            </a:extLst>
          </p:cNvPr>
          <p:cNvSpPr/>
          <p:nvPr/>
        </p:nvSpPr>
        <p:spPr>
          <a:xfrm>
            <a:off x="-6376264" y="1158364"/>
            <a:ext cx="4226217" cy="1712426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25397AF-7E8A-4A2A-B043-BF7C280B8BFE}"/>
              </a:ext>
            </a:extLst>
          </p:cNvPr>
          <p:cNvSpPr txBox="1"/>
          <p:nvPr/>
        </p:nvSpPr>
        <p:spPr>
          <a:xfrm>
            <a:off x="-6327913" y="1434425"/>
            <a:ext cx="419722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Логіка: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прораховує найоптимальніший маршрут, використовуючи заздалегідь побудований навігаційний меш на основі геометрії навколишнього середовища </a:t>
            </a:r>
          </a:p>
        </p:txBody>
      </p:sp>
    </p:spTree>
    <p:extLst>
      <p:ext uri="{BB962C8B-B14F-4D97-AF65-F5344CB8AC3E}">
        <p14:creationId xmlns:p14="http://schemas.microsoft.com/office/powerpoint/2010/main" val="4185946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5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16" fill="hold"/>
                                        <p:tgtEl>
                                          <p:spTgt spid="6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repeatCount="indefinite" fill="hold" display="0">
                  <p:stCondLst>
                    <p:cond delay="indefinite"/>
                  </p:stCondLst>
                </p:cTn>
                <p:tgtEl>
                  <p:spTgt spid="53"/>
                </p:tgtEl>
              </p:cMediaNode>
            </p:video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67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73835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реалізація </a:t>
            </a:r>
            <a:r>
              <a:rPr lang="en-US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NavMesh</a:t>
            </a:r>
            <a:r>
              <a:rPr lang="en-US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AI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92696259-1647-4014-9AAF-C44F140AE39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393533" y="7392008"/>
            <a:ext cx="5101770" cy="2869746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59F180-8E2A-4AA3-A0A3-BE3DC87E14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547" y="7458408"/>
            <a:ext cx="4404576" cy="283958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813C94B-E737-4734-A374-229D7E435CF3}"/>
              </a:ext>
            </a:extLst>
          </p:cNvPr>
          <p:cNvSpPr txBox="1"/>
          <p:nvPr/>
        </p:nvSpPr>
        <p:spPr>
          <a:xfrm>
            <a:off x="908931" y="7063778"/>
            <a:ext cx="3948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променів у </a:t>
            </a:r>
            <a:r>
              <a:rPr lang="en-US" dirty="0">
                <a:solidFill>
                  <a:srgbClr val="08EDE8"/>
                </a:solidFill>
                <a:latin typeface="Montserrat Medium" panose="00000600000000000000" pitchFamily="2" charset="-52"/>
              </a:rPr>
              <a:t>Unity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9E7FBE-D975-48A4-B52B-FA1AD5DF9A0C}"/>
              </a:ext>
            </a:extLst>
          </p:cNvPr>
          <p:cNvSpPr txBox="1"/>
          <p:nvPr/>
        </p:nvSpPr>
        <p:spPr>
          <a:xfrm>
            <a:off x="6870015" y="6997378"/>
            <a:ext cx="4327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Демонстрація роботи алгоритму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!!Box_1">
            <a:extLst>
              <a:ext uri="{FF2B5EF4-FFF2-40B4-BE49-F238E27FC236}">
                <a16:creationId xmlns:a16="http://schemas.microsoft.com/office/drawing/2014/main" id="{9C785596-430D-4744-BF7E-2D4BFE5DB747}"/>
              </a:ext>
            </a:extLst>
          </p:cNvPr>
          <p:cNvSpPr/>
          <p:nvPr/>
        </p:nvSpPr>
        <p:spPr>
          <a:xfrm>
            <a:off x="13579796" y="568198"/>
            <a:ext cx="3997739" cy="23429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1C542F-845E-4F9B-87CA-089CA669D26B}"/>
              </a:ext>
            </a:extLst>
          </p:cNvPr>
          <p:cNvSpPr txBox="1"/>
          <p:nvPr/>
        </p:nvSpPr>
        <p:spPr>
          <a:xfrm>
            <a:off x="13640354" y="676792"/>
            <a:ext cx="397031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Логіка: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Якщо промінь перед персонажем не бачить перешкод – йдемо вперед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Інакше: обходити стороною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Якщо боковий промінь бачить перешкоду – йдемо в інший бік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*Агент завжди повертається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промінями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своєї цілі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91DF1C-38F8-4BD3-9E8A-0B7C63264E73}"/>
              </a:ext>
            </a:extLst>
          </p:cNvPr>
          <p:cNvSpPr txBox="1"/>
          <p:nvPr/>
        </p:nvSpPr>
        <p:spPr>
          <a:xfrm>
            <a:off x="5479219" y="1727518"/>
            <a:ext cx="6082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запеченого навігаційного мешу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D9767EC-18E8-4006-B4E2-1414ADE3E3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3770" y="2134723"/>
            <a:ext cx="6480614" cy="3564914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54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B7B9C73C-2C61-4CF0-B738-5F0403D459A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15112" y="3339659"/>
            <a:ext cx="4208372" cy="2367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E714753-5DAE-45CF-97F7-E71CD8F1CF9B}"/>
              </a:ext>
            </a:extLst>
          </p:cNvPr>
          <p:cNvSpPr txBox="1"/>
          <p:nvPr/>
        </p:nvSpPr>
        <p:spPr>
          <a:xfrm>
            <a:off x="546527" y="2901165"/>
            <a:ext cx="4327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Демонстрація роботи алгоритму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!!Box_1">
            <a:extLst>
              <a:ext uri="{FF2B5EF4-FFF2-40B4-BE49-F238E27FC236}">
                <a16:creationId xmlns:a16="http://schemas.microsoft.com/office/drawing/2014/main" id="{1127C9EB-8133-4C7A-AC20-E69B8C990F00}"/>
              </a:ext>
            </a:extLst>
          </p:cNvPr>
          <p:cNvSpPr/>
          <p:nvPr/>
        </p:nvSpPr>
        <p:spPr>
          <a:xfrm>
            <a:off x="515112" y="1158364"/>
            <a:ext cx="4226217" cy="1712426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CCA176-2F21-41F1-BF7D-123DCF843DCF}"/>
              </a:ext>
            </a:extLst>
          </p:cNvPr>
          <p:cNvSpPr txBox="1"/>
          <p:nvPr/>
        </p:nvSpPr>
        <p:spPr>
          <a:xfrm>
            <a:off x="563463" y="1434425"/>
            <a:ext cx="419722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Логіка: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прораховує найоптимальніший маршрут, використовуючи заздалегідь побудований навігаційний меш на основі геометрії навколишнього середовища </a:t>
            </a:r>
          </a:p>
        </p:txBody>
      </p:sp>
      <p:sp>
        <p:nvSpPr>
          <p:cNvPr id="64" name="Овал 63">
            <a:extLst>
              <a:ext uri="{FF2B5EF4-FFF2-40B4-BE49-F238E27FC236}">
                <a16:creationId xmlns:a16="http://schemas.microsoft.com/office/drawing/2014/main" id="{C84D4B9F-39F7-42A9-9DC1-8DF001D2ABEE}"/>
              </a:ext>
            </a:extLst>
          </p:cNvPr>
          <p:cNvSpPr/>
          <p:nvPr/>
        </p:nvSpPr>
        <p:spPr>
          <a:xfrm>
            <a:off x="4212570" y="-1215117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>
            <a:extLst>
              <a:ext uri="{FF2B5EF4-FFF2-40B4-BE49-F238E27FC236}">
                <a16:creationId xmlns:a16="http://schemas.microsoft.com/office/drawing/2014/main" id="{01C4FE91-2F23-4D93-A4B2-4B1359353D8E}"/>
              </a:ext>
            </a:extLst>
          </p:cNvPr>
          <p:cNvSpPr/>
          <p:nvPr/>
        </p:nvSpPr>
        <p:spPr>
          <a:xfrm>
            <a:off x="6582992" y="-1782557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>
            <a:extLst>
              <a:ext uri="{FF2B5EF4-FFF2-40B4-BE49-F238E27FC236}">
                <a16:creationId xmlns:a16="http://schemas.microsoft.com/office/drawing/2014/main" id="{EBB96BA9-ED76-4A97-B486-3BFBBFE594B6}"/>
              </a:ext>
            </a:extLst>
          </p:cNvPr>
          <p:cNvSpPr/>
          <p:nvPr/>
        </p:nvSpPr>
        <p:spPr>
          <a:xfrm>
            <a:off x="1015993" y="752311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>
            <a:extLst>
              <a:ext uri="{FF2B5EF4-FFF2-40B4-BE49-F238E27FC236}">
                <a16:creationId xmlns:a16="http://schemas.microsoft.com/office/drawing/2014/main" id="{BB6772DA-92DC-4025-8C94-8A55DBB9E6AC}"/>
              </a:ext>
            </a:extLst>
          </p:cNvPr>
          <p:cNvSpPr/>
          <p:nvPr/>
        </p:nvSpPr>
        <p:spPr>
          <a:xfrm>
            <a:off x="12549977" y="-3147364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Овал 71">
            <a:extLst>
              <a:ext uri="{FF2B5EF4-FFF2-40B4-BE49-F238E27FC236}">
                <a16:creationId xmlns:a16="http://schemas.microsoft.com/office/drawing/2014/main" id="{D62C90CE-BFFC-4742-8F41-DE1E1A60208D}"/>
              </a:ext>
            </a:extLst>
          </p:cNvPr>
          <p:cNvSpPr/>
          <p:nvPr/>
        </p:nvSpPr>
        <p:spPr>
          <a:xfrm>
            <a:off x="-1261787" y="7739040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>
            <a:extLst>
              <a:ext uri="{FF2B5EF4-FFF2-40B4-BE49-F238E27FC236}">
                <a16:creationId xmlns:a16="http://schemas.microsoft.com/office/drawing/2014/main" id="{A670562A-C38E-456B-B37B-5B09158E7E02}"/>
              </a:ext>
            </a:extLst>
          </p:cNvPr>
          <p:cNvSpPr/>
          <p:nvPr/>
        </p:nvSpPr>
        <p:spPr>
          <a:xfrm>
            <a:off x="8873750" y="8404524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>
            <a:extLst>
              <a:ext uri="{FF2B5EF4-FFF2-40B4-BE49-F238E27FC236}">
                <a16:creationId xmlns:a16="http://schemas.microsoft.com/office/drawing/2014/main" id="{043FE55A-FFD6-4450-A5EC-EDE8AC44ED01}"/>
              </a:ext>
            </a:extLst>
          </p:cNvPr>
          <p:cNvSpPr/>
          <p:nvPr/>
        </p:nvSpPr>
        <p:spPr>
          <a:xfrm>
            <a:off x="14309349" y="-1424705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Овал 89">
            <a:extLst>
              <a:ext uri="{FF2B5EF4-FFF2-40B4-BE49-F238E27FC236}">
                <a16:creationId xmlns:a16="http://schemas.microsoft.com/office/drawing/2014/main" id="{ED2AEB76-4904-4685-AC74-9B097256B3B9}"/>
              </a:ext>
            </a:extLst>
          </p:cNvPr>
          <p:cNvSpPr/>
          <p:nvPr/>
        </p:nvSpPr>
        <p:spPr>
          <a:xfrm>
            <a:off x="-3185832" y="-189140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Овал 90">
            <a:extLst>
              <a:ext uri="{FF2B5EF4-FFF2-40B4-BE49-F238E27FC236}">
                <a16:creationId xmlns:a16="http://schemas.microsoft.com/office/drawing/2014/main" id="{87DFD88D-C46D-479D-985D-703B708E1249}"/>
              </a:ext>
            </a:extLst>
          </p:cNvPr>
          <p:cNvSpPr/>
          <p:nvPr/>
        </p:nvSpPr>
        <p:spPr>
          <a:xfrm>
            <a:off x="10732321" y="-1635949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Овал 92">
            <a:extLst>
              <a:ext uri="{FF2B5EF4-FFF2-40B4-BE49-F238E27FC236}">
                <a16:creationId xmlns:a16="http://schemas.microsoft.com/office/drawing/2014/main" id="{4FDA53D9-F869-4A38-A373-3BF6D1DC11F3}"/>
              </a:ext>
            </a:extLst>
          </p:cNvPr>
          <p:cNvSpPr/>
          <p:nvPr/>
        </p:nvSpPr>
        <p:spPr>
          <a:xfrm>
            <a:off x="-3060130" y="5672567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Овал 93">
            <a:extLst>
              <a:ext uri="{FF2B5EF4-FFF2-40B4-BE49-F238E27FC236}">
                <a16:creationId xmlns:a16="http://schemas.microsoft.com/office/drawing/2014/main" id="{3B8201FB-4DBA-4C3F-9E21-359F15CAA6D1}"/>
              </a:ext>
            </a:extLst>
          </p:cNvPr>
          <p:cNvSpPr/>
          <p:nvPr/>
        </p:nvSpPr>
        <p:spPr>
          <a:xfrm>
            <a:off x="7713821" y="-400136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Овал 94">
            <a:extLst>
              <a:ext uri="{FF2B5EF4-FFF2-40B4-BE49-F238E27FC236}">
                <a16:creationId xmlns:a16="http://schemas.microsoft.com/office/drawing/2014/main" id="{A64D244E-201B-42EA-B75F-C3B69ABAED67}"/>
              </a:ext>
            </a:extLst>
          </p:cNvPr>
          <p:cNvSpPr/>
          <p:nvPr/>
        </p:nvSpPr>
        <p:spPr>
          <a:xfrm>
            <a:off x="5449670" y="7634290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Овал 95">
            <a:extLst>
              <a:ext uri="{FF2B5EF4-FFF2-40B4-BE49-F238E27FC236}">
                <a16:creationId xmlns:a16="http://schemas.microsoft.com/office/drawing/2014/main" id="{5217988A-2435-4C3C-8FF5-0DD780EF47C1}"/>
              </a:ext>
            </a:extLst>
          </p:cNvPr>
          <p:cNvSpPr/>
          <p:nvPr/>
        </p:nvSpPr>
        <p:spPr>
          <a:xfrm>
            <a:off x="12512256" y="8249954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Овал 96">
            <a:extLst>
              <a:ext uri="{FF2B5EF4-FFF2-40B4-BE49-F238E27FC236}">
                <a16:creationId xmlns:a16="http://schemas.microsoft.com/office/drawing/2014/main" id="{4DCE7391-AF15-40BB-9C1B-D2E9D4B328E0}"/>
              </a:ext>
            </a:extLst>
          </p:cNvPr>
          <p:cNvSpPr/>
          <p:nvPr/>
        </p:nvSpPr>
        <p:spPr>
          <a:xfrm>
            <a:off x="13384897" y="9413089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Овал 97">
            <a:extLst>
              <a:ext uri="{FF2B5EF4-FFF2-40B4-BE49-F238E27FC236}">
                <a16:creationId xmlns:a16="http://schemas.microsoft.com/office/drawing/2014/main" id="{7CBE7F45-6B4A-41D0-ADBF-1B6F87FA552A}"/>
              </a:ext>
            </a:extLst>
          </p:cNvPr>
          <p:cNvSpPr/>
          <p:nvPr/>
        </p:nvSpPr>
        <p:spPr>
          <a:xfrm>
            <a:off x="5470149" y="9242469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9" name="Овал 98">
            <a:extLst>
              <a:ext uri="{FF2B5EF4-FFF2-40B4-BE49-F238E27FC236}">
                <a16:creationId xmlns:a16="http://schemas.microsoft.com/office/drawing/2014/main" id="{41469C78-BD94-4A52-86B1-C14544491168}"/>
              </a:ext>
            </a:extLst>
          </p:cNvPr>
          <p:cNvSpPr/>
          <p:nvPr/>
        </p:nvSpPr>
        <p:spPr>
          <a:xfrm>
            <a:off x="13384897" y="1120733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>
            <a:extLst>
              <a:ext uri="{FF2B5EF4-FFF2-40B4-BE49-F238E27FC236}">
                <a16:creationId xmlns:a16="http://schemas.microsoft.com/office/drawing/2014/main" id="{2FA04998-4ECF-4570-9E5F-B4E144274C10}"/>
              </a:ext>
            </a:extLst>
          </p:cNvPr>
          <p:cNvSpPr/>
          <p:nvPr/>
        </p:nvSpPr>
        <p:spPr>
          <a:xfrm>
            <a:off x="14390407" y="5195954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>
            <a:extLst>
              <a:ext uri="{FF2B5EF4-FFF2-40B4-BE49-F238E27FC236}">
                <a16:creationId xmlns:a16="http://schemas.microsoft.com/office/drawing/2014/main" id="{0EC70B61-3394-4030-B4CD-D1CD89848764}"/>
              </a:ext>
            </a:extLst>
          </p:cNvPr>
          <p:cNvSpPr/>
          <p:nvPr/>
        </p:nvSpPr>
        <p:spPr>
          <a:xfrm>
            <a:off x="2571063" y="-2978593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>
            <a:extLst>
              <a:ext uri="{FF2B5EF4-FFF2-40B4-BE49-F238E27FC236}">
                <a16:creationId xmlns:a16="http://schemas.microsoft.com/office/drawing/2014/main" id="{D0645AAB-7415-4546-BAB1-D7B123119F96}"/>
              </a:ext>
            </a:extLst>
          </p:cNvPr>
          <p:cNvSpPr/>
          <p:nvPr/>
        </p:nvSpPr>
        <p:spPr>
          <a:xfrm>
            <a:off x="760536" y="-2628938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Овал 116">
            <a:extLst>
              <a:ext uri="{FF2B5EF4-FFF2-40B4-BE49-F238E27FC236}">
                <a16:creationId xmlns:a16="http://schemas.microsoft.com/office/drawing/2014/main" id="{7457BD8B-D8E8-4CC4-85DD-464B7B9A9A4D}"/>
              </a:ext>
            </a:extLst>
          </p:cNvPr>
          <p:cNvSpPr/>
          <p:nvPr/>
        </p:nvSpPr>
        <p:spPr>
          <a:xfrm>
            <a:off x="-2689730" y="421335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Овал 117">
            <a:extLst>
              <a:ext uri="{FF2B5EF4-FFF2-40B4-BE49-F238E27FC236}">
                <a16:creationId xmlns:a16="http://schemas.microsoft.com/office/drawing/2014/main" id="{AA67A5CB-E7E8-4437-9AFE-E7951733EDA0}"/>
              </a:ext>
            </a:extLst>
          </p:cNvPr>
          <p:cNvSpPr/>
          <p:nvPr/>
        </p:nvSpPr>
        <p:spPr>
          <a:xfrm>
            <a:off x="-1631106" y="1193162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9" name="Овал 118">
            <a:extLst>
              <a:ext uri="{FF2B5EF4-FFF2-40B4-BE49-F238E27FC236}">
                <a16:creationId xmlns:a16="http://schemas.microsoft.com/office/drawing/2014/main" id="{DF8463FB-6D2E-4FF9-BEA0-E1D3650AAA0B}"/>
              </a:ext>
            </a:extLst>
          </p:cNvPr>
          <p:cNvSpPr/>
          <p:nvPr/>
        </p:nvSpPr>
        <p:spPr>
          <a:xfrm>
            <a:off x="-1772701" y="245693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824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5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16" fill="hold"/>
                                        <p:tgtEl>
                                          <p:spTgt spid="5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repeatCount="indefinite" fill="hold" display="0">
                  <p:stCondLst>
                    <p:cond delay="indefinite"/>
                  </p:stCondLst>
                </p:cTn>
                <p:tgtEl>
                  <p:spTgt spid="53"/>
                </p:tgtEl>
              </p:cMediaNode>
            </p:video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54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80608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Загальна схема багатошарової нейромережі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491DF1C-38F8-4BD3-9E8A-0B7C63264E73}"/>
              </a:ext>
            </a:extLst>
          </p:cNvPr>
          <p:cNvSpPr txBox="1"/>
          <p:nvPr/>
        </p:nvSpPr>
        <p:spPr>
          <a:xfrm>
            <a:off x="5479219" y="7963387"/>
            <a:ext cx="6082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запеченого навігаційного мешу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D9767EC-18E8-4006-B4E2-1414ADE3E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770" y="8370592"/>
            <a:ext cx="6480614" cy="3564914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54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B7B9C73C-2C61-4CF0-B738-5F0403D459A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15112" y="9575528"/>
            <a:ext cx="4208372" cy="2367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E714753-5DAE-45CF-97F7-E71CD8F1CF9B}"/>
              </a:ext>
            </a:extLst>
          </p:cNvPr>
          <p:cNvSpPr txBox="1"/>
          <p:nvPr/>
        </p:nvSpPr>
        <p:spPr>
          <a:xfrm>
            <a:off x="546527" y="9137034"/>
            <a:ext cx="4327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Демонстрація роботи алгоритму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!!Box_1">
            <a:extLst>
              <a:ext uri="{FF2B5EF4-FFF2-40B4-BE49-F238E27FC236}">
                <a16:creationId xmlns:a16="http://schemas.microsoft.com/office/drawing/2014/main" id="{1127C9EB-8133-4C7A-AC20-E69B8C990F00}"/>
              </a:ext>
            </a:extLst>
          </p:cNvPr>
          <p:cNvSpPr/>
          <p:nvPr/>
        </p:nvSpPr>
        <p:spPr>
          <a:xfrm>
            <a:off x="-4698425" y="1158364"/>
            <a:ext cx="4226217" cy="1712426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CCA176-2F21-41F1-BF7D-123DCF843DCF}"/>
              </a:ext>
            </a:extLst>
          </p:cNvPr>
          <p:cNvSpPr txBox="1"/>
          <p:nvPr/>
        </p:nvSpPr>
        <p:spPr>
          <a:xfrm>
            <a:off x="-4650074" y="1434425"/>
            <a:ext cx="419722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Логіка: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прораховує найоптимальніший маршрут, використовуючи заздалегідь побудований навігаційний меш на основі геометрії навколишнього середовища 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C2B9DE7-23F9-4172-8DA6-948926563C4A}"/>
              </a:ext>
            </a:extLst>
          </p:cNvPr>
          <p:cNvSpPr/>
          <p:nvPr/>
        </p:nvSpPr>
        <p:spPr>
          <a:xfrm>
            <a:off x="4495108" y="129354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Овал 57">
            <a:extLst>
              <a:ext uri="{FF2B5EF4-FFF2-40B4-BE49-F238E27FC236}">
                <a16:creationId xmlns:a16="http://schemas.microsoft.com/office/drawing/2014/main" id="{09A96ABA-3655-4780-AD53-C21D38CA63A7}"/>
              </a:ext>
            </a:extLst>
          </p:cNvPr>
          <p:cNvSpPr/>
          <p:nvPr/>
        </p:nvSpPr>
        <p:spPr>
          <a:xfrm>
            <a:off x="4495108" y="196138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>
            <a:extLst>
              <a:ext uri="{FF2B5EF4-FFF2-40B4-BE49-F238E27FC236}">
                <a16:creationId xmlns:a16="http://schemas.microsoft.com/office/drawing/2014/main" id="{3E3291AB-002F-46E0-AD66-BFABF17F3505}"/>
              </a:ext>
            </a:extLst>
          </p:cNvPr>
          <p:cNvSpPr/>
          <p:nvPr/>
        </p:nvSpPr>
        <p:spPr>
          <a:xfrm>
            <a:off x="4495108" y="262921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>
            <a:extLst>
              <a:ext uri="{FF2B5EF4-FFF2-40B4-BE49-F238E27FC236}">
                <a16:creationId xmlns:a16="http://schemas.microsoft.com/office/drawing/2014/main" id="{D0854628-B8DA-4555-B526-41A5A2656F07}"/>
              </a:ext>
            </a:extLst>
          </p:cNvPr>
          <p:cNvSpPr/>
          <p:nvPr/>
        </p:nvSpPr>
        <p:spPr>
          <a:xfrm>
            <a:off x="4495108" y="329705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>
            <a:extLst>
              <a:ext uri="{FF2B5EF4-FFF2-40B4-BE49-F238E27FC236}">
                <a16:creationId xmlns:a16="http://schemas.microsoft.com/office/drawing/2014/main" id="{1D2504DD-72B6-479D-B483-F2DBD76CE6DF}"/>
              </a:ext>
            </a:extLst>
          </p:cNvPr>
          <p:cNvSpPr/>
          <p:nvPr/>
        </p:nvSpPr>
        <p:spPr>
          <a:xfrm>
            <a:off x="4495108" y="396488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>
            <a:extLst>
              <a:ext uri="{FF2B5EF4-FFF2-40B4-BE49-F238E27FC236}">
                <a16:creationId xmlns:a16="http://schemas.microsoft.com/office/drawing/2014/main" id="{BB3DA38D-F055-46AE-8742-622CFCDC0809}"/>
              </a:ext>
            </a:extLst>
          </p:cNvPr>
          <p:cNvSpPr/>
          <p:nvPr/>
        </p:nvSpPr>
        <p:spPr>
          <a:xfrm>
            <a:off x="6016195" y="129354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>
            <a:extLst>
              <a:ext uri="{FF2B5EF4-FFF2-40B4-BE49-F238E27FC236}">
                <a16:creationId xmlns:a16="http://schemas.microsoft.com/office/drawing/2014/main" id="{5DC3382C-981E-4689-BF4D-CEED6BFA71EF}"/>
              </a:ext>
            </a:extLst>
          </p:cNvPr>
          <p:cNvSpPr/>
          <p:nvPr/>
        </p:nvSpPr>
        <p:spPr>
          <a:xfrm>
            <a:off x="6016195" y="196138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Овал 71">
            <a:extLst>
              <a:ext uri="{FF2B5EF4-FFF2-40B4-BE49-F238E27FC236}">
                <a16:creationId xmlns:a16="http://schemas.microsoft.com/office/drawing/2014/main" id="{D0576D1A-A13A-4F7B-83D2-3EF25F8704A4}"/>
              </a:ext>
            </a:extLst>
          </p:cNvPr>
          <p:cNvSpPr/>
          <p:nvPr/>
        </p:nvSpPr>
        <p:spPr>
          <a:xfrm>
            <a:off x="6016195" y="262921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>
            <a:extLst>
              <a:ext uri="{FF2B5EF4-FFF2-40B4-BE49-F238E27FC236}">
                <a16:creationId xmlns:a16="http://schemas.microsoft.com/office/drawing/2014/main" id="{6DBE000E-2D59-4EF5-9EE8-ADB0116AB406}"/>
              </a:ext>
            </a:extLst>
          </p:cNvPr>
          <p:cNvSpPr/>
          <p:nvPr/>
        </p:nvSpPr>
        <p:spPr>
          <a:xfrm>
            <a:off x="6016195" y="329705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>
            <a:extLst>
              <a:ext uri="{FF2B5EF4-FFF2-40B4-BE49-F238E27FC236}">
                <a16:creationId xmlns:a16="http://schemas.microsoft.com/office/drawing/2014/main" id="{DA565D4F-2B96-4B44-B9B2-A7DD395D6E99}"/>
              </a:ext>
            </a:extLst>
          </p:cNvPr>
          <p:cNvSpPr/>
          <p:nvPr/>
        </p:nvSpPr>
        <p:spPr>
          <a:xfrm>
            <a:off x="6016195" y="396488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>
            <a:extLst>
              <a:ext uri="{FF2B5EF4-FFF2-40B4-BE49-F238E27FC236}">
                <a16:creationId xmlns:a16="http://schemas.microsoft.com/office/drawing/2014/main" id="{02AC492C-3EF4-4760-B3F4-5246D23D2A4F}"/>
              </a:ext>
            </a:extLst>
          </p:cNvPr>
          <p:cNvSpPr/>
          <p:nvPr/>
        </p:nvSpPr>
        <p:spPr>
          <a:xfrm>
            <a:off x="7537282" y="129354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Овал 89">
            <a:extLst>
              <a:ext uri="{FF2B5EF4-FFF2-40B4-BE49-F238E27FC236}">
                <a16:creationId xmlns:a16="http://schemas.microsoft.com/office/drawing/2014/main" id="{1AFBA6D0-9F7E-458B-9D2E-FEBBC0CCFDD6}"/>
              </a:ext>
            </a:extLst>
          </p:cNvPr>
          <p:cNvSpPr/>
          <p:nvPr/>
        </p:nvSpPr>
        <p:spPr>
          <a:xfrm>
            <a:off x="7537282" y="196138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Овал 90">
            <a:extLst>
              <a:ext uri="{FF2B5EF4-FFF2-40B4-BE49-F238E27FC236}">
                <a16:creationId xmlns:a16="http://schemas.microsoft.com/office/drawing/2014/main" id="{ED6B31BD-68D5-4624-8F7F-3803DAD759DA}"/>
              </a:ext>
            </a:extLst>
          </p:cNvPr>
          <p:cNvSpPr/>
          <p:nvPr/>
        </p:nvSpPr>
        <p:spPr>
          <a:xfrm>
            <a:off x="7537282" y="262921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Овал 92">
            <a:extLst>
              <a:ext uri="{FF2B5EF4-FFF2-40B4-BE49-F238E27FC236}">
                <a16:creationId xmlns:a16="http://schemas.microsoft.com/office/drawing/2014/main" id="{68B07899-0BC9-476F-9E67-C9B9C25F6060}"/>
              </a:ext>
            </a:extLst>
          </p:cNvPr>
          <p:cNvSpPr/>
          <p:nvPr/>
        </p:nvSpPr>
        <p:spPr>
          <a:xfrm>
            <a:off x="7537282" y="329705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Овал 93">
            <a:extLst>
              <a:ext uri="{FF2B5EF4-FFF2-40B4-BE49-F238E27FC236}">
                <a16:creationId xmlns:a16="http://schemas.microsoft.com/office/drawing/2014/main" id="{239FCCBF-DE6B-4231-AAAA-2B68080FDB69}"/>
              </a:ext>
            </a:extLst>
          </p:cNvPr>
          <p:cNvSpPr/>
          <p:nvPr/>
        </p:nvSpPr>
        <p:spPr>
          <a:xfrm>
            <a:off x="7537282" y="396488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Овал 94">
            <a:extLst>
              <a:ext uri="{FF2B5EF4-FFF2-40B4-BE49-F238E27FC236}">
                <a16:creationId xmlns:a16="http://schemas.microsoft.com/office/drawing/2014/main" id="{48969BAB-5224-43BD-BD51-5138AB4D4D64}"/>
              </a:ext>
            </a:extLst>
          </p:cNvPr>
          <p:cNvSpPr/>
          <p:nvPr/>
        </p:nvSpPr>
        <p:spPr>
          <a:xfrm>
            <a:off x="9050667" y="2373759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Овал 95">
            <a:extLst>
              <a:ext uri="{FF2B5EF4-FFF2-40B4-BE49-F238E27FC236}">
                <a16:creationId xmlns:a16="http://schemas.microsoft.com/office/drawing/2014/main" id="{38E7C92B-0B63-4112-9703-72231716F6E1}"/>
              </a:ext>
            </a:extLst>
          </p:cNvPr>
          <p:cNvSpPr/>
          <p:nvPr/>
        </p:nvSpPr>
        <p:spPr>
          <a:xfrm>
            <a:off x="9050667" y="3041594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Овал 96">
            <a:extLst>
              <a:ext uri="{FF2B5EF4-FFF2-40B4-BE49-F238E27FC236}">
                <a16:creationId xmlns:a16="http://schemas.microsoft.com/office/drawing/2014/main" id="{4CF6177B-78D9-41D4-B616-ECFFD4462A0E}"/>
              </a:ext>
            </a:extLst>
          </p:cNvPr>
          <p:cNvSpPr/>
          <p:nvPr/>
        </p:nvSpPr>
        <p:spPr>
          <a:xfrm>
            <a:off x="2785603" y="129354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Овал 97">
            <a:extLst>
              <a:ext uri="{FF2B5EF4-FFF2-40B4-BE49-F238E27FC236}">
                <a16:creationId xmlns:a16="http://schemas.microsoft.com/office/drawing/2014/main" id="{C7B0CDB2-7C07-4A3A-812D-36D0EE470436}"/>
              </a:ext>
            </a:extLst>
          </p:cNvPr>
          <p:cNvSpPr/>
          <p:nvPr/>
        </p:nvSpPr>
        <p:spPr>
          <a:xfrm>
            <a:off x="2785603" y="196138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9" name="Овал 98">
            <a:extLst>
              <a:ext uri="{FF2B5EF4-FFF2-40B4-BE49-F238E27FC236}">
                <a16:creationId xmlns:a16="http://schemas.microsoft.com/office/drawing/2014/main" id="{C832FB1E-0066-47A5-8F87-32A39E280194}"/>
              </a:ext>
            </a:extLst>
          </p:cNvPr>
          <p:cNvSpPr/>
          <p:nvPr/>
        </p:nvSpPr>
        <p:spPr>
          <a:xfrm>
            <a:off x="2785603" y="262921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>
            <a:extLst>
              <a:ext uri="{FF2B5EF4-FFF2-40B4-BE49-F238E27FC236}">
                <a16:creationId xmlns:a16="http://schemas.microsoft.com/office/drawing/2014/main" id="{2CF1A7F4-FB08-4DFC-906C-CC69050944D7}"/>
              </a:ext>
            </a:extLst>
          </p:cNvPr>
          <p:cNvSpPr/>
          <p:nvPr/>
        </p:nvSpPr>
        <p:spPr>
          <a:xfrm>
            <a:off x="2785603" y="3297051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>
            <a:extLst>
              <a:ext uri="{FF2B5EF4-FFF2-40B4-BE49-F238E27FC236}">
                <a16:creationId xmlns:a16="http://schemas.microsoft.com/office/drawing/2014/main" id="{D3A0EA60-D152-41CE-9911-156EE0C2B057}"/>
              </a:ext>
            </a:extLst>
          </p:cNvPr>
          <p:cNvSpPr/>
          <p:nvPr/>
        </p:nvSpPr>
        <p:spPr>
          <a:xfrm>
            <a:off x="2785603" y="3964886"/>
            <a:ext cx="510914" cy="5109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055" name="Группа 1054">
            <a:extLst>
              <a:ext uri="{FF2B5EF4-FFF2-40B4-BE49-F238E27FC236}">
                <a16:creationId xmlns:a16="http://schemas.microsoft.com/office/drawing/2014/main" id="{DAD01C2B-9FD6-4091-A51E-CABF51F73165}"/>
              </a:ext>
            </a:extLst>
          </p:cNvPr>
          <p:cNvGrpSpPr/>
          <p:nvPr/>
        </p:nvGrpSpPr>
        <p:grpSpPr>
          <a:xfrm>
            <a:off x="3296517" y="1541458"/>
            <a:ext cx="1198591" cy="2678885"/>
            <a:chOff x="3296517" y="1541458"/>
            <a:chExt cx="1198591" cy="2678885"/>
          </a:xfrm>
        </p:grpSpPr>
        <p:cxnSp>
          <p:nvCxnSpPr>
            <p:cNvPr id="5" name="Прямая соединительная линия 4">
              <a:extLst>
                <a:ext uri="{FF2B5EF4-FFF2-40B4-BE49-F238E27FC236}">
                  <a16:creationId xmlns:a16="http://schemas.microsoft.com/office/drawing/2014/main" id="{9D021D14-77AC-48EB-8046-922C5BAF82E3}"/>
                </a:ext>
              </a:extLst>
            </p:cNvPr>
            <p:cNvCxnSpPr>
              <a:stCxn id="97" idx="6"/>
              <a:endCxn id="58" idx="2"/>
            </p:cNvCxnSpPr>
            <p:nvPr/>
          </p:nvCxnSpPr>
          <p:spPr>
            <a:xfrm>
              <a:off x="3296517" y="154900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D5E88884-6878-4C2B-88A3-38AFD30706BB}"/>
                </a:ext>
              </a:extLst>
            </p:cNvPr>
            <p:cNvCxnSpPr>
              <a:stCxn id="98" idx="6"/>
              <a:endCxn id="58" idx="2"/>
            </p:cNvCxnSpPr>
            <p:nvPr/>
          </p:nvCxnSpPr>
          <p:spPr>
            <a:xfrm>
              <a:off x="3296517" y="221683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единительная линия 10">
              <a:extLst>
                <a:ext uri="{FF2B5EF4-FFF2-40B4-BE49-F238E27FC236}">
                  <a16:creationId xmlns:a16="http://schemas.microsoft.com/office/drawing/2014/main" id="{90F60BB4-7EC6-406B-A352-27CD389C7CFB}"/>
                </a:ext>
              </a:extLst>
            </p:cNvPr>
            <p:cNvCxnSpPr>
              <a:endCxn id="58" idx="2"/>
            </p:cNvCxnSpPr>
            <p:nvPr/>
          </p:nvCxnSpPr>
          <p:spPr>
            <a:xfrm flipV="1">
              <a:off x="3296517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43A95EC0-EE5B-46DF-BD13-CCFC4E21E158}"/>
                </a:ext>
              </a:extLst>
            </p:cNvPr>
            <p:cNvCxnSpPr>
              <a:stCxn id="114" idx="6"/>
              <a:endCxn id="58" idx="2"/>
            </p:cNvCxnSpPr>
            <p:nvPr/>
          </p:nvCxnSpPr>
          <p:spPr>
            <a:xfrm flipV="1">
              <a:off x="3296517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3DF1B865-1687-4E58-A161-F03B05097487}"/>
                </a:ext>
              </a:extLst>
            </p:cNvPr>
            <p:cNvCxnSpPr>
              <a:stCxn id="115" idx="6"/>
              <a:endCxn id="58" idx="2"/>
            </p:cNvCxnSpPr>
            <p:nvPr/>
          </p:nvCxnSpPr>
          <p:spPr>
            <a:xfrm flipV="1">
              <a:off x="3296517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5D77FF16-489A-4B8C-95FE-D9C6BB437B7C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296517" y="1549003"/>
              <a:ext cx="1198591" cy="6764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67F9C199-D1F5-459B-93C7-583E371EF5AE}"/>
                </a:ext>
              </a:extLst>
            </p:cNvPr>
            <p:cNvCxnSpPr>
              <a:stCxn id="97" idx="6"/>
              <a:endCxn id="3" idx="2"/>
            </p:cNvCxnSpPr>
            <p:nvPr/>
          </p:nvCxnSpPr>
          <p:spPr>
            <a:xfrm>
              <a:off x="3296517" y="154900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D150E30C-2456-4A33-A772-DC6BAB426F42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296517" y="154900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32937064-4A21-4231-89AF-155084EBFEC4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306861" y="1549003"/>
              <a:ext cx="1188247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Прямая соединительная линия 24">
              <a:extLst>
                <a:ext uri="{FF2B5EF4-FFF2-40B4-BE49-F238E27FC236}">
                  <a16:creationId xmlns:a16="http://schemas.microsoft.com/office/drawing/2014/main" id="{832519CB-8519-4D82-AA3E-196C0795503C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306861" y="1549003"/>
              <a:ext cx="1188247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380720A4-26D2-417C-BA2C-C27D417808EC}"/>
                </a:ext>
              </a:extLst>
            </p:cNvPr>
            <p:cNvCxnSpPr>
              <a:endCxn id="59" idx="2"/>
            </p:cNvCxnSpPr>
            <p:nvPr/>
          </p:nvCxnSpPr>
          <p:spPr>
            <a:xfrm>
              <a:off x="3306861" y="1549002"/>
              <a:ext cx="1188247" cy="13356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29971ABB-FE27-43A7-9CE4-D5E7DDC403E8}"/>
                </a:ext>
              </a:extLst>
            </p:cNvPr>
            <p:cNvCxnSpPr>
              <a:stCxn id="98" idx="6"/>
              <a:endCxn id="59" idx="2"/>
            </p:cNvCxnSpPr>
            <p:nvPr/>
          </p:nvCxnSpPr>
          <p:spPr>
            <a:xfrm>
              <a:off x="3296517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801966AE-607F-48C2-914E-09BD6ABF91C5}"/>
                </a:ext>
              </a:extLst>
            </p:cNvPr>
            <p:cNvCxnSpPr>
              <a:endCxn id="59" idx="2"/>
            </p:cNvCxnSpPr>
            <p:nvPr/>
          </p:nvCxnSpPr>
          <p:spPr>
            <a:xfrm>
              <a:off x="3306861" y="2865044"/>
              <a:ext cx="1188247" cy="196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Прямая соединительная линия 32">
              <a:extLst>
                <a:ext uri="{FF2B5EF4-FFF2-40B4-BE49-F238E27FC236}">
                  <a16:creationId xmlns:a16="http://schemas.microsoft.com/office/drawing/2014/main" id="{41B87B56-A6FC-491F-B043-3A047793CF3E}"/>
                </a:ext>
              </a:extLst>
            </p:cNvPr>
            <p:cNvCxnSpPr>
              <a:stCxn id="114" idx="6"/>
              <a:endCxn id="59" idx="2"/>
            </p:cNvCxnSpPr>
            <p:nvPr/>
          </p:nvCxnSpPr>
          <p:spPr>
            <a:xfrm flipV="1">
              <a:off x="3296517" y="288467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4082321-CD26-4640-ADDD-BC0BAB1D306A}"/>
                </a:ext>
              </a:extLst>
            </p:cNvPr>
            <p:cNvCxnSpPr>
              <a:endCxn id="59" idx="2"/>
            </p:cNvCxnSpPr>
            <p:nvPr/>
          </p:nvCxnSpPr>
          <p:spPr>
            <a:xfrm flipV="1">
              <a:off x="3306861" y="2884673"/>
              <a:ext cx="1188247" cy="13188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Прямая соединительная линия 36">
              <a:extLst>
                <a:ext uri="{FF2B5EF4-FFF2-40B4-BE49-F238E27FC236}">
                  <a16:creationId xmlns:a16="http://schemas.microsoft.com/office/drawing/2014/main" id="{C181812F-627B-4205-9417-362DE6841DF6}"/>
                </a:ext>
              </a:extLst>
            </p:cNvPr>
            <p:cNvCxnSpPr>
              <a:endCxn id="64" idx="2"/>
            </p:cNvCxnSpPr>
            <p:nvPr/>
          </p:nvCxnSpPr>
          <p:spPr>
            <a:xfrm>
              <a:off x="3306861" y="1541458"/>
              <a:ext cx="1188247" cy="20110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Прямая соединительная линия 38">
              <a:extLst>
                <a:ext uri="{FF2B5EF4-FFF2-40B4-BE49-F238E27FC236}">
                  <a16:creationId xmlns:a16="http://schemas.microsoft.com/office/drawing/2014/main" id="{603A0098-5BB2-4767-8CE3-F3FDD35D9F0B}"/>
                </a:ext>
              </a:extLst>
            </p:cNvPr>
            <p:cNvCxnSpPr>
              <a:stCxn id="98" idx="6"/>
              <a:endCxn id="64" idx="2"/>
            </p:cNvCxnSpPr>
            <p:nvPr/>
          </p:nvCxnSpPr>
          <p:spPr>
            <a:xfrm>
              <a:off x="3296517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Прямая соединительная линия 40">
              <a:extLst>
                <a:ext uri="{FF2B5EF4-FFF2-40B4-BE49-F238E27FC236}">
                  <a16:creationId xmlns:a16="http://schemas.microsoft.com/office/drawing/2014/main" id="{2EACBC86-4208-4D73-A7D4-F63EC67BE670}"/>
                </a:ext>
              </a:extLst>
            </p:cNvPr>
            <p:cNvCxnSpPr>
              <a:endCxn id="64" idx="2"/>
            </p:cNvCxnSpPr>
            <p:nvPr/>
          </p:nvCxnSpPr>
          <p:spPr>
            <a:xfrm>
              <a:off x="3306861" y="2846513"/>
              <a:ext cx="1188247" cy="7059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Прямая соединительная линия 42">
              <a:extLst>
                <a:ext uri="{FF2B5EF4-FFF2-40B4-BE49-F238E27FC236}">
                  <a16:creationId xmlns:a16="http://schemas.microsoft.com/office/drawing/2014/main" id="{70A0381C-5280-4A0D-A076-3FDC3E02B90B}"/>
                </a:ext>
              </a:extLst>
            </p:cNvPr>
            <p:cNvCxnSpPr>
              <a:stCxn id="114" idx="6"/>
              <a:endCxn id="64" idx="2"/>
            </p:cNvCxnSpPr>
            <p:nvPr/>
          </p:nvCxnSpPr>
          <p:spPr>
            <a:xfrm>
              <a:off x="3296517" y="355250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Прямая соединительная линия 45">
              <a:extLst>
                <a:ext uri="{FF2B5EF4-FFF2-40B4-BE49-F238E27FC236}">
                  <a16:creationId xmlns:a16="http://schemas.microsoft.com/office/drawing/2014/main" id="{196D55FE-7CF8-4EF0-870A-900013D15828}"/>
                </a:ext>
              </a:extLst>
            </p:cNvPr>
            <p:cNvCxnSpPr>
              <a:endCxn id="64" idx="2"/>
            </p:cNvCxnSpPr>
            <p:nvPr/>
          </p:nvCxnSpPr>
          <p:spPr>
            <a:xfrm flipV="1">
              <a:off x="3306861" y="3552508"/>
              <a:ext cx="1188247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Прямая соединительная линия 115">
              <a:extLst>
                <a:ext uri="{FF2B5EF4-FFF2-40B4-BE49-F238E27FC236}">
                  <a16:creationId xmlns:a16="http://schemas.microsoft.com/office/drawing/2014/main" id="{B246DA76-AB4B-4AA2-BDE7-B7FB8B537EC9}"/>
                </a:ext>
              </a:extLst>
            </p:cNvPr>
            <p:cNvCxnSpPr>
              <a:cxnSpLocks/>
              <a:stCxn id="114" idx="6"/>
              <a:endCxn id="65" idx="2"/>
            </p:cNvCxnSpPr>
            <p:nvPr/>
          </p:nvCxnSpPr>
          <p:spPr>
            <a:xfrm>
              <a:off x="3296517" y="355250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Прямая соединительная линия 120">
              <a:extLst>
                <a:ext uri="{FF2B5EF4-FFF2-40B4-BE49-F238E27FC236}">
                  <a16:creationId xmlns:a16="http://schemas.microsoft.com/office/drawing/2014/main" id="{3549C083-E899-43D4-80AA-FFD586B68FDD}"/>
                </a:ext>
              </a:extLst>
            </p:cNvPr>
            <p:cNvCxnSpPr>
              <a:cxnSpLocks/>
              <a:stCxn id="115" idx="6"/>
              <a:endCxn id="65" idx="2"/>
            </p:cNvCxnSpPr>
            <p:nvPr/>
          </p:nvCxnSpPr>
          <p:spPr>
            <a:xfrm>
              <a:off x="3296517" y="422034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Прямая соединительная линия 121">
              <a:extLst>
                <a:ext uri="{FF2B5EF4-FFF2-40B4-BE49-F238E27FC236}">
                  <a16:creationId xmlns:a16="http://schemas.microsoft.com/office/drawing/2014/main" id="{76279CDA-12A0-4CB1-A298-CBF065BB044C}"/>
                </a:ext>
              </a:extLst>
            </p:cNvPr>
            <p:cNvCxnSpPr>
              <a:cxnSpLocks/>
              <a:stCxn id="98" idx="6"/>
              <a:endCxn id="65" idx="2"/>
            </p:cNvCxnSpPr>
            <p:nvPr/>
          </p:nvCxnSpPr>
          <p:spPr>
            <a:xfrm>
              <a:off x="3296517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Прямая соединительная линия 122">
              <a:extLst>
                <a:ext uri="{FF2B5EF4-FFF2-40B4-BE49-F238E27FC236}">
                  <a16:creationId xmlns:a16="http://schemas.microsoft.com/office/drawing/2014/main" id="{2533C81B-A3DE-4F99-834A-A1AB045CBDD2}"/>
                </a:ext>
              </a:extLst>
            </p:cNvPr>
            <p:cNvCxnSpPr>
              <a:cxnSpLocks/>
              <a:stCxn id="99" idx="6"/>
              <a:endCxn id="65" idx="2"/>
            </p:cNvCxnSpPr>
            <p:nvPr/>
          </p:nvCxnSpPr>
          <p:spPr>
            <a:xfrm>
              <a:off x="3296517" y="288467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Прямая соединительная линия 124">
              <a:extLst>
                <a:ext uri="{FF2B5EF4-FFF2-40B4-BE49-F238E27FC236}">
                  <a16:creationId xmlns:a16="http://schemas.microsoft.com/office/drawing/2014/main" id="{212C1CBF-9F49-46C3-A288-D604D6FCA147}"/>
                </a:ext>
              </a:extLst>
            </p:cNvPr>
            <p:cNvCxnSpPr>
              <a:cxnSpLocks/>
              <a:stCxn id="97" idx="6"/>
              <a:endCxn id="65" idx="2"/>
            </p:cNvCxnSpPr>
            <p:nvPr/>
          </p:nvCxnSpPr>
          <p:spPr>
            <a:xfrm>
              <a:off x="3296517" y="1549003"/>
              <a:ext cx="1198591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6" name="Группа 1055">
            <a:extLst>
              <a:ext uri="{FF2B5EF4-FFF2-40B4-BE49-F238E27FC236}">
                <a16:creationId xmlns:a16="http://schemas.microsoft.com/office/drawing/2014/main" id="{868D1843-77D9-466F-97AE-AEA219BF6379}"/>
              </a:ext>
            </a:extLst>
          </p:cNvPr>
          <p:cNvGrpSpPr/>
          <p:nvPr/>
        </p:nvGrpSpPr>
        <p:grpSpPr>
          <a:xfrm>
            <a:off x="4874281" y="1541458"/>
            <a:ext cx="1198591" cy="2678885"/>
            <a:chOff x="4874281" y="1541458"/>
            <a:chExt cx="1198591" cy="2678885"/>
          </a:xfrm>
        </p:grpSpPr>
        <p:cxnSp>
          <p:nvCxnSpPr>
            <p:cNvPr id="136" name="Прямая соединительная линия 135">
              <a:extLst>
                <a:ext uri="{FF2B5EF4-FFF2-40B4-BE49-F238E27FC236}">
                  <a16:creationId xmlns:a16="http://schemas.microsoft.com/office/drawing/2014/main" id="{5C7FB85F-CBB5-47F4-8DCB-4E99A7562F1F}"/>
                </a:ext>
              </a:extLst>
            </p:cNvPr>
            <p:cNvCxnSpPr/>
            <p:nvPr/>
          </p:nvCxnSpPr>
          <p:spPr>
            <a:xfrm>
              <a:off x="4874281" y="154900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Прямая соединительная линия 136">
              <a:extLst>
                <a:ext uri="{FF2B5EF4-FFF2-40B4-BE49-F238E27FC236}">
                  <a16:creationId xmlns:a16="http://schemas.microsoft.com/office/drawing/2014/main" id="{DB171BCC-216C-4841-9214-3C0B07FE73A0}"/>
                </a:ext>
              </a:extLst>
            </p:cNvPr>
            <p:cNvCxnSpPr/>
            <p:nvPr/>
          </p:nvCxnSpPr>
          <p:spPr>
            <a:xfrm>
              <a:off x="4874281" y="221683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Прямая соединительная линия 137">
              <a:extLst>
                <a:ext uri="{FF2B5EF4-FFF2-40B4-BE49-F238E27FC236}">
                  <a16:creationId xmlns:a16="http://schemas.microsoft.com/office/drawing/2014/main" id="{C5B6A9D1-F172-45E1-A193-A79FE60153AC}"/>
                </a:ext>
              </a:extLst>
            </p:cNvPr>
            <p:cNvCxnSpPr/>
            <p:nvPr/>
          </p:nvCxnSpPr>
          <p:spPr>
            <a:xfrm flipV="1">
              <a:off x="4874281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Прямая соединительная линия 138">
              <a:extLst>
                <a:ext uri="{FF2B5EF4-FFF2-40B4-BE49-F238E27FC236}">
                  <a16:creationId xmlns:a16="http://schemas.microsoft.com/office/drawing/2014/main" id="{C1CB345A-5E5A-4CD4-8D92-BCE1EE124F69}"/>
                </a:ext>
              </a:extLst>
            </p:cNvPr>
            <p:cNvCxnSpPr/>
            <p:nvPr/>
          </p:nvCxnSpPr>
          <p:spPr>
            <a:xfrm flipV="1">
              <a:off x="4874281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Прямая соединительная линия 139">
              <a:extLst>
                <a:ext uri="{FF2B5EF4-FFF2-40B4-BE49-F238E27FC236}">
                  <a16:creationId xmlns:a16="http://schemas.microsoft.com/office/drawing/2014/main" id="{1E0E4D00-288E-4B45-91EB-1EC0BB6E5F5D}"/>
                </a:ext>
              </a:extLst>
            </p:cNvPr>
            <p:cNvCxnSpPr/>
            <p:nvPr/>
          </p:nvCxnSpPr>
          <p:spPr>
            <a:xfrm flipV="1">
              <a:off x="4874281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Прямая соединительная линия 140">
              <a:extLst>
                <a:ext uri="{FF2B5EF4-FFF2-40B4-BE49-F238E27FC236}">
                  <a16:creationId xmlns:a16="http://schemas.microsoft.com/office/drawing/2014/main" id="{E7AAD911-2437-4033-B539-54FB4EBD8F05}"/>
                </a:ext>
              </a:extLst>
            </p:cNvPr>
            <p:cNvCxnSpPr/>
            <p:nvPr/>
          </p:nvCxnSpPr>
          <p:spPr>
            <a:xfrm flipV="1">
              <a:off x="4874281" y="1549003"/>
              <a:ext cx="1198591" cy="6764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Прямая соединительная линия 141">
              <a:extLst>
                <a:ext uri="{FF2B5EF4-FFF2-40B4-BE49-F238E27FC236}">
                  <a16:creationId xmlns:a16="http://schemas.microsoft.com/office/drawing/2014/main" id="{1C1F4CF2-77DB-4D04-A144-2ADBE2BDE1B7}"/>
                </a:ext>
              </a:extLst>
            </p:cNvPr>
            <p:cNvCxnSpPr/>
            <p:nvPr/>
          </p:nvCxnSpPr>
          <p:spPr>
            <a:xfrm>
              <a:off x="4874281" y="154900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Прямая соединительная линия 142">
              <a:extLst>
                <a:ext uri="{FF2B5EF4-FFF2-40B4-BE49-F238E27FC236}">
                  <a16:creationId xmlns:a16="http://schemas.microsoft.com/office/drawing/2014/main" id="{BD162414-783C-4F38-ABAC-75D5768BE3AA}"/>
                </a:ext>
              </a:extLst>
            </p:cNvPr>
            <p:cNvCxnSpPr/>
            <p:nvPr/>
          </p:nvCxnSpPr>
          <p:spPr>
            <a:xfrm flipV="1">
              <a:off x="4874281" y="154900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Прямая соединительная линия 143">
              <a:extLst>
                <a:ext uri="{FF2B5EF4-FFF2-40B4-BE49-F238E27FC236}">
                  <a16:creationId xmlns:a16="http://schemas.microsoft.com/office/drawing/2014/main" id="{78AF314D-AAAB-4C7E-9AAA-AD371B029F63}"/>
                </a:ext>
              </a:extLst>
            </p:cNvPr>
            <p:cNvCxnSpPr/>
            <p:nvPr/>
          </p:nvCxnSpPr>
          <p:spPr>
            <a:xfrm flipV="1">
              <a:off x="4884625" y="1549003"/>
              <a:ext cx="1188247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Прямая соединительная линия 144">
              <a:extLst>
                <a:ext uri="{FF2B5EF4-FFF2-40B4-BE49-F238E27FC236}">
                  <a16:creationId xmlns:a16="http://schemas.microsoft.com/office/drawing/2014/main" id="{23F5843B-8425-41DE-9866-779760B5544A}"/>
                </a:ext>
              </a:extLst>
            </p:cNvPr>
            <p:cNvCxnSpPr/>
            <p:nvPr/>
          </p:nvCxnSpPr>
          <p:spPr>
            <a:xfrm flipV="1">
              <a:off x="4884625" y="1549003"/>
              <a:ext cx="1188247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Прямая соединительная линия 145">
              <a:extLst>
                <a:ext uri="{FF2B5EF4-FFF2-40B4-BE49-F238E27FC236}">
                  <a16:creationId xmlns:a16="http://schemas.microsoft.com/office/drawing/2014/main" id="{8003AF1F-5439-4635-B8BF-F0415D09096B}"/>
                </a:ext>
              </a:extLst>
            </p:cNvPr>
            <p:cNvCxnSpPr/>
            <p:nvPr/>
          </p:nvCxnSpPr>
          <p:spPr>
            <a:xfrm>
              <a:off x="4884625" y="1549002"/>
              <a:ext cx="1188247" cy="13356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Прямая соединительная линия 146">
              <a:extLst>
                <a:ext uri="{FF2B5EF4-FFF2-40B4-BE49-F238E27FC236}">
                  <a16:creationId xmlns:a16="http://schemas.microsoft.com/office/drawing/2014/main" id="{1C8F677D-86DF-4B3B-B590-21962AF5995A}"/>
                </a:ext>
              </a:extLst>
            </p:cNvPr>
            <p:cNvCxnSpPr/>
            <p:nvPr/>
          </p:nvCxnSpPr>
          <p:spPr>
            <a:xfrm>
              <a:off x="4874281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Прямая соединительная линия 147">
              <a:extLst>
                <a:ext uri="{FF2B5EF4-FFF2-40B4-BE49-F238E27FC236}">
                  <a16:creationId xmlns:a16="http://schemas.microsoft.com/office/drawing/2014/main" id="{195E3076-EC1E-47C9-8C54-C917079E4DCE}"/>
                </a:ext>
              </a:extLst>
            </p:cNvPr>
            <p:cNvCxnSpPr/>
            <p:nvPr/>
          </p:nvCxnSpPr>
          <p:spPr>
            <a:xfrm>
              <a:off x="4884625" y="2865044"/>
              <a:ext cx="1188247" cy="196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Прямая соединительная линия 148">
              <a:extLst>
                <a:ext uri="{FF2B5EF4-FFF2-40B4-BE49-F238E27FC236}">
                  <a16:creationId xmlns:a16="http://schemas.microsoft.com/office/drawing/2014/main" id="{37CDCAF4-0C4E-4398-B9F7-D7CA0B087A18}"/>
                </a:ext>
              </a:extLst>
            </p:cNvPr>
            <p:cNvCxnSpPr/>
            <p:nvPr/>
          </p:nvCxnSpPr>
          <p:spPr>
            <a:xfrm flipV="1">
              <a:off x="4874281" y="288467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Прямая соединительная линия 149">
              <a:extLst>
                <a:ext uri="{FF2B5EF4-FFF2-40B4-BE49-F238E27FC236}">
                  <a16:creationId xmlns:a16="http://schemas.microsoft.com/office/drawing/2014/main" id="{B0E17877-F8B7-47D9-B544-CDDD1539A495}"/>
                </a:ext>
              </a:extLst>
            </p:cNvPr>
            <p:cNvCxnSpPr/>
            <p:nvPr/>
          </p:nvCxnSpPr>
          <p:spPr>
            <a:xfrm flipV="1">
              <a:off x="4884625" y="2884673"/>
              <a:ext cx="1188247" cy="13188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Прямая соединительная линия 150">
              <a:extLst>
                <a:ext uri="{FF2B5EF4-FFF2-40B4-BE49-F238E27FC236}">
                  <a16:creationId xmlns:a16="http://schemas.microsoft.com/office/drawing/2014/main" id="{6E9407FB-A257-4C43-A103-0D46022D3475}"/>
                </a:ext>
              </a:extLst>
            </p:cNvPr>
            <p:cNvCxnSpPr/>
            <p:nvPr/>
          </p:nvCxnSpPr>
          <p:spPr>
            <a:xfrm>
              <a:off x="4884625" y="1541458"/>
              <a:ext cx="1188247" cy="20110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Прямая соединительная линия 151">
              <a:extLst>
                <a:ext uri="{FF2B5EF4-FFF2-40B4-BE49-F238E27FC236}">
                  <a16:creationId xmlns:a16="http://schemas.microsoft.com/office/drawing/2014/main" id="{63B3A905-D7C8-4349-A905-4AF8145C1A72}"/>
                </a:ext>
              </a:extLst>
            </p:cNvPr>
            <p:cNvCxnSpPr/>
            <p:nvPr/>
          </p:nvCxnSpPr>
          <p:spPr>
            <a:xfrm>
              <a:off x="4874281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Прямая соединительная линия 152">
              <a:extLst>
                <a:ext uri="{FF2B5EF4-FFF2-40B4-BE49-F238E27FC236}">
                  <a16:creationId xmlns:a16="http://schemas.microsoft.com/office/drawing/2014/main" id="{32AFAB65-4E37-466E-8EA2-27D1857959D8}"/>
                </a:ext>
              </a:extLst>
            </p:cNvPr>
            <p:cNvCxnSpPr/>
            <p:nvPr/>
          </p:nvCxnSpPr>
          <p:spPr>
            <a:xfrm>
              <a:off x="4884625" y="2846513"/>
              <a:ext cx="1188247" cy="7059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Прямая соединительная линия 153">
              <a:extLst>
                <a:ext uri="{FF2B5EF4-FFF2-40B4-BE49-F238E27FC236}">
                  <a16:creationId xmlns:a16="http://schemas.microsoft.com/office/drawing/2014/main" id="{21FE3EBE-C62E-4A33-8A3C-FEB46A10112E}"/>
                </a:ext>
              </a:extLst>
            </p:cNvPr>
            <p:cNvCxnSpPr/>
            <p:nvPr/>
          </p:nvCxnSpPr>
          <p:spPr>
            <a:xfrm>
              <a:off x="4874281" y="355250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Прямая соединительная линия 154">
              <a:extLst>
                <a:ext uri="{FF2B5EF4-FFF2-40B4-BE49-F238E27FC236}">
                  <a16:creationId xmlns:a16="http://schemas.microsoft.com/office/drawing/2014/main" id="{BF93573A-B0F3-445C-90EA-4C5E50A492D9}"/>
                </a:ext>
              </a:extLst>
            </p:cNvPr>
            <p:cNvCxnSpPr/>
            <p:nvPr/>
          </p:nvCxnSpPr>
          <p:spPr>
            <a:xfrm flipV="1">
              <a:off x="4884625" y="3552508"/>
              <a:ext cx="1188247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Прямая соединительная линия 155">
              <a:extLst>
                <a:ext uri="{FF2B5EF4-FFF2-40B4-BE49-F238E27FC236}">
                  <a16:creationId xmlns:a16="http://schemas.microsoft.com/office/drawing/2014/main" id="{D49066AA-BC11-44A9-9377-BE7902DCDD45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355250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Прямая соединительная линия 156">
              <a:extLst>
                <a:ext uri="{FF2B5EF4-FFF2-40B4-BE49-F238E27FC236}">
                  <a16:creationId xmlns:a16="http://schemas.microsoft.com/office/drawing/2014/main" id="{73C2BB50-5B56-49E2-AF8C-C424749C1747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422034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Прямая соединительная линия 157">
              <a:extLst>
                <a:ext uri="{FF2B5EF4-FFF2-40B4-BE49-F238E27FC236}">
                  <a16:creationId xmlns:a16="http://schemas.microsoft.com/office/drawing/2014/main" id="{5FEF42BA-C11B-4862-8C0A-2458FC9A2047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Прямая соединительная линия 158">
              <a:extLst>
                <a:ext uri="{FF2B5EF4-FFF2-40B4-BE49-F238E27FC236}">
                  <a16:creationId xmlns:a16="http://schemas.microsoft.com/office/drawing/2014/main" id="{4884A51D-2361-4787-8D60-08A0E9A4956C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288467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Прямая соединительная линия 159">
              <a:extLst>
                <a:ext uri="{FF2B5EF4-FFF2-40B4-BE49-F238E27FC236}">
                  <a16:creationId xmlns:a16="http://schemas.microsoft.com/office/drawing/2014/main" id="{E9C534EC-67A4-4949-9742-D15CE1A3307B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1549003"/>
              <a:ext cx="1198591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7" name="Группа 1056">
            <a:extLst>
              <a:ext uri="{FF2B5EF4-FFF2-40B4-BE49-F238E27FC236}">
                <a16:creationId xmlns:a16="http://schemas.microsoft.com/office/drawing/2014/main" id="{D8F41D1E-3CFB-4831-9425-169403AA0E7D}"/>
              </a:ext>
            </a:extLst>
          </p:cNvPr>
          <p:cNvGrpSpPr/>
          <p:nvPr/>
        </p:nvGrpSpPr>
        <p:grpSpPr>
          <a:xfrm>
            <a:off x="6452045" y="1541458"/>
            <a:ext cx="1198591" cy="2678885"/>
            <a:chOff x="6452045" y="1541458"/>
            <a:chExt cx="1198591" cy="2678885"/>
          </a:xfrm>
        </p:grpSpPr>
        <p:cxnSp>
          <p:nvCxnSpPr>
            <p:cNvPr id="161" name="Прямая соединительная линия 160">
              <a:extLst>
                <a:ext uri="{FF2B5EF4-FFF2-40B4-BE49-F238E27FC236}">
                  <a16:creationId xmlns:a16="http://schemas.microsoft.com/office/drawing/2014/main" id="{25D5AECF-0E9F-440C-BA8A-B8129500B47D}"/>
                </a:ext>
              </a:extLst>
            </p:cNvPr>
            <p:cNvCxnSpPr/>
            <p:nvPr/>
          </p:nvCxnSpPr>
          <p:spPr>
            <a:xfrm>
              <a:off x="6452045" y="154900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Прямая соединительная линия 161">
              <a:extLst>
                <a:ext uri="{FF2B5EF4-FFF2-40B4-BE49-F238E27FC236}">
                  <a16:creationId xmlns:a16="http://schemas.microsoft.com/office/drawing/2014/main" id="{0E92E113-065E-4B36-983B-AACB32D7B533}"/>
                </a:ext>
              </a:extLst>
            </p:cNvPr>
            <p:cNvCxnSpPr/>
            <p:nvPr/>
          </p:nvCxnSpPr>
          <p:spPr>
            <a:xfrm>
              <a:off x="6452045" y="221683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Прямая соединительная линия 162">
              <a:extLst>
                <a:ext uri="{FF2B5EF4-FFF2-40B4-BE49-F238E27FC236}">
                  <a16:creationId xmlns:a16="http://schemas.microsoft.com/office/drawing/2014/main" id="{FEBDEC14-06A5-4D2F-BAA6-4EBF87CA937E}"/>
                </a:ext>
              </a:extLst>
            </p:cNvPr>
            <p:cNvCxnSpPr/>
            <p:nvPr/>
          </p:nvCxnSpPr>
          <p:spPr>
            <a:xfrm flipV="1">
              <a:off x="6452045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Прямая соединительная линия 163">
              <a:extLst>
                <a:ext uri="{FF2B5EF4-FFF2-40B4-BE49-F238E27FC236}">
                  <a16:creationId xmlns:a16="http://schemas.microsoft.com/office/drawing/2014/main" id="{87D4EC83-4554-4302-8FF1-39CA57A85087}"/>
                </a:ext>
              </a:extLst>
            </p:cNvPr>
            <p:cNvCxnSpPr/>
            <p:nvPr/>
          </p:nvCxnSpPr>
          <p:spPr>
            <a:xfrm flipV="1">
              <a:off x="6452045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Прямая соединительная линия 164">
              <a:extLst>
                <a:ext uri="{FF2B5EF4-FFF2-40B4-BE49-F238E27FC236}">
                  <a16:creationId xmlns:a16="http://schemas.microsoft.com/office/drawing/2014/main" id="{9CD9309D-07FC-4971-8639-EE53AB14C913}"/>
                </a:ext>
              </a:extLst>
            </p:cNvPr>
            <p:cNvCxnSpPr/>
            <p:nvPr/>
          </p:nvCxnSpPr>
          <p:spPr>
            <a:xfrm flipV="1">
              <a:off x="6452045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Прямая соединительная линия 165">
              <a:extLst>
                <a:ext uri="{FF2B5EF4-FFF2-40B4-BE49-F238E27FC236}">
                  <a16:creationId xmlns:a16="http://schemas.microsoft.com/office/drawing/2014/main" id="{D949FB02-200E-45BA-9017-B4FA81FB38A0}"/>
                </a:ext>
              </a:extLst>
            </p:cNvPr>
            <p:cNvCxnSpPr/>
            <p:nvPr/>
          </p:nvCxnSpPr>
          <p:spPr>
            <a:xfrm flipV="1">
              <a:off x="6452045" y="1549003"/>
              <a:ext cx="1198591" cy="6764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Прямая соединительная линия 166">
              <a:extLst>
                <a:ext uri="{FF2B5EF4-FFF2-40B4-BE49-F238E27FC236}">
                  <a16:creationId xmlns:a16="http://schemas.microsoft.com/office/drawing/2014/main" id="{5332E469-0EB8-4A06-B448-DE8C768A4AE1}"/>
                </a:ext>
              </a:extLst>
            </p:cNvPr>
            <p:cNvCxnSpPr/>
            <p:nvPr/>
          </p:nvCxnSpPr>
          <p:spPr>
            <a:xfrm>
              <a:off x="6452045" y="154900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Прямая соединительная линия 167">
              <a:extLst>
                <a:ext uri="{FF2B5EF4-FFF2-40B4-BE49-F238E27FC236}">
                  <a16:creationId xmlns:a16="http://schemas.microsoft.com/office/drawing/2014/main" id="{0FE640E8-E069-4ACA-9E73-DBCD22E47337}"/>
                </a:ext>
              </a:extLst>
            </p:cNvPr>
            <p:cNvCxnSpPr/>
            <p:nvPr/>
          </p:nvCxnSpPr>
          <p:spPr>
            <a:xfrm flipV="1">
              <a:off x="6452045" y="154900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Прямая соединительная линия 168">
              <a:extLst>
                <a:ext uri="{FF2B5EF4-FFF2-40B4-BE49-F238E27FC236}">
                  <a16:creationId xmlns:a16="http://schemas.microsoft.com/office/drawing/2014/main" id="{50099710-C929-4CBD-9C77-7DA3CC26C300}"/>
                </a:ext>
              </a:extLst>
            </p:cNvPr>
            <p:cNvCxnSpPr/>
            <p:nvPr/>
          </p:nvCxnSpPr>
          <p:spPr>
            <a:xfrm flipV="1">
              <a:off x="6462389" y="1549003"/>
              <a:ext cx="1188247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Прямая соединительная линия 169">
              <a:extLst>
                <a:ext uri="{FF2B5EF4-FFF2-40B4-BE49-F238E27FC236}">
                  <a16:creationId xmlns:a16="http://schemas.microsoft.com/office/drawing/2014/main" id="{9AA6A97B-A957-4583-8AB8-E9412D67CD9F}"/>
                </a:ext>
              </a:extLst>
            </p:cNvPr>
            <p:cNvCxnSpPr/>
            <p:nvPr/>
          </p:nvCxnSpPr>
          <p:spPr>
            <a:xfrm flipV="1">
              <a:off x="6462389" y="1549003"/>
              <a:ext cx="1188247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Прямая соединительная линия 170">
              <a:extLst>
                <a:ext uri="{FF2B5EF4-FFF2-40B4-BE49-F238E27FC236}">
                  <a16:creationId xmlns:a16="http://schemas.microsoft.com/office/drawing/2014/main" id="{1B0B7414-8F47-474C-BE1C-007958BFE6EB}"/>
                </a:ext>
              </a:extLst>
            </p:cNvPr>
            <p:cNvCxnSpPr/>
            <p:nvPr/>
          </p:nvCxnSpPr>
          <p:spPr>
            <a:xfrm>
              <a:off x="6462389" y="1549002"/>
              <a:ext cx="1188247" cy="13356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Прямая соединительная линия 171">
              <a:extLst>
                <a:ext uri="{FF2B5EF4-FFF2-40B4-BE49-F238E27FC236}">
                  <a16:creationId xmlns:a16="http://schemas.microsoft.com/office/drawing/2014/main" id="{92C51FDA-C5F8-4640-9C34-265092D63F1B}"/>
                </a:ext>
              </a:extLst>
            </p:cNvPr>
            <p:cNvCxnSpPr/>
            <p:nvPr/>
          </p:nvCxnSpPr>
          <p:spPr>
            <a:xfrm>
              <a:off x="6452045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Прямая соединительная линия 172">
              <a:extLst>
                <a:ext uri="{FF2B5EF4-FFF2-40B4-BE49-F238E27FC236}">
                  <a16:creationId xmlns:a16="http://schemas.microsoft.com/office/drawing/2014/main" id="{C0F616B0-F494-4867-9064-5F3736A44CDB}"/>
                </a:ext>
              </a:extLst>
            </p:cNvPr>
            <p:cNvCxnSpPr/>
            <p:nvPr/>
          </p:nvCxnSpPr>
          <p:spPr>
            <a:xfrm>
              <a:off x="6462389" y="2865044"/>
              <a:ext cx="1188247" cy="196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Прямая соединительная линия 173">
              <a:extLst>
                <a:ext uri="{FF2B5EF4-FFF2-40B4-BE49-F238E27FC236}">
                  <a16:creationId xmlns:a16="http://schemas.microsoft.com/office/drawing/2014/main" id="{C65BD498-BEA3-447E-B1F8-C10BA59FA915}"/>
                </a:ext>
              </a:extLst>
            </p:cNvPr>
            <p:cNvCxnSpPr/>
            <p:nvPr/>
          </p:nvCxnSpPr>
          <p:spPr>
            <a:xfrm flipV="1">
              <a:off x="6452045" y="288467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Прямая соединительная линия 174">
              <a:extLst>
                <a:ext uri="{FF2B5EF4-FFF2-40B4-BE49-F238E27FC236}">
                  <a16:creationId xmlns:a16="http://schemas.microsoft.com/office/drawing/2014/main" id="{2CF951F9-DDA2-4284-AF29-A50B27C326B0}"/>
                </a:ext>
              </a:extLst>
            </p:cNvPr>
            <p:cNvCxnSpPr/>
            <p:nvPr/>
          </p:nvCxnSpPr>
          <p:spPr>
            <a:xfrm flipV="1">
              <a:off x="6462389" y="2884673"/>
              <a:ext cx="1188247" cy="13188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Прямая соединительная линия 175">
              <a:extLst>
                <a:ext uri="{FF2B5EF4-FFF2-40B4-BE49-F238E27FC236}">
                  <a16:creationId xmlns:a16="http://schemas.microsoft.com/office/drawing/2014/main" id="{86991C1E-C2BE-4CCD-A765-46C8612C27C1}"/>
                </a:ext>
              </a:extLst>
            </p:cNvPr>
            <p:cNvCxnSpPr/>
            <p:nvPr/>
          </p:nvCxnSpPr>
          <p:spPr>
            <a:xfrm>
              <a:off x="6462389" y="1541458"/>
              <a:ext cx="1188247" cy="20110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Прямая соединительная линия 176">
              <a:extLst>
                <a:ext uri="{FF2B5EF4-FFF2-40B4-BE49-F238E27FC236}">
                  <a16:creationId xmlns:a16="http://schemas.microsoft.com/office/drawing/2014/main" id="{87870C08-A8AE-4BDC-992C-CA23A89891AF}"/>
                </a:ext>
              </a:extLst>
            </p:cNvPr>
            <p:cNvCxnSpPr/>
            <p:nvPr/>
          </p:nvCxnSpPr>
          <p:spPr>
            <a:xfrm>
              <a:off x="6452045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Прямая соединительная линия 177">
              <a:extLst>
                <a:ext uri="{FF2B5EF4-FFF2-40B4-BE49-F238E27FC236}">
                  <a16:creationId xmlns:a16="http://schemas.microsoft.com/office/drawing/2014/main" id="{73A3CA85-DB24-448B-B74C-EBB57E75AB29}"/>
                </a:ext>
              </a:extLst>
            </p:cNvPr>
            <p:cNvCxnSpPr/>
            <p:nvPr/>
          </p:nvCxnSpPr>
          <p:spPr>
            <a:xfrm>
              <a:off x="6462389" y="2846513"/>
              <a:ext cx="1188247" cy="7059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Прямая соединительная линия 178">
              <a:extLst>
                <a:ext uri="{FF2B5EF4-FFF2-40B4-BE49-F238E27FC236}">
                  <a16:creationId xmlns:a16="http://schemas.microsoft.com/office/drawing/2014/main" id="{76533174-DFCA-4351-914C-20C7B3CBA3E9}"/>
                </a:ext>
              </a:extLst>
            </p:cNvPr>
            <p:cNvCxnSpPr/>
            <p:nvPr/>
          </p:nvCxnSpPr>
          <p:spPr>
            <a:xfrm>
              <a:off x="6452045" y="355250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Прямая соединительная линия 179">
              <a:extLst>
                <a:ext uri="{FF2B5EF4-FFF2-40B4-BE49-F238E27FC236}">
                  <a16:creationId xmlns:a16="http://schemas.microsoft.com/office/drawing/2014/main" id="{F46577AD-74D5-480A-8BC4-27ABB54B119B}"/>
                </a:ext>
              </a:extLst>
            </p:cNvPr>
            <p:cNvCxnSpPr/>
            <p:nvPr/>
          </p:nvCxnSpPr>
          <p:spPr>
            <a:xfrm flipV="1">
              <a:off x="6462389" y="3552508"/>
              <a:ext cx="1188247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Прямая соединительная линия 180">
              <a:extLst>
                <a:ext uri="{FF2B5EF4-FFF2-40B4-BE49-F238E27FC236}">
                  <a16:creationId xmlns:a16="http://schemas.microsoft.com/office/drawing/2014/main" id="{D8EB183F-0212-4B2A-9A11-52CFF45B3878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355250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Прямая соединительная линия 181">
              <a:extLst>
                <a:ext uri="{FF2B5EF4-FFF2-40B4-BE49-F238E27FC236}">
                  <a16:creationId xmlns:a16="http://schemas.microsoft.com/office/drawing/2014/main" id="{EDBCDEFD-F464-4C10-9835-7D829E503F07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422034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Прямая соединительная линия 182">
              <a:extLst>
                <a:ext uri="{FF2B5EF4-FFF2-40B4-BE49-F238E27FC236}">
                  <a16:creationId xmlns:a16="http://schemas.microsoft.com/office/drawing/2014/main" id="{0690C95B-E671-4B06-ACE5-F0B5A7217E68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Прямая соединительная линия 183">
              <a:extLst>
                <a:ext uri="{FF2B5EF4-FFF2-40B4-BE49-F238E27FC236}">
                  <a16:creationId xmlns:a16="http://schemas.microsoft.com/office/drawing/2014/main" id="{64237989-C55C-4951-9402-FCA1656E9BEE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288467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Прямая соединительная линия 184">
              <a:extLst>
                <a:ext uri="{FF2B5EF4-FFF2-40B4-BE49-F238E27FC236}">
                  <a16:creationId xmlns:a16="http://schemas.microsoft.com/office/drawing/2014/main" id="{9B7FA784-218E-4323-AF50-AB95591CE0A0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1549003"/>
              <a:ext cx="1198591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8" name="Группа 1057">
            <a:extLst>
              <a:ext uri="{FF2B5EF4-FFF2-40B4-BE49-F238E27FC236}">
                <a16:creationId xmlns:a16="http://schemas.microsoft.com/office/drawing/2014/main" id="{F22BB388-4A0A-4EEE-B41E-3464B0405E4B}"/>
              </a:ext>
            </a:extLst>
          </p:cNvPr>
          <p:cNvGrpSpPr/>
          <p:nvPr/>
        </p:nvGrpSpPr>
        <p:grpSpPr>
          <a:xfrm>
            <a:off x="8048196" y="1549003"/>
            <a:ext cx="1002471" cy="2671340"/>
            <a:chOff x="8048196" y="1549003"/>
            <a:chExt cx="1002471" cy="2671340"/>
          </a:xfrm>
        </p:grpSpPr>
        <p:cxnSp>
          <p:nvCxnSpPr>
            <p:cNvPr id="186" name="Прямая соединительная линия 185">
              <a:extLst>
                <a:ext uri="{FF2B5EF4-FFF2-40B4-BE49-F238E27FC236}">
                  <a16:creationId xmlns:a16="http://schemas.microsoft.com/office/drawing/2014/main" id="{EB5EB0B7-4042-4B60-92A4-8855CB42B34D}"/>
                </a:ext>
              </a:extLst>
            </p:cNvPr>
            <p:cNvCxnSpPr>
              <a:cxnSpLocks/>
              <a:stCxn id="84" idx="6"/>
              <a:endCxn id="95" idx="2"/>
            </p:cNvCxnSpPr>
            <p:nvPr/>
          </p:nvCxnSpPr>
          <p:spPr>
            <a:xfrm>
              <a:off x="8048196" y="1549003"/>
              <a:ext cx="1002471" cy="10802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Прямая соединительная линия 188">
              <a:extLst>
                <a:ext uri="{FF2B5EF4-FFF2-40B4-BE49-F238E27FC236}">
                  <a16:creationId xmlns:a16="http://schemas.microsoft.com/office/drawing/2014/main" id="{14620EE0-FE8A-40BE-AE07-1EA0C0EFDA2F}"/>
                </a:ext>
              </a:extLst>
            </p:cNvPr>
            <p:cNvCxnSpPr>
              <a:cxnSpLocks/>
              <a:stCxn id="84" idx="6"/>
              <a:endCxn id="96" idx="2"/>
            </p:cNvCxnSpPr>
            <p:nvPr/>
          </p:nvCxnSpPr>
          <p:spPr>
            <a:xfrm>
              <a:off x="8048196" y="1549003"/>
              <a:ext cx="1002471" cy="17480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Прямая соединительная линия 189">
              <a:extLst>
                <a:ext uri="{FF2B5EF4-FFF2-40B4-BE49-F238E27FC236}">
                  <a16:creationId xmlns:a16="http://schemas.microsoft.com/office/drawing/2014/main" id="{82BDAA52-FF73-4C3D-8BC5-CD7BDC614E00}"/>
                </a:ext>
              </a:extLst>
            </p:cNvPr>
            <p:cNvCxnSpPr>
              <a:cxnSpLocks/>
              <a:stCxn id="90" idx="6"/>
              <a:endCxn id="95" idx="2"/>
            </p:cNvCxnSpPr>
            <p:nvPr/>
          </p:nvCxnSpPr>
          <p:spPr>
            <a:xfrm>
              <a:off x="8048196" y="2216838"/>
              <a:ext cx="1002471" cy="412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Прямая соединительная линия 190">
              <a:extLst>
                <a:ext uri="{FF2B5EF4-FFF2-40B4-BE49-F238E27FC236}">
                  <a16:creationId xmlns:a16="http://schemas.microsoft.com/office/drawing/2014/main" id="{6393790B-1A25-4A11-97AA-3328B3CE8E17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8048196" y="2629216"/>
              <a:ext cx="1002471" cy="2554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Прямая соединительная линия 191">
              <a:extLst>
                <a:ext uri="{FF2B5EF4-FFF2-40B4-BE49-F238E27FC236}">
                  <a16:creationId xmlns:a16="http://schemas.microsoft.com/office/drawing/2014/main" id="{E37E355F-A8A5-4D15-8D1F-A9DBE7795B71}"/>
                </a:ext>
              </a:extLst>
            </p:cNvPr>
            <p:cNvCxnSpPr>
              <a:cxnSpLocks/>
              <a:stCxn id="93" idx="6"/>
              <a:endCxn id="95" idx="2"/>
            </p:cNvCxnSpPr>
            <p:nvPr/>
          </p:nvCxnSpPr>
          <p:spPr>
            <a:xfrm flipV="1">
              <a:off x="8048196" y="2629216"/>
              <a:ext cx="1002471" cy="9232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Прямая соединительная линия 192">
              <a:extLst>
                <a:ext uri="{FF2B5EF4-FFF2-40B4-BE49-F238E27FC236}">
                  <a16:creationId xmlns:a16="http://schemas.microsoft.com/office/drawing/2014/main" id="{44D7BA7E-4738-4B08-A654-B607454BD7F7}"/>
                </a:ext>
              </a:extLst>
            </p:cNvPr>
            <p:cNvCxnSpPr>
              <a:cxnSpLocks/>
              <a:stCxn id="94" idx="6"/>
              <a:endCxn id="96" idx="2"/>
            </p:cNvCxnSpPr>
            <p:nvPr/>
          </p:nvCxnSpPr>
          <p:spPr>
            <a:xfrm flipV="1">
              <a:off x="8048196" y="3297051"/>
              <a:ext cx="1002471" cy="9232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Прямая соединительная линия 203">
              <a:extLst>
                <a:ext uri="{FF2B5EF4-FFF2-40B4-BE49-F238E27FC236}">
                  <a16:creationId xmlns:a16="http://schemas.microsoft.com/office/drawing/2014/main" id="{A5AF110C-858E-47F3-82EF-7428F441524C}"/>
                </a:ext>
              </a:extLst>
            </p:cNvPr>
            <p:cNvCxnSpPr>
              <a:cxnSpLocks/>
              <a:stCxn id="94" idx="6"/>
              <a:endCxn id="95" idx="2"/>
            </p:cNvCxnSpPr>
            <p:nvPr/>
          </p:nvCxnSpPr>
          <p:spPr>
            <a:xfrm flipV="1">
              <a:off x="8048196" y="2629216"/>
              <a:ext cx="1002471" cy="159112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Прямая соединительная линия 204">
              <a:extLst>
                <a:ext uri="{FF2B5EF4-FFF2-40B4-BE49-F238E27FC236}">
                  <a16:creationId xmlns:a16="http://schemas.microsoft.com/office/drawing/2014/main" id="{9B349CD0-34D8-4B4F-B1D1-D94C18FAB0EC}"/>
                </a:ext>
              </a:extLst>
            </p:cNvPr>
            <p:cNvCxnSpPr>
              <a:cxnSpLocks/>
              <a:stCxn id="93" idx="6"/>
              <a:endCxn id="96" idx="2"/>
            </p:cNvCxnSpPr>
            <p:nvPr/>
          </p:nvCxnSpPr>
          <p:spPr>
            <a:xfrm flipV="1">
              <a:off x="8048196" y="3297051"/>
              <a:ext cx="1002471" cy="2554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Прямая соединительная линия 205">
              <a:extLst>
                <a:ext uri="{FF2B5EF4-FFF2-40B4-BE49-F238E27FC236}">
                  <a16:creationId xmlns:a16="http://schemas.microsoft.com/office/drawing/2014/main" id="{45D1E8BE-D32C-4EA2-A377-83901AF04435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8048196" y="2884673"/>
              <a:ext cx="1002471" cy="412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Прямая соединительная линия 207">
              <a:extLst>
                <a:ext uri="{FF2B5EF4-FFF2-40B4-BE49-F238E27FC236}">
                  <a16:creationId xmlns:a16="http://schemas.microsoft.com/office/drawing/2014/main" id="{7504E0D4-BAE4-43DD-AFD0-4BC858BAD6BF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8048196" y="2216838"/>
              <a:ext cx="1002471" cy="10802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0665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5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54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80608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Загальна схема багатошарової нейромережі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Овал 2">
            <a:extLst>
              <a:ext uri="{FF2B5EF4-FFF2-40B4-BE49-F238E27FC236}">
                <a16:creationId xmlns:a16="http://schemas.microsoft.com/office/drawing/2014/main" id="{3C2B9DE7-23F9-4172-8DA6-948926563C4A}"/>
              </a:ext>
            </a:extLst>
          </p:cNvPr>
          <p:cNvSpPr/>
          <p:nvPr/>
        </p:nvSpPr>
        <p:spPr>
          <a:xfrm>
            <a:off x="4495108" y="129354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Овал 57">
            <a:extLst>
              <a:ext uri="{FF2B5EF4-FFF2-40B4-BE49-F238E27FC236}">
                <a16:creationId xmlns:a16="http://schemas.microsoft.com/office/drawing/2014/main" id="{09A96ABA-3655-4780-AD53-C21D38CA63A7}"/>
              </a:ext>
            </a:extLst>
          </p:cNvPr>
          <p:cNvSpPr/>
          <p:nvPr/>
        </p:nvSpPr>
        <p:spPr>
          <a:xfrm>
            <a:off x="4495108" y="1961381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>
            <a:extLst>
              <a:ext uri="{FF2B5EF4-FFF2-40B4-BE49-F238E27FC236}">
                <a16:creationId xmlns:a16="http://schemas.microsoft.com/office/drawing/2014/main" id="{3E3291AB-002F-46E0-AD66-BFABF17F3505}"/>
              </a:ext>
            </a:extLst>
          </p:cNvPr>
          <p:cNvSpPr/>
          <p:nvPr/>
        </p:nvSpPr>
        <p:spPr>
          <a:xfrm>
            <a:off x="4495108" y="262921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>
            <a:extLst>
              <a:ext uri="{FF2B5EF4-FFF2-40B4-BE49-F238E27FC236}">
                <a16:creationId xmlns:a16="http://schemas.microsoft.com/office/drawing/2014/main" id="{D0854628-B8DA-4555-B526-41A5A2656F07}"/>
              </a:ext>
            </a:extLst>
          </p:cNvPr>
          <p:cNvSpPr/>
          <p:nvPr/>
        </p:nvSpPr>
        <p:spPr>
          <a:xfrm>
            <a:off x="4495108" y="3297051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>
            <a:extLst>
              <a:ext uri="{FF2B5EF4-FFF2-40B4-BE49-F238E27FC236}">
                <a16:creationId xmlns:a16="http://schemas.microsoft.com/office/drawing/2014/main" id="{1D2504DD-72B6-479D-B483-F2DBD76CE6DF}"/>
              </a:ext>
            </a:extLst>
          </p:cNvPr>
          <p:cNvSpPr/>
          <p:nvPr/>
        </p:nvSpPr>
        <p:spPr>
          <a:xfrm>
            <a:off x="4495108" y="396488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>
            <a:extLst>
              <a:ext uri="{FF2B5EF4-FFF2-40B4-BE49-F238E27FC236}">
                <a16:creationId xmlns:a16="http://schemas.microsoft.com/office/drawing/2014/main" id="{BB3DA38D-F055-46AE-8742-622CFCDC0809}"/>
              </a:ext>
            </a:extLst>
          </p:cNvPr>
          <p:cNvSpPr/>
          <p:nvPr/>
        </p:nvSpPr>
        <p:spPr>
          <a:xfrm>
            <a:off x="6016195" y="129354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>
            <a:extLst>
              <a:ext uri="{FF2B5EF4-FFF2-40B4-BE49-F238E27FC236}">
                <a16:creationId xmlns:a16="http://schemas.microsoft.com/office/drawing/2014/main" id="{5DC3382C-981E-4689-BF4D-CEED6BFA71EF}"/>
              </a:ext>
            </a:extLst>
          </p:cNvPr>
          <p:cNvSpPr/>
          <p:nvPr/>
        </p:nvSpPr>
        <p:spPr>
          <a:xfrm>
            <a:off x="6016195" y="1961381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Овал 71">
            <a:extLst>
              <a:ext uri="{FF2B5EF4-FFF2-40B4-BE49-F238E27FC236}">
                <a16:creationId xmlns:a16="http://schemas.microsoft.com/office/drawing/2014/main" id="{D0576D1A-A13A-4F7B-83D2-3EF25F8704A4}"/>
              </a:ext>
            </a:extLst>
          </p:cNvPr>
          <p:cNvSpPr/>
          <p:nvPr/>
        </p:nvSpPr>
        <p:spPr>
          <a:xfrm>
            <a:off x="6016195" y="262921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>
            <a:extLst>
              <a:ext uri="{FF2B5EF4-FFF2-40B4-BE49-F238E27FC236}">
                <a16:creationId xmlns:a16="http://schemas.microsoft.com/office/drawing/2014/main" id="{6DBE000E-2D59-4EF5-9EE8-ADB0116AB406}"/>
              </a:ext>
            </a:extLst>
          </p:cNvPr>
          <p:cNvSpPr/>
          <p:nvPr/>
        </p:nvSpPr>
        <p:spPr>
          <a:xfrm>
            <a:off x="6016195" y="3297051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>
            <a:extLst>
              <a:ext uri="{FF2B5EF4-FFF2-40B4-BE49-F238E27FC236}">
                <a16:creationId xmlns:a16="http://schemas.microsoft.com/office/drawing/2014/main" id="{DA565D4F-2B96-4B44-B9B2-A7DD395D6E99}"/>
              </a:ext>
            </a:extLst>
          </p:cNvPr>
          <p:cNvSpPr/>
          <p:nvPr/>
        </p:nvSpPr>
        <p:spPr>
          <a:xfrm>
            <a:off x="6016195" y="396488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>
            <a:extLst>
              <a:ext uri="{FF2B5EF4-FFF2-40B4-BE49-F238E27FC236}">
                <a16:creationId xmlns:a16="http://schemas.microsoft.com/office/drawing/2014/main" id="{02AC492C-3EF4-4760-B3F4-5246D23D2A4F}"/>
              </a:ext>
            </a:extLst>
          </p:cNvPr>
          <p:cNvSpPr/>
          <p:nvPr/>
        </p:nvSpPr>
        <p:spPr>
          <a:xfrm>
            <a:off x="7537282" y="129354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Овал 89">
            <a:extLst>
              <a:ext uri="{FF2B5EF4-FFF2-40B4-BE49-F238E27FC236}">
                <a16:creationId xmlns:a16="http://schemas.microsoft.com/office/drawing/2014/main" id="{1AFBA6D0-9F7E-458B-9D2E-FEBBC0CCFDD6}"/>
              </a:ext>
            </a:extLst>
          </p:cNvPr>
          <p:cNvSpPr/>
          <p:nvPr/>
        </p:nvSpPr>
        <p:spPr>
          <a:xfrm>
            <a:off x="7537282" y="1961381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Овал 90">
            <a:extLst>
              <a:ext uri="{FF2B5EF4-FFF2-40B4-BE49-F238E27FC236}">
                <a16:creationId xmlns:a16="http://schemas.microsoft.com/office/drawing/2014/main" id="{ED6B31BD-68D5-4624-8F7F-3803DAD759DA}"/>
              </a:ext>
            </a:extLst>
          </p:cNvPr>
          <p:cNvSpPr/>
          <p:nvPr/>
        </p:nvSpPr>
        <p:spPr>
          <a:xfrm>
            <a:off x="7537282" y="262921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Овал 92">
            <a:extLst>
              <a:ext uri="{FF2B5EF4-FFF2-40B4-BE49-F238E27FC236}">
                <a16:creationId xmlns:a16="http://schemas.microsoft.com/office/drawing/2014/main" id="{68B07899-0BC9-476F-9E67-C9B9C25F6060}"/>
              </a:ext>
            </a:extLst>
          </p:cNvPr>
          <p:cNvSpPr/>
          <p:nvPr/>
        </p:nvSpPr>
        <p:spPr>
          <a:xfrm>
            <a:off x="7537282" y="3297051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Овал 93">
            <a:extLst>
              <a:ext uri="{FF2B5EF4-FFF2-40B4-BE49-F238E27FC236}">
                <a16:creationId xmlns:a16="http://schemas.microsoft.com/office/drawing/2014/main" id="{239FCCBF-DE6B-4231-AAAA-2B68080FDB69}"/>
              </a:ext>
            </a:extLst>
          </p:cNvPr>
          <p:cNvSpPr/>
          <p:nvPr/>
        </p:nvSpPr>
        <p:spPr>
          <a:xfrm>
            <a:off x="7537282" y="3964886"/>
            <a:ext cx="510914" cy="510914"/>
          </a:xfrm>
          <a:prstGeom prst="ellipse">
            <a:avLst/>
          </a:prstGeom>
          <a:solidFill>
            <a:srgbClr val="92D050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Овал 94">
            <a:extLst>
              <a:ext uri="{FF2B5EF4-FFF2-40B4-BE49-F238E27FC236}">
                <a16:creationId xmlns:a16="http://schemas.microsoft.com/office/drawing/2014/main" id="{48969BAB-5224-43BD-BD51-5138AB4D4D64}"/>
              </a:ext>
            </a:extLst>
          </p:cNvPr>
          <p:cNvSpPr/>
          <p:nvPr/>
        </p:nvSpPr>
        <p:spPr>
          <a:xfrm>
            <a:off x="9050667" y="2373759"/>
            <a:ext cx="510914" cy="51091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Овал 95">
            <a:extLst>
              <a:ext uri="{FF2B5EF4-FFF2-40B4-BE49-F238E27FC236}">
                <a16:creationId xmlns:a16="http://schemas.microsoft.com/office/drawing/2014/main" id="{38E7C92B-0B63-4112-9703-72231716F6E1}"/>
              </a:ext>
            </a:extLst>
          </p:cNvPr>
          <p:cNvSpPr/>
          <p:nvPr/>
        </p:nvSpPr>
        <p:spPr>
          <a:xfrm>
            <a:off x="9050667" y="3041594"/>
            <a:ext cx="510914" cy="51091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Овал 96">
            <a:extLst>
              <a:ext uri="{FF2B5EF4-FFF2-40B4-BE49-F238E27FC236}">
                <a16:creationId xmlns:a16="http://schemas.microsoft.com/office/drawing/2014/main" id="{4CF6177B-78D9-41D4-B616-ECFFD4462A0E}"/>
              </a:ext>
            </a:extLst>
          </p:cNvPr>
          <p:cNvSpPr/>
          <p:nvPr/>
        </p:nvSpPr>
        <p:spPr>
          <a:xfrm>
            <a:off x="2785603" y="1293546"/>
            <a:ext cx="510914" cy="510914"/>
          </a:xfrm>
          <a:prstGeom prst="ellipse">
            <a:avLst/>
          </a:prstGeom>
          <a:solidFill>
            <a:srgbClr val="FFFF0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Овал 97">
            <a:extLst>
              <a:ext uri="{FF2B5EF4-FFF2-40B4-BE49-F238E27FC236}">
                <a16:creationId xmlns:a16="http://schemas.microsoft.com/office/drawing/2014/main" id="{C7B0CDB2-7C07-4A3A-812D-36D0EE470436}"/>
              </a:ext>
            </a:extLst>
          </p:cNvPr>
          <p:cNvSpPr/>
          <p:nvPr/>
        </p:nvSpPr>
        <p:spPr>
          <a:xfrm>
            <a:off x="2785603" y="1961381"/>
            <a:ext cx="510914" cy="510914"/>
          </a:xfrm>
          <a:prstGeom prst="ellipse">
            <a:avLst/>
          </a:prstGeom>
          <a:solidFill>
            <a:srgbClr val="FFFF0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9" name="Овал 98">
            <a:extLst>
              <a:ext uri="{FF2B5EF4-FFF2-40B4-BE49-F238E27FC236}">
                <a16:creationId xmlns:a16="http://schemas.microsoft.com/office/drawing/2014/main" id="{C832FB1E-0066-47A5-8F87-32A39E280194}"/>
              </a:ext>
            </a:extLst>
          </p:cNvPr>
          <p:cNvSpPr/>
          <p:nvPr/>
        </p:nvSpPr>
        <p:spPr>
          <a:xfrm>
            <a:off x="2785603" y="2629216"/>
            <a:ext cx="510914" cy="510914"/>
          </a:xfrm>
          <a:prstGeom prst="ellipse">
            <a:avLst/>
          </a:prstGeom>
          <a:solidFill>
            <a:srgbClr val="FFFF0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>
            <a:extLst>
              <a:ext uri="{FF2B5EF4-FFF2-40B4-BE49-F238E27FC236}">
                <a16:creationId xmlns:a16="http://schemas.microsoft.com/office/drawing/2014/main" id="{2CF1A7F4-FB08-4DFC-906C-CC69050944D7}"/>
              </a:ext>
            </a:extLst>
          </p:cNvPr>
          <p:cNvSpPr/>
          <p:nvPr/>
        </p:nvSpPr>
        <p:spPr>
          <a:xfrm>
            <a:off x="2785603" y="3297051"/>
            <a:ext cx="510914" cy="510914"/>
          </a:xfrm>
          <a:prstGeom prst="ellipse">
            <a:avLst/>
          </a:prstGeom>
          <a:solidFill>
            <a:srgbClr val="FFFF0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>
            <a:extLst>
              <a:ext uri="{FF2B5EF4-FFF2-40B4-BE49-F238E27FC236}">
                <a16:creationId xmlns:a16="http://schemas.microsoft.com/office/drawing/2014/main" id="{D3A0EA60-D152-41CE-9911-156EE0C2B057}"/>
              </a:ext>
            </a:extLst>
          </p:cNvPr>
          <p:cNvSpPr/>
          <p:nvPr/>
        </p:nvSpPr>
        <p:spPr>
          <a:xfrm>
            <a:off x="2785603" y="3964886"/>
            <a:ext cx="510914" cy="510914"/>
          </a:xfrm>
          <a:prstGeom prst="ellipse">
            <a:avLst/>
          </a:prstGeom>
          <a:solidFill>
            <a:srgbClr val="FFFF0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055" name="Группа 1054">
            <a:extLst>
              <a:ext uri="{FF2B5EF4-FFF2-40B4-BE49-F238E27FC236}">
                <a16:creationId xmlns:a16="http://schemas.microsoft.com/office/drawing/2014/main" id="{DAD01C2B-9FD6-4091-A51E-CABF51F73165}"/>
              </a:ext>
            </a:extLst>
          </p:cNvPr>
          <p:cNvGrpSpPr/>
          <p:nvPr/>
        </p:nvGrpSpPr>
        <p:grpSpPr>
          <a:xfrm>
            <a:off x="3296517" y="1541458"/>
            <a:ext cx="1198591" cy="2678885"/>
            <a:chOff x="3296517" y="1541458"/>
            <a:chExt cx="1198591" cy="2678885"/>
          </a:xfrm>
        </p:grpSpPr>
        <p:cxnSp>
          <p:nvCxnSpPr>
            <p:cNvPr id="5" name="Прямая соединительная линия 4">
              <a:extLst>
                <a:ext uri="{FF2B5EF4-FFF2-40B4-BE49-F238E27FC236}">
                  <a16:creationId xmlns:a16="http://schemas.microsoft.com/office/drawing/2014/main" id="{9D021D14-77AC-48EB-8046-922C5BAF82E3}"/>
                </a:ext>
              </a:extLst>
            </p:cNvPr>
            <p:cNvCxnSpPr>
              <a:stCxn id="97" idx="6"/>
              <a:endCxn id="58" idx="2"/>
            </p:cNvCxnSpPr>
            <p:nvPr/>
          </p:nvCxnSpPr>
          <p:spPr>
            <a:xfrm>
              <a:off x="3296517" y="154900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D5E88884-6878-4C2B-88A3-38AFD30706BB}"/>
                </a:ext>
              </a:extLst>
            </p:cNvPr>
            <p:cNvCxnSpPr>
              <a:stCxn id="98" idx="6"/>
              <a:endCxn id="58" idx="2"/>
            </p:cNvCxnSpPr>
            <p:nvPr/>
          </p:nvCxnSpPr>
          <p:spPr>
            <a:xfrm>
              <a:off x="3296517" y="221683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единительная линия 10">
              <a:extLst>
                <a:ext uri="{FF2B5EF4-FFF2-40B4-BE49-F238E27FC236}">
                  <a16:creationId xmlns:a16="http://schemas.microsoft.com/office/drawing/2014/main" id="{90F60BB4-7EC6-406B-A352-27CD389C7CFB}"/>
                </a:ext>
              </a:extLst>
            </p:cNvPr>
            <p:cNvCxnSpPr>
              <a:endCxn id="58" idx="2"/>
            </p:cNvCxnSpPr>
            <p:nvPr/>
          </p:nvCxnSpPr>
          <p:spPr>
            <a:xfrm flipV="1">
              <a:off x="3296517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43A95EC0-EE5B-46DF-BD13-CCFC4E21E158}"/>
                </a:ext>
              </a:extLst>
            </p:cNvPr>
            <p:cNvCxnSpPr>
              <a:stCxn id="114" idx="6"/>
              <a:endCxn id="58" idx="2"/>
            </p:cNvCxnSpPr>
            <p:nvPr/>
          </p:nvCxnSpPr>
          <p:spPr>
            <a:xfrm flipV="1">
              <a:off x="3296517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3DF1B865-1687-4E58-A161-F03B05097487}"/>
                </a:ext>
              </a:extLst>
            </p:cNvPr>
            <p:cNvCxnSpPr>
              <a:stCxn id="115" idx="6"/>
              <a:endCxn id="58" idx="2"/>
            </p:cNvCxnSpPr>
            <p:nvPr/>
          </p:nvCxnSpPr>
          <p:spPr>
            <a:xfrm flipV="1">
              <a:off x="3296517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5D77FF16-489A-4B8C-95FE-D9C6BB437B7C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296517" y="1549003"/>
              <a:ext cx="1198591" cy="6764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67F9C199-D1F5-459B-93C7-583E371EF5AE}"/>
                </a:ext>
              </a:extLst>
            </p:cNvPr>
            <p:cNvCxnSpPr>
              <a:stCxn id="97" idx="6"/>
              <a:endCxn id="3" idx="2"/>
            </p:cNvCxnSpPr>
            <p:nvPr/>
          </p:nvCxnSpPr>
          <p:spPr>
            <a:xfrm>
              <a:off x="3296517" y="154900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D150E30C-2456-4A33-A772-DC6BAB426F42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296517" y="154900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32937064-4A21-4231-89AF-155084EBFEC4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306861" y="1549003"/>
              <a:ext cx="1188247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Прямая соединительная линия 24">
              <a:extLst>
                <a:ext uri="{FF2B5EF4-FFF2-40B4-BE49-F238E27FC236}">
                  <a16:creationId xmlns:a16="http://schemas.microsoft.com/office/drawing/2014/main" id="{832519CB-8519-4D82-AA3E-196C0795503C}"/>
                </a:ext>
              </a:extLst>
            </p:cNvPr>
            <p:cNvCxnSpPr>
              <a:endCxn id="3" idx="2"/>
            </p:cNvCxnSpPr>
            <p:nvPr/>
          </p:nvCxnSpPr>
          <p:spPr>
            <a:xfrm flipV="1">
              <a:off x="3306861" y="1549003"/>
              <a:ext cx="1188247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380720A4-26D2-417C-BA2C-C27D417808EC}"/>
                </a:ext>
              </a:extLst>
            </p:cNvPr>
            <p:cNvCxnSpPr>
              <a:endCxn id="59" idx="2"/>
            </p:cNvCxnSpPr>
            <p:nvPr/>
          </p:nvCxnSpPr>
          <p:spPr>
            <a:xfrm>
              <a:off x="3306861" y="1549002"/>
              <a:ext cx="1188247" cy="13356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29971ABB-FE27-43A7-9CE4-D5E7DDC403E8}"/>
                </a:ext>
              </a:extLst>
            </p:cNvPr>
            <p:cNvCxnSpPr>
              <a:stCxn id="98" idx="6"/>
              <a:endCxn id="59" idx="2"/>
            </p:cNvCxnSpPr>
            <p:nvPr/>
          </p:nvCxnSpPr>
          <p:spPr>
            <a:xfrm>
              <a:off x="3296517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801966AE-607F-48C2-914E-09BD6ABF91C5}"/>
                </a:ext>
              </a:extLst>
            </p:cNvPr>
            <p:cNvCxnSpPr>
              <a:endCxn id="59" idx="2"/>
            </p:cNvCxnSpPr>
            <p:nvPr/>
          </p:nvCxnSpPr>
          <p:spPr>
            <a:xfrm>
              <a:off x="3306861" y="2865044"/>
              <a:ext cx="1188247" cy="196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Прямая соединительная линия 32">
              <a:extLst>
                <a:ext uri="{FF2B5EF4-FFF2-40B4-BE49-F238E27FC236}">
                  <a16:creationId xmlns:a16="http://schemas.microsoft.com/office/drawing/2014/main" id="{41B87B56-A6FC-491F-B043-3A047793CF3E}"/>
                </a:ext>
              </a:extLst>
            </p:cNvPr>
            <p:cNvCxnSpPr>
              <a:stCxn id="114" idx="6"/>
              <a:endCxn id="59" idx="2"/>
            </p:cNvCxnSpPr>
            <p:nvPr/>
          </p:nvCxnSpPr>
          <p:spPr>
            <a:xfrm flipV="1">
              <a:off x="3296517" y="288467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4082321-CD26-4640-ADDD-BC0BAB1D306A}"/>
                </a:ext>
              </a:extLst>
            </p:cNvPr>
            <p:cNvCxnSpPr>
              <a:endCxn id="59" idx="2"/>
            </p:cNvCxnSpPr>
            <p:nvPr/>
          </p:nvCxnSpPr>
          <p:spPr>
            <a:xfrm flipV="1">
              <a:off x="3306861" y="2884673"/>
              <a:ext cx="1188247" cy="13188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Прямая соединительная линия 36">
              <a:extLst>
                <a:ext uri="{FF2B5EF4-FFF2-40B4-BE49-F238E27FC236}">
                  <a16:creationId xmlns:a16="http://schemas.microsoft.com/office/drawing/2014/main" id="{C181812F-627B-4205-9417-362DE6841DF6}"/>
                </a:ext>
              </a:extLst>
            </p:cNvPr>
            <p:cNvCxnSpPr>
              <a:endCxn id="64" idx="2"/>
            </p:cNvCxnSpPr>
            <p:nvPr/>
          </p:nvCxnSpPr>
          <p:spPr>
            <a:xfrm>
              <a:off x="3306861" y="1541458"/>
              <a:ext cx="1188247" cy="20110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Прямая соединительная линия 38">
              <a:extLst>
                <a:ext uri="{FF2B5EF4-FFF2-40B4-BE49-F238E27FC236}">
                  <a16:creationId xmlns:a16="http://schemas.microsoft.com/office/drawing/2014/main" id="{603A0098-5BB2-4767-8CE3-F3FDD35D9F0B}"/>
                </a:ext>
              </a:extLst>
            </p:cNvPr>
            <p:cNvCxnSpPr>
              <a:stCxn id="98" idx="6"/>
              <a:endCxn id="64" idx="2"/>
            </p:cNvCxnSpPr>
            <p:nvPr/>
          </p:nvCxnSpPr>
          <p:spPr>
            <a:xfrm>
              <a:off x="3296517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Прямая соединительная линия 40">
              <a:extLst>
                <a:ext uri="{FF2B5EF4-FFF2-40B4-BE49-F238E27FC236}">
                  <a16:creationId xmlns:a16="http://schemas.microsoft.com/office/drawing/2014/main" id="{2EACBC86-4208-4D73-A7D4-F63EC67BE670}"/>
                </a:ext>
              </a:extLst>
            </p:cNvPr>
            <p:cNvCxnSpPr>
              <a:endCxn id="64" idx="2"/>
            </p:cNvCxnSpPr>
            <p:nvPr/>
          </p:nvCxnSpPr>
          <p:spPr>
            <a:xfrm>
              <a:off x="3306861" y="2846513"/>
              <a:ext cx="1188247" cy="7059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Прямая соединительная линия 42">
              <a:extLst>
                <a:ext uri="{FF2B5EF4-FFF2-40B4-BE49-F238E27FC236}">
                  <a16:creationId xmlns:a16="http://schemas.microsoft.com/office/drawing/2014/main" id="{70A0381C-5280-4A0D-A076-3FDC3E02B90B}"/>
                </a:ext>
              </a:extLst>
            </p:cNvPr>
            <p:cNvCxnSpPr>
              <a:stCxn id="114" idx="6"/>
              <a:endCxn id="64" idx="2"/>
            </p:cNvCxnSpPr>
            <p:nvPr/>
          </p:nvCxnSpPr>
          <p:spPr>
            <a:xfrm>
              <a:off x="3296517" y="355250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Прямая соединительная линия 45">
              <a:extLst>
                <a:ext uri="{FF2B5EF4-FFF2-40B4-BE49-F238E27FC236}">
                  <a16:creationId xmlns:a16="http://schemas.microsoft.com/office/drawing/2014/main" id="{196D55FE-7CF8-4EF0-870A-900013D15828}"/>
                </a:ext>
              </a:extLst>
            </p:cNvPr>
            <p:cNvCxnSpPr>
              <a:endCxn id="64" idx="2"/>
            </p:cNvCxnSpPr>
            <p:nvPr/>
          </p:nvCxnSpPr>
          <p:spPr>
            <a:xfrm flipV="1">
              <a:off x="3306861" y="3552508"/>
              <a:ext cx="1188247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Прямая соединительная линия 115">
              <a:extLst>
                <a:ext uri="{FF2B5EF4-FFF2-40B4-BE49-F238E27FC236}">
                  <a16:creationId xmlns:a16="http://schemas.microsoft.com/office/drawing/2014/main" id="{B246DA76-AB4B-4AA2-BDE7-B7FB8B537EC9}"/>
                </a:ext>
              </a:extLst>
            </p:cNvPr>
            <p:cNvCxnSpPr>
              <a:cxnSpLocks/>
              <a:stCxn id="114" idx="6"/>
              <a:endCxn id="65" idx="2"/>
            </p:cNvCxnSpPr>
            <p:nvPr/>
          </p:nvCxnSpPr>
          <p:spPr>
            <a:xfrm>
              <a:off x="3296517" y="355250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Прямая соединительная линия 120">
              <a:extLst>
                <a:ext uri="{FF2B5EF4-FFF2-40B4-BE49-F238E27FC236}">
                  <a16:creationId xmlns:a16="http://schemas.microsoft.com/office/drawing/2014/main" id="{3549C083-E899-43D4-80AA-FFD586B68FDD}"/>
                </a:ext>
              </a:extLst>
            </p:cNvPr>
            <p:cNvCxnSpPr>
              <a:cxnSpLocks/>
              <a:stCxn id="115" idx="6"/>
              <a:endCxn id="65" idx="2"/>
            </p:cNvCxnSpPr>
            <p:nvPr/>
          </p:nvCxnSpPr>
          <p:spPr>
            <a:xfrm>
              <a:off x="3296517" y="422034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Прямая соединительная линия 121">
              <a:extLst>
                <a:ext uri="{FF2B5EF4-FFF2-40B4-BE49-F238E27FC236}">
                  <a16:creationId xmlns:a16="http://schemas.microsoft.com/office/drawing/2014/main" id="{76279CDA-12A0-4CB1-A298-CBF065BB044C}"/>
                </a:ext>
              </a:extLst>
            </p:cNvPr>
            <p:cNvCxnSpPr>
              <a:cxnSpLocks/>
              <a:stCxn id="98" idx="6"/>
              <a:endCxn id="65" idx="2"/>
            </p:cNvCxnSpPr>
            <p:nvPr/>
          </p:nvCxnSpPr>
          <p:spPr>
            <a:xfrm>
              <a:off x="3296517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Прямая соединительная линия 122">
              <a:extLst>
                <a:ext uri="{FF2B5EF4-FFF2-40B4-BE49-F238E27FC236}">
                  <a16:creationId xmlns:a16="http://schemas.microsoft.com/office/drawing/2014/main" id="{2533C81B-A3DE-4F99-834A-A1AB045CBDD2}"/>
                </a:ext>
              </a:extLst>
            </p:cNvPr>
            <p:cNvCxnSpPr>
              <a:cxnSpLocks/>
              <a:stCxn id="99" idx="6"/>
              <a:endCxn id="65" idx="2"/>
            </p:cNvCxnSpPr>
            <p:nvPr/>
          </p:nvCxnSpPr>
          <p:spPr>
            <a:xfrm>
              <a:off x="3296517" y="288467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Прямая соединительная линия 124">
              <a:extLst>
                <a:ext uri="{FF2B5EF4-FFF2-40B4-BE49-F238E27FC236}">
                  <a16:creationId xmlns:a16="http://schemas.microsoft.com/office/drawing/2014/main" id="{212C1CBF-9F49-46C3-A288-D604D6FCA147}"/>
                </a:ext>
              </a:extLst>
            </p:cNvPr>
            <p:cNvCxnSpPr>
              <a:cxnSpLocks/>
              <a:stCxn id="97" idx="6"/>
              <a:endCxn id="65" idx="2"/>
            </p:cNvCxnSpPr>
            <p:nvPr/>
          </p:nvCxnSpPr>
          <p:spPr>
            <a:xfrm>
              <a:off x="3296517" y="1549003"/>
              <a:ext cx="1198591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6" name="Группа 1055">
            <a:extLst>
              <a:ext uri="{FF2B5EF4-FFF2-40B4-BE49-F238E27FC236}">
                <a16:creationId xmlns:a16="http://schemas.microsoft.com/office/drawing/2014/main" id="{868D1843-77D9-466F-97AE-AEA219BF6379}"/>
              </a:ext>
            </a:extLst>
          </p:cNvPr>
          <p:cNvGrpSpPr/>
          <p:nvPr/>
        </p:nvGrpSpPr>
        <p:grpSpPr>
          <a:xfrm>
            <a:off x="4874281" y="1541458"/>
            <a:ext cx="1198591" cy="2678885"/>
            <a:chOff x="4874281" y="1541458"/>
            <a:chExt cx="1198591" cy="2678885"/>
          </a:xfrm>
        </p:grpSpPr>
        <p:cxnSp>
          <p:nvCxnSpPr>
            <p:cNvPr id="136" name="Прямая соединительная линия 135">
              <a:extLst>
                <a:ext uri="{FF2B5EF4-FFF2-40B4-BE49-F238E27FC236}">
                  <a16:creationId xmlns:a16="http://schemas.microsoft.com/office/drawing/2014/main" id="{5C7FB85F-CBB5-47F4-8DCB-4E99A7562F1F}"/>
                </a:ext>
              </a:extLst>
            </p:cNvPr>
            <p:cNvCxnSpPr/>
            <p:nvPr/>
          </p:nvCxnSpPr>
          <p:spPr>
            <a:xfrm>
              <a:off x="4874281" y="154900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Прямая соединительная линия 136">
              <a:extLst>
                <a:ext uri="{FF2B5EF4-FFF2-40B4-BE49-F238E27FC236}">
                  <a16:creationId xmlns:a16="http://schemas.microsoft.com/office/drawing/2014/main" id="{DB171BCC-216C-4841-9214-3C0B07FE73A0}"/>
                </a:ext>
              </a:extLst>
            </p:cNvPr>
            <p:cNvCxnSpPr/>
            <p:nvPr/>
          </p:nvCxnSpPr>
          <p:spPr>
            <a:xfrm>
              <a:off x="4874281" y="221683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Прямая соединительная линия 137">
              <a:extLst>
                <a:ext uri="{FF2B5EF4-FFF2-40B4-BE49-F238E27FC236}">
                  <a16:creationId xmlns:a16="http://schemas.microsoft.com/office/drawing/2014/main" id="{C5B6A9D1-F172-45E1-A193-A79FE60153AC}"/>
                </a:ext>
              </a:extLst>
            </p:cNvPr>
            <p:cNvCxnSpPr/>
            <p:nvPr/>
          </p:nvCxnSpPr>
          <p:spPr>
            <a:xfrm flipV="1">
              <a:off x="4874281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Прямая соединительная линия 138">
              <a:extLst>
                <a:ext uri="{FF2B5EF4-FFF2-40B4-BE49-F238E27FC236}">
                  <a16:creationId xmlns:a16="http://schemas.microsoft.com/office/drawing/2014/main" id="{C1CB345A-5E5A-4CD4-8D92-BCE1EE124F69}"/>
                </a:ext>
              </a:extLst>
            </p:cNvPr>
            <p:cNvCxnSpPr/>
            <p:nvPr/>
          </p:nvCxnSpPr>
          <p:spPr>
            <a:xfrm flipV="1">
              <a:off x="4874281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Прямая соединительная линия 139">
              <a:extLst>
                <a:ext uri="{FF2B5EF4-FFF2-40B4-BE49-F238E27FC236}">
                  <a16:creationId xmlns:a16="http://schemas.microsoft.com/office/drawing/2014/main" id="{1E0E4D00-288E-4B45-91EB-1EC0BB6E5F5D}"/>
                </a:ext>
              </a:extLst>
            </p:cNvPr>
            <p:cNvCxnSpPr/>
            <p:nvPr/>
          </p:nvCxnSpPr>
          <p:spPr>
            <a:xfrm flipV="1">
              <a:off x="4874281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Прямая соединительная линия 140">
              <a:extLst>
                <a:ext uri="{FF2B5EF4-FFF2-40B4-BE49-F238E27FC236}">
                  <a16:creationId xmlns:a16="http://schemas.microsoft.com/office/drawing/2014/main" id="{E7AAD911-2437-4033-B539-54FB4EBD8F05}"/>
                </a:ext>
              </a:extLst>
            </p:cNvPr>
            <p:cNvCxnSpPr/>
            <p:nvPr/>
          </p:nvCxnSpPr>
          <p:spPr>
            <a:xfrm flipV="1">
              <a:off x="4874281" y="1549003"/>
              <a:ext cx="1198591" cy="6764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Прямая соединительная линия 141">
              <a:extLst>
                <a:ext uri="{FF2B5EF4-FFF2-40B4-BE49-F238E27FC236}">
                  <a16:creationId xmlns:a16="http://schemas.microsoft.com/office/drawing/2014/main" id="{1C1F4CF2-77DB-4D04-A144-2ADBE2BDE1B7}"/>
                </a:ext>
              </a:extLst>
            </p:cNvPr>
            <p:cNvCxnSpPr/>
            <p:nvPr/>
          </p:nvCxnSpPr>
          <p:spPr>
            <a:xfrm>
              <a:off x="4874281" y="154900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Прямая соединительная линия 142">
              <a:extLst>
                <a:ext uri="{FF2B5EF4-FFF2-40B4-BE49-F238E27FC236}">
                  <a16:creationId xmlns:a16="http://schemas.microsoft.com/office/drawing/2014/main" id="{BD162414-783C-4F38-ABAC-75D5768BE3AA}"/>
                </a:ext>
              </a:extLst>
            </p:cNvPr>
            <p:cNvCxnSpPr/>
            <p:nvPr/>
          </p:nvCxnSpPr>
          <p:spPr>
            <a:xfrm flipV="1">
              <a:off x="4874281" y="154900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Прямая соединительная линия 143">
              <a:extLst>
                <a:ext uri="{FF2B5EF4-FFF2-40B4-BE49-F238E27FC236}">
                  <a16:creationId xmlns:a16="http://schemas.microsoft.com/office/drawing/2014/main" id="{78AF314D-AAAB-4C7E-9AAA-AD371B029F63}"/>
                </a:ext>
              </a:extLst>
            </p:cNvPr>
            <p:cNvCxnSpPr/>
            <p:nvPr/>
          </p:nvCxnSpPr>
          <p:spPr>
            <a:xfrm flipV="1">
              <a:off x="4884625" y="1549003"/>
              <a:ext cx="1188247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Прямая соединительная линия 144">
              <a:extLst>
                <a:ext uri="{FF2B5EF4-FFF2-40B4-BE49-F238E27FC236}">
                  <a16:creationId xmlns:a16="http://schemas.microsoft.com/office/drawing/2014/main" id="{23F5843B-8425-41DE-9866-779760B5544A}"/>
                </a:ext>
              </a:extLst>
            </p:cNvPr>
            <p:cNvCxnSpPr/>
            <p:nvPr/>
          </p:nvCxnSpPr>
          <p:spPr>
            <a:xfrm flipV="1">
              <a:off x="4884625" y="1549003"/>
              <a:ext cx="1188247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Прямая соединительная линия 145">
              <a:extLst>
                <a:ext uri="{FF2B5EF4-FFF2-40B4-BE49-F238E27FC236}">
                  <a16:creationId xmlns:a16="http://schemas.microsoft.com/office/drawing/2014/main" id="{8003AF1F-5439-4635-B8BF-F0415D09096B}"/>
                </a:ext>
              </a:extLst>
            </p:cNvPr>
            <p:cNvCxnSpPr/>
            <p:nvPr/>
          </p:nvCxnSpPr>
          <p:spPr>
            <a:xfrm>
              <a:off x="4884625" y="1549002"/>
              <a:ext cx="1188247" cy="13356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Прямая соединительная линия 146">
              <a:extLst>
                <a:ext uri="{FF2B5EF4-FFF2-40B4-BE49-F238E27FC236}">
                  <a16:creationId xmlns:a16="http://schemas.microsoft.com/office/drawing/2014/main" id="{1C8F677D-86DF-4B3B-B590-21962AF5995A}"/>
                </a:ext>
              </a:extLst>
            </p:cNvPr>
            <p:cNvCxnSpPr/>
            <p:nvPr/>
          </p:nvCxnSpPr>
          <p:spPr>
            <a:xfrm>
              <a:off x="4874281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Прямая соединительная линия 147">
              <a:extLst>
                <a:ext uri="{FF2B5EF4-FFF2-40B4-BE49-F238E27FC236}">
                  <a16:creationId xmlns:a16="http://schemas.microsoft.com/office/drawing/2014/main" id="{195E3076-EC1E-47C9-8C54-C917079E4DCE}"/>
                </a:ext>
              </a:extLst>
            </p:cNvPr>
            <p:cNvCxnSpPr/>
            <p:nvPr/>
          </p:nvCxnSpPr>
          <p:spPr>
            <a:xfrm>
              <a:off x="4884625" y="2865044"/>
              <a:ext cx="1188247" cy="196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Прямая соединительная линия 148">
              <a:extLst>
                <a:ext uri="{FF2B5EF4-FFF2-40B4-BE49-F238E27FC236}">
                  <a16:creationId xmlns:a16="http://schemas.microsoft.com/office/drawing/2014/main" id="{37CDCAF4-0C4E-4398-B9F7-D7CA0B087A18}"/>
                </a:ext>
              </a:extLst>
            </p:cNvPr>
            <p:cNvCxnSpPr/>
            <p:nvPr/>
          </p:nvCxnSpPr>
          <p:spPr>
            <a:xfrm flipV="1">
              <a:off x="4874281" y="288467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Прямая соединительная линия 149">
              <a:extLst>
                <a:ext uri="{FF2B5EF4-FFF2-40B4-BE49-F238E27FC236}">
                  <a16:creationId xmlns:a16="http://schemas.microsoft.com/office/drawing/2014/main" id="{B0E17877-F8B7-47D9-B544-CDDD1539A495}"/>
                </a:ext>
              </a:extLst>
            </p:cNvPr>
            <p:cNvCxnSpPr/>
            <p:nvPr/>
          </p:nvCxnSpPr>
          <p:spPr>
            <a:xfrm flipV="1">
              <a:off x="4884625" y="2884673"/>
              <a:ext cx="1188247" cy="13188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Прямая соединительная линия 150">
              <a:extLst>
                <a:ext uri="{FF2B5EF4-FFF2-40B4-BE49-F238E27FC236}">
                  <a16:creationId xmlns:a16="http://schemas.microsoft.com/office/drawing/2014/main" id="{6E9407FB-A257-4C43-A103-0D46022D3475}"/>
                </a:ext>
              </a:extLst>
            </p:cNvPr>
            <p:cNvCxnSpPr/>
            <p:nvPr/>
          </p:nvCxnSpPr>
          <p:spPr>
            <a:xfrm>
              <a:off x="4884625" y="1541458"/>
              <a:ext cx="1188247" cy="20110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Прямая соединительная линия 151">
              <a:extLst>
                <a:ext uri="{FF2B5EF4-FFF2-40B4-BE49-F238E27FC236}">
                  <a16:creationId xmlns:a16="http://schemas.microsoft.com/office/drawing/2014/main" id="{63B3A905-D7C8-4349-A905-4AF8145C1A72}"/>
                </a:ext>
              </a:extLst>
            </p:cNvPr>
            <p:cNvCxnSpPr/>
            <p:nvPr/>
          </p:nvCxnSpPr>
          <p:spPr>
            <a:xfrm>
              <a:off x="4874281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Прямая соединительная линия 152">
              <a:extLst>
                <a:ext uri="{FF2B5EF4-FFF2-40B4-BE49-F238E27FC236}">
                  <a16:creationId xmlns:a16="http://schemas.microsoft.com/office/drawing/2014/main" id="{32AFAB65-4E37-466E-8EA2-27D1857959D8}"/>
                </a:ext>
              </a:extLst>
            </p:cNvPr>
            <p:cNvCxnSpPr/>
            <p:nvPr/>
          </p:nvCxnSpPr>
          <p:spPr>
            <a:xfrm>
              <a:off x="4884625" y="2846513"/>
              <a:ext cx="1188247" cy="7059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Прямая соединительная линия 153">
              <a:extLst>
                <a:ext uri="{FF2B5EF4-FFF2-40B4-BE49-F238E27FC236}">
                  <a16:creationId xmlns:a16="http://schemas.microsoft.com/office/drawing/2014/main" id="{21FE3EBE-C62E-4A33-8A3C-FEB46A10112E}"/>
                </a:ext>
              </a:extLst>
            </p:cNvPr>
            <p:cNvCxnSpPr/>
            <p:nvPr/>
          </p:nvCxnSpPr>
          <p:spPr>
            <a:xfrm>
              <a:off x="4874281" y="355250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Прямая соединительная линия 154">
              <a:extLst>
                <a:ext uri="{FF2B5EF4-FFF2-40B4-BE49-F238E27FC236}">
                  <a16:creationId xmlns:a16="http://schemas.microsoft.com/office/drawing/2014/main" id="{BF93573A-B0F3-445C-90EA-4C5E50A492D9}"/>
                </a:ext>
              </a:extLst>
            </p:cNvPr>
            <p:cNvCxnSpPr/>
            <p:nvPr/>
          </p:nvCxnSpPr>
          <p:spPr>
            <a:xfrm flipV="1">
              <a:off x="4884625" y="3552508"/>
              <a:ext cx="1188247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Прямая соединительная линия 155">
              <a:extLst>
                <a:ext uri="{FF2B5EF4-FFF2-40B4-BE49-F238E27FC236}">
                  <a16:creationId xmlns:a16="http://schemas.microsoft.com/office/drawing/2014/main" id="{D49066AA-BC11-44A9-9377-BE7902DCDD45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355250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Прямая соединительная линия 156">
              <a:extLst>
                <a:ext uri="{FF2B5EF4-FFF2-40B4-BE49-F238E27FC236}">
                  <a16:creationId xmlns:a16="http://schemas.microsoft.com/office/drawing/2014/main" id="{73C2BB50-5B56-49E2-AF8C-C424749C1747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422034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Прямая соединительная линия 157">
              <a:extLst>
                <a:ext uri="{FF2B5EF4-FFF2-40B4-BE49-F238E27FC236}">
                  <a16:creationId xmlns:a16="http://schemas.microsoft.com/office/drawing/2014/main" id="{5FEF42BA-C11B-4862-8C0A-2458FC9A2047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Прямая соединительная линия 158">
              <a:extLst>
                <a:ext uri="{FF2B5EF4-FFF2-40B4-BE49-F238E27FC236}">
                  <a16:creationId xmlns:a16="http://schemas.microsoft.com/office/drawing/2014/main" id="{4884A51D-2361-4787-8D60-08A0E9A4956C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288467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Прямая соединительная линия 159">
              <a:extLst>
                <a:ext uri="{FF2B5EF4-FFF2-40B4-BE49-F238E27FC236}">
                  <a16:creationId xmlns:a16="http://schemas.microsoft.com/office/drawing/2014/main" id="{E9C534EC-67A4-4949-9742-D15CE1A3307B}"/>
                </a:ext>
              </a:extLst>
            </p:cNvPr>
            <p:cNvCxnSpPr>
              <a:cxnSpLocks/>
            </p:cNvCxnSpPr>
            <p:nvPr/>
          </p:nvCxnSpPr>
          <p:spPr>
            <a:xfrm>
              <a:off x="4874281" y="1549003"/>
              <a:ext cx="1198591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7" name="Группа 1056">
            <a:extLst>
              <a:ext uri="{FF2B5EF4-FFF2-40B4-BE49-F238E27FC236}">
                <a16:creationId xmlns:a16="http://schemas.microsoft.com/office/drawing/2014/main" id="{D8F41D1E-3CFB-4831-9425-169403AA0E7D}"/>
              </a:ext>
            </a:extLst>
          </p:cNvPr>
          <p:cNvGrpSpPr/>
          <p:nvPr/>
        </p:nvGrpSpPr>
        <p:grpSpPr>
          <a:xfrm>
            <a:off x="6452045" y="1541458"/>
            <a:ext cx="1198591" cy="2678885"/>
            <a:chOff x="6452045" y="1541458"/>
            <a:chExt cx="1198591" cy="2678885"/>
          </a:xfrm>
        </p:grpSpPr>
        <p:cxnSp>
          <p:nvCxnSpPr>
            <p:cNvPr id="161" name="Прямая соединительная линия 160">
              <a:extLst>
                <a:ext uri="{FF2B5EF4-FFF2-40B4-BE49-F238E27FC236}">
                  <a16:creationId xmlns:a16="http://schemas.microsoft.com/office/drawing/2014/main" id="{25D5AECF-0E9F-440C-BA8A-B8129500B47D}"/>
                </a:ext>
              </a:extLst>
            </p:cNvPr>
            <p:cNvCxnSpPr/>
            <p:nvPr/>
          </p:nvCxnSpPr>
          <p:spPr>
            <a:xfrm>
              <a:off x="6452045" y="154900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Прямая соединительная линия 161">
              <a:extLst>
                <a:ext uri="{FF2B5EF4-FFF2-40B4-BE49-F238E27FC236}">
                  <a16:creationId xmlns:a16="http://schemas.microsoft.com/office/drawing/2014/main" id="{0E92E113-065E-4B36-983B-AACB32D7B533}"/>
                </a:ext>
              </a:extLst>
            </p:cNvPr>
            <p:cNvCxnSpPr/>
            <p:nvPr/>
          </p:nvCxnSpPr>
          <p:spPr>
            <a:xfrm>
              <a:off x="6452045" y="221683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Прямая соединительная линия 162">
              <a:extLst>
                <a:ext uri="{FF2B5EF4-FFF2-40B4-BE49-F238E27FC236}">
                  <a16:creationId xmlns:a16="http://schemas.microsoft.com/office/drawing/2014/main" id="{FEBDEC14-06A5-4D2F-BAA6-4EBF87CA937E}"/>
                </a:ext>
              </a:extLst>
            </p:cNvPr>
            <p:cNvCxnSpPr/>
            <p:nvPr/>
          </p:nvCxnSpPr>
          <p:spPr>
            <a:xfrm flipV="1">
              <a:off x="6452045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Прямая соединительная линия 163">
              <a:extLst>
                <a:ext uri="{FF2B5EF4-FFF2-40B4-BE49-F238E27FC236}">
                  <a16:creationId xmlns:a16="http://schemas.microsoft.com/office/drawing/2014/main" id="{87D4EC83-4554-4302-8FF1-39CA57A85087}"/>
                </a:ext>
              </a:extLst>
            </p:cNvPr>
            <p:cNvCxnSpPr/>
            <p:nvPr/>
          </p:nvCxnSpPr>
          <p:spPr>
            <a:xfrm flipV="1">
              <a:off x="6452045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Прямая соединительная линия 164">
              <a:extLst>
                <a:ext uri="{FF2B5EF4-FFF2-40B4-BE49-F238E27FC236}">
                  <a16:creationId xmlns:a16="http://schemas.microsoft.com/office/drawing/2014/main" id="{9CD9309D-07FC-4971-8639-EE53AB14C913}"/>
                </a:ext>
              </a:extLst>
            </p:cNvPr>
            <p:cNvCxnSpPr/>
            <p:nvPr/>
          </p:nvCxnSpPr>
          <p:spPr>
            <a:xfrm flipV="1">
              <a:off x="6452045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Прямая соединительная линия 165">
              <a:extLst>
                <a:ext uri="{FF2B5EF4-FFF2-40B4-BE49-F238E27FC236}">
                  <a16:creationId xmlns:a16="http://schemas.microsoft.com/office/drawing/2014/main" id="{D949FB02-200E-45BA-9017-B4FA81FB38A0}"/>
                </a:ext>
              </a:extLst>
            </p:cNvPr>
            <p:cNvCxnSpPr/>
            <p:nvPr/>
          </p:nvCxnSpPr>
          <p:spPr>
            <a:xfrm flipV="1">
              <a:off x="6452045" y="1549003"/>
              <a:ext cx="1198591" cy="6764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Прямая соединительная линия 166">
              <a:extLst>
                <a:ext uri="{FF2B5EF4-FFF2-40B4-BE49-F238E27FC236}">
                  <a16:creationId xmlns:a16="http://schemas.microsoft.com/office/drawing/2014/main" id="{5332E469-0EB8-4A06-B448-DE8C768A4AE1}"/>
                </a:ext>
              </a:extLst>
            </p:cNvPr>
            <p:cNvCxnSpPr/>
            <p:nvPr/>
          </p:nvCxnSpPr>
          <p:spPr>
            <a:xfrm>
              <a:off x="6452045" y="154900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Прямая соединительная линия 167">
              <a:extLst>
                <a:ext uri="{FF2B5EF4-FFF2-40B4-BE49-F238E27FC236}">
                  <a16:creationId xmlns:a16="http://schemas.microsoft.com/office/drawing/2014/main" id="{0FE640E8-E069-4ACA-9E73-DBCD22E47337}"/>
                </a:ext>
              </a:extLst>
            </p:cNvPr>
            <p:cNvCxnSpPr/>
            <p:nvPr/>
          </p:nvCxnSpPr>
          <p:spPr>
            <a:xfrm flipV="1">
              <a:off x="6452045" y="154900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Прямая соединительная линия 168">
              <a:extLst>
                <a:ext uri="{FF2B5EF4-FFF2-40B4-BE49-F238E27FC236}">
                  <a16:creationId xmlns:a16="http://schemas.microsoft.com/office/drawing/2014/main" id="{50099710-C929-4CBD-9C77-7DA3CC26C300}"/>
                </a:ext>
              </a:extLst>
            </p:cNvPr>
            <p:cNvCxnSpPr/>
            <p:nvPr/>
          </p:nvCxnSpPr>
          <p:spPr>
            <a:xfrm flipV="1">
              <a:off x="6462389" y="1549003"/>
              <a:ext cx="1188247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Прямая соединительная линия 169">
              <a:extLst>
                <a:ext uri="{FF2B5EF4-FFF2-40B4-BE49-F238E27FC236}">
                  <a16:creationId xmlns:a16="http://schemas.microsoft.com/office/drawing/2014/main" id="{9AA6A97B-A957-4583-8AB8-E9412D67CD9F}"/>
                </a:ext>
              </a:extLst>
            </p:cNvPr>
            <p:cNvCxnSpPr/>
            <p:nvPr/>
          </p:nvCxnSpPr>
          <p:spPr>
            <a:xfrm flipV="1">
              <a:off x="6462389" y="1549003"/>
              <a:ext cx="1188247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Прямая соединительная линия 170">
              <a:extLst>
                <a:ext uri="{FF2B5EF4-FFF2-40B4-BE49-F238E27FC236}">
                  <a16:creationId xmlns:a16="http://schemas.microsoft.com/office/drawing/2014/main" id="{1B0B7414-8F47-474C-BE1C-007958BFE6EB}"/>
                </a:ext>
              </a:extLst>
            </p:cNvPr>
            <p:cNvCxnSpPr/>
            <p:nvPr/>
          </p:nvCxnSpPr>
          <p:spPr>
            <a:xfrm>
              <a:off x="6462389" y="1549002"/>
              <a:ext cx="1188247" cy="13356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Прямая соединительная линия 171">
              <a:extLst>
                <a:ext uri="{FF2B5EF4-FFF2-40B4-BE49-F238E27FC236}">
                  <a16:creationId xmlns:a16="http://schemas.microsoft.com/office/drawing/2014/main" id="{92C51FDA-C5F8-4640-9C34-265092D63F1B}"/>
                </a:ext>
              </a:extLst>
            </p:cNvPr>
            <p:cNvCxnSpPr/>
            <p:nvPr/>
          </p:nvCxnSpPr>
          <p:spPr>
            <a:xfrm>
              <a:off x="6452045" y="221683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Прямая соединительная линия 172">
              <a:extLst>
                <a:ext uri="{FF2B5EF4-FFF2-40B4-BE49-F238E27FC236}">
                  <a16:creationId xmlns:a16="http://schemas.microsoft.com/office/drawing/2014/main" id="{C0F616B0-F494-4867-9064-5F3736A44CDB}"/>
                </a:ext>
              </a:extLst>
            </p:cNvPr>
            <p:cNvCxnSpPr/>
            <p:nvPr/>
          </p:nvCxnSpPr>
          <p:spPr>
            <a:xfrm>
              <a:off x="6462389" y="2865044"/>
              <a:ext cx="1188247" cy="196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Прямая соединительная линия 173">
              <a:extLst>
                <a:ext uri="{FF2B5EF4-FFF2-40B4-BE49-F238E27FC236}">
                  <a16:creationId xmlns:a16="http://schemas.microsoft.com/office/drawing/2014/main" id="{C65BD498-BEA3-447E-B1F8-C10BA59FA915}"/>
                </a:ext>
              </a:extLst>
            </p:cNvPr>
            <p:cNvCxnSpPr/>
            <p:nvPr/>
          </p:nvCxnSpPr>
          <p:spPr>
            <a:xfrm flipV="1">
              <a:off x="6452045" y="2884673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Прямая соединительная линия 174">
              <a:extLst>
                <a:ext uri="{FF2B5EF4-FFF2-40B4-BE49-F238E27FC236}">
                  <a16:creationId xmlns:a16="http://schemas.microsoft.com/office/drawing/2014/main" id="{2CF951F9-DDA2-4284-AF29-A50B27C326B0}"/>
                </a:ext>
              </a:extLst>
            </p:cNvPr>
            <p:cNvCxnSpPr/>
            <p:nvPr/>
          </p:nvCxnSpPr>
          <p:spPr>
            <a:xfrm flipV="1">
              <a:off x="6462389" y="2884673"/>
              <a:ext cx="1188247" cy="13188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Прямая соединительная линия 175">
              <a:extLst>
                <a:ext uri="{FF2B5EF4-FFF2-40B4-BE49-F238E27FC236}">
                  <a16:creationId xmlns:a16="http://schemas.microsoft.com/office/drawing/2014/main" id="{86991C1E-C2BE-4CCD-A765-46C8612C27C1}"/>
                </a:ext>
              </a:extLst>
            </p:cNvPr>
            <p:cNvCxnSpPr/>
            <p:nvPr/>
          </p:nvCxnSpPr>
          <p:spPr>
            <a:xfrm>
              <a:off x="6462389" y="1541458"/>
              <a:ext cx="1188247" cy="20110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Прямая соединительная линия 176">
              <a:extLst>
                <a:ext uri="{FF2B5EF4-FFF2-40B4-BE49-F238E27FC236}">
                  <a16:creationId xmlns:a16="http://schemas.microsoft.com/office/drawing/2014/main" id="{87870C08-A8AE-4BDC-992C-CA23A89891AF}"/>
                </a:ext>
              </a:extLst>
            </p:cNvPr>
            <p:cNvCxnSpPr/>
            <p:nvPr/>
          </p:nvCxnSpPr>
          <p:spPr>
            <a:xfrm>
              <a:off x="6452045" y="2216838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Прямая соединительная линия 177">
              <a:extLst>
                <a:ext uri="{FF2B5EF4-FFF2-40B4-BE49-F238E27FC236}">
                  <a16:creationId xmlns:a16="http://schemas.microsoft.com/office/drawing/2014/main" id="{73A3CA85-DB24-448B-B74C-EBB57E75AB29}"/>
                </a:ext>
              </a:extLst>
            </p:cNvPr>
            <p:cNvCxnSpPr/>
            <p:nvPr/>
          </p:nvCxnSpPr>
          <p:spPr>
            <a:xfrm>
              <a:off x="6462389" y="2846513"/>
              <a:ext cx="1188247" cy="7059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Прямая соединительная линия 178">
              <a:extLst>
                <a:ext uri="{FF2B5EF4-FFF2-40B4-BE49-F238E27FC236}">
                  <a16:creationId xmlns:a16="http://schemas.microsoft.com/office/drawing/2014/main" id="{76533174-DFCA-4351-914C-20C7B3CBA3E9}"/>
                </a:ext>
              </a:extLst>
            </p:cNvPr>
            <p:cNvCxnSpPr/>
            <p:nvPr/>
          </p:nvCxnSpPr>
          <p:spPr>
            <a:xfrm>
              <a:off x="6452045" y="3552508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Прямая соединительная линия 179">
              <a:extLst>
                <a:ext uri="{FF2B5EF4-FFF2-40B4-BE49-F238E27FC236}">
                  <a16:creationId xmlns:a16="http://schemas.microsoft.com/office/drawing/2014/main" id="{F46577AD-74D5-480A-8BC4-27ABB54B119B}"/>
                </a:ext>
              </a:extLst>
            </p:cNvPr>
            <p:cNvCxnSpPr/>
            <p:nvPr/>
          </p:nvCxnSpPr>
          <p:spPr>
            <a:xfrm flipV="1">
              <a:off x="6462389" y="3552508"/>
              <a:ext cx="1188247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Прямая соединительная линия 180">
              <a:extLst>
                <a:ext uri="{FF2B5EF4-FFF2-40B4-BE49-F238E27FC236}">
                  <a16:creationId xmlns:a16="http://schemas.microsoft.com/office/drawing/2014/main" id="{D8EB183F-0212-4B2A-9A11-52CFF45B3878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3552508"/>
              <a:ext cx="1198591" cy="6678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Прямая соединительная линия 181">
              <a:extLst>
                <a:ext uri="{FF2B5EF4-FFF2-40B4-BE49-F238E27FC236}">
                  <a16:creationId xmlns:a16="http://schemas.microsoft.com/office/drawing/2014/main" id="{EDBCDEFD-F464-4C10-9835-7D829E503F07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4220343"/>
              <a:ext cx="11985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Прямая соединительная линия 182">
              <a:extLst>
                <a:ext uri="{FF2B5EF4-FFF2-40B4-BE49-F238E27FC236}">
                  <a16:creationId xmlns:a16="http://schemas.microsoft.com/office/drawing/2014/main" id="{0690C95B-E671-4B06-ACE5-F0B5A7217E68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2216838"/>
              <a:ext cx="1198591" cy="2003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Прямая соединительная линия 183">
              <a:extLst>
                <a:ext uri="{FF2B5EF4-FFF2-40B4-BE49-F238E27FC236}">
                  <a16:creationId xmlns:a16="http://schemas.microsoft.com/office/drawing/2014/main" id="{64237989-C55C-4951-9402-FCA1656E9BEE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2884673"/>
              <a:ext cx="1198591" cy="1335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Прямая соединительная линия 184">
              <a:extLst>
                <a:ext uri="{FF2B5EF4-FFF2-40B4-BE49-F238E27FC236}">
                  <a16:creationId xmlns:a16="http://schemas.microsoft.com/office/drawing/2014/main" id="{9B7FA784-218E-4323-AF50-AB95591CE0A0}"/>
                </a:ext>
              </a:extLst>
            </p:cNvPr>
            <p:cNvCxnSpPr>
              <a:cxnSpLocks/>
            </p:cNvCxnSpPr>
            <p:nvPr/>
          </p:nvCxnSpPr>
          <p:spPr>
            <a:xfrm>
              <a:off x="6452045" y="1549003"/>
              <a:ext cx="1198591" cy="26713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8" name="Группа 1057">
            <a:extLst>
              <a:ext uri="{FF2B5EF4-FFF2-40B4-BE49-F238E27FC236}">
                <a16:creationId xmlns:a16="http://schemas.microsoft.com/office/drawing/2014/main" id="{F22BB388-4A0A-4EEE-B41E-3464B0405E4B}"/>
              </a:ext>
            </a:extLst>
          </p:cNvPr>
          <p:cNvGrpSpPr/>
          <p:nvPr/>
        </p:nvGrpSpPr>
        <p:grpSpPr>
          <a:xfrm>
            <a:off x="8048196" y="1549003"/>
            <a:ext cx="1002471" cy="2671340"/>
            <a:chOff x="8048196" y="1549003"/>
            <a:chExt cx="1002471" cy="2671340"/>
          </a:xfrm>
        </p:grpSpPr>
        <p:cxnSp>
          <p:nvCxnSpPr>
            <p:cNvPr id="186" name="Прямая соединительная линия 185">
              <a:extLst>
                <a:ext uri="{FF2B5EF4-FFF2-40B4-BE49-F238E27FC236}">
                  <a16:creationId xmlns:a16="http://schemas.microsoft.com/office/drawing/2014/main" id="{EB5EB0B7-4042-4B60-92A4-8855CB42B34D}"/>
                </a:ext>
              </a:extLst>
            </p:cNvPr>
            <p:cNvCxnSpPr>
              <a:cxnSpLocks/>
              <a:stCxn id="84" idx="6"/>
              <a:endCxn id="95" idx="2"/>
            </p:cNvCxnSpPr>
            <p:nvPr/>
          </p:nvCxnSpPr>
          <p:spPr>
            <a:xfrm>
              <a:off x="8048196" y="1549003"/>
              <a:ext cx="1002471" cy="10802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Прямая соединительная линия 188">
              <a:extLst>
                <a:ext uri="{FF2B5EF4-FFF2-40B4-BE49-F238E27FC236}">
                  <a16:creationId xmlns:a16="http://schemas.microsoft.com/office/drawing/2014/main" id="{14620EE0-FE8A-40BE-AE07-1EA0C0EFDA2F}"/>
                </a:ext>
              </a:extLst>
            </p:cNvPr>
            <p:cNvCxnSpPr>
              <a:cxnSpLocks/>
              <a:stCxn id="84" idx="6"/>
              <a:endCxn id="96" idx="2"/>
            </p:cNvCxnSpPr>
            <p:nvPr/>
          </p:nvCxnSpPr>
          <p:spPr>
            <a:xfrm>
              <a:off x="8048196" y="1549003"/>
              <a:ext cx="1002471" cy="17480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Прямая соединительная линия 189">
              <a:extLst>
                <a:ext uri="{FF2B5EF4-FFF2-40B4-BE49-F238E27FC236}">
                  <a16:creationId xmlns:a16="http://schemas.microsoft.com/office/drawing/2014/main" id="{82BDAA52-FF73-4C3D-8BC5-CD7BDC614E00}"/>
                </a:ext>
              </a:extLst>
            </p:cNvPr>
            <p:cNvCxnSpPr>
              <a:cxnSpLocks/>
              <a:stCxn id="90" idx="6"/>
              <a:endCxn id="95" idx="2"/>
            </p:cNvCxnSpPr>
            <p:nvPr/>
          </p:nvCxnSpPr>
          <p:spPr>
            <a:xfrm>
              <a:off x="8048196" y="2216838"/>
              <a:ext cx="1002471" cy="412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Прямая соединительная линия 190">
              <a:extLst>
                <a:ext uri="{FF2B5EF4-FFF2-40B4-BE49-F238E27FC236}">
                  <a16:creationId xmlns:a16="http://schemas.microsoft.com/office/drawing/2014/main" id="{6393790B-1A25-4A11-97AA-3328B3CE8E17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8048196" y="2629216"/>
              <a:ext cx="1002471" cy="2554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Прямая соединительная линия 191">
              <a:extLst>
                <a:ext uri="{FF2B5EF4-FFF2-40B4-BE49-F238E27FC236}">
                  <a16:creationId xmlns:a16="http://schemas.microsoft.com/office/drawing/2014/main" id="{E37E355F-A8A5-4D15-8D1F-A9DBE7795B71}"/>
                </a:ext>
              </a:extLst>
            </p:cNvPr>
            <p:cNvCxnSpPr>
              <a:cxnSpLocks/>
              <a:stCxn id="93" idx="6"/>
              <a:endCxn id="95" idx="2"/>
            </p:cNvCxnSpPr>
            <p:nvPr/>
          </p:nvCxnSpPr>
          <p:spPr>
            <a:xfrm flipV="1">
              <a:off x="8048196" y="2629216"/>
              <a:ext cx="1002471" cy="9232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Прямая соединительная линия 192">
              <a:extLst>
                <a:ext uri="{FF2B5EF4-FFF2-40B4-BE49-F238E27FC236}">
                  <a16:creationId xmlns:a16="http://schemas.microsoft.com/office/drawing/2014/main" id="{44D7BA7E-4738-4B08-A654-B607454BD7F7}"/>
                </a:ext>
              </a:extLst>
            </p:cNvPr>
            <p:cNvCxnSpPr>
              <a:cxnSpLocks/>
              <a:stCxn id="94" idx="6"/>
              <a:endCxn id="96" idx="2"/>
            </p:cNvCxnSpPr>
            <p:nvPr/>
          </p:nvCxnSpPr>
          <p:spPr>
            <a:xfrm flipV="1">
              <a:off x="8048196" y="3297051"/>
              <a:ext cx="1002471" cy="9232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Прямая соединительная линия 203">
              <a:extLst>
                <a:ext uri="{FF2B5EF4-FFF2-40B4-BE49-F238E27FC236}">
                  <a16:creationId xmlns:a16="http://schemas.microsoft.com/office/drawing/2014/main" id="{A5AF110C-858E-47F3-82EF-7428F441524C}"/>
                </a:ext>
              </a:extLst>
            </p:cNvPr>
            <p:cNvCxnSpPr>
              <a:cxnSpLocks/>
              <a:stCxn id="94" idx="6"/>
              <a:endCxn id="95" idx="2"/>
            </p:cNvCxnSpPr>
            <p:nvPr/>
          </p:nvCxnSpPr>
          <p:spPr>
            <a:xfrm flipV="1">
              <a:off x="8048196" y="2629216"/>
              <a:ext cx="1002471" cy="159112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Прямая соединительная линия 204">
              <a:extLst>
                <a:ext uri="{FF2B5EF4-FFF2-40B4-BE49-F238E27FC236}">
                  <a16:creationId xmlns:a16="http://schemas.microsoft.com/office/drawing/2014/main" id="{9B349CD0-34D8-4B4F-B1D1-D94C18FAB0EC}"/>
                </a:ext>
              </a:extLst>
            </p:cNvPr>
            <p:cNvCxnSpPr>
              <a:cxnSpLocks/>
              <a:stCxn id="93" idx="6"/>
              <a:endCxn id="96" idx="2"/>
            </p:cNvCxnSpPr>
            <p:nvPr/>
          </p:nvCxnSpPr>
          <p:spPr>
            <a:xfrm flipV="1">
              <a:off x="8048196" y="3297051"/>
              <a:ext cx="1002471" cy="2554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Прямая соединительная линия 205">
              <a:extLst>
                <a:ext uri="{FF2B5EF4-FFF2-40B4-BE49-F238E27FC236}">
                  <a16:creationId xmlns:a16="http://schemas.microsoft.com/office/drawing/2014/main" id="{45D1E8BE-D32C-4EA2-A377-83901AF04435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8048196" y="2884673"/>
              <a:ext cx="1002471" cy="412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Прямая соединительная линия 207">
              <a:extLst>
                <a:ext uri="{FF2B5EF4-FFF2-40B4-BE49-F238E27FC236}">
                  <a16:creationId xmlns:a16="http://schemas.microsoft.com/office/drawing/2014/main" id="{7504E0D4-BAE4-43DD-AFD0-4BC858BAD6BF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8048196" y="2216838"/>
              <a:ext cx="1002471" cy="10802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7" name="TextBox 186">
            <a:extLst>
              <a:ext uri="{FF2B5EF4-FFF2-40B4-BE49-F238E27FC236}">
                <a16:creationId xmlns:a16="http://schemas.microsoft.com/office/drawing/2014/main" id="{D29BA00D-4AE4-447E-A3C9-54518FF46717}"/>
              </a:ext>
            </a:extLst>
          </p:cNvPr>
          <p:cNvSpPr txBox="1"/>
          <p:nvPr/>
        </p:nvSpPr>
        <p:spPr>
          <a:xfrm>
            <a:off x="554959" y="5233460"/>
            <a:ext cx="233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800" dirty="0">
                <a:solidFill>
                  <a:schemeClr val="bg1"/>
                </a:solidFill>
                <a:latin typeface="Montserrat Medium" panose="00000600000000000000" pitchFamily="2" charset="-52"/>
              </a:rPr>
              <a:t>Вхідні параметри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3EC99169-EE1D-45A5-9F8D-3875076D1FE2}"/>
              </a:ext>
            </a:extLst>
          </p:cNvPr>
          <p:cNvSpPr txBox="1"/>
          <p:nvPr/>
        </p:nvSpPr>
        <p:spPr>
          <a:xfrm>
            <a:off x="3677726" y="5308997"/>
            <a:ext cx="233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800" dirty="0">
                <a:solidFill>
                  <a:schemeClr val="bg1"/>
                </a:solidFill>
                <a:latin typeface="Montserrat Medium" panose="00000600000000000000" pitchFamily="2" charset="-52"/>
              </a:rPr>
              <a:t>Приховані шари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39B30BBA-9AF9-4228-805C-D4716315DD55}"/>
              </a:ext>
            </a:extLst>
          </p:cNvPr>
          <p:cNvSpPr txBox="1"/>
          <p:nvPr/>
        </p:nvSpPr>
        <p:spPr>
          <a:xfrm>
            <a:off x="8769774" y="260343"/>
            <a:ext cx="3105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800" dirty="0">
                <a:solidFill>
                  <a:schemeClr val="bg1"/>
                </a:solidFill>
                <a:latin typeface="Montserrat Medium" panose="00000600000000000000" pitchFamily="2" charset="-52"/>
              </a:rPr>
              <a:t>Вихідні параметри. </a:t>
            </a:r>
            <a:r>
              <a:rPr lang="uk-UA" dirty="0">
                <a:solidFill>
                  <a:schemeClr val="bg1"/>
                </a:solidFill>
                <a:latin typeface="Montserrat Medium" panose="00000600000000000000" pitchFamily="2" charset="-52"/>
              </a:rPr>
              <a:t>У</a:t>
            </a:r>
            <a:r>
              <a:rPr lang="uk-UA" sz="18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нашому випадку значення Х та У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27E1E30-26C1-4886-8460-0AA7F1F16CA1}"/>
              </a:ext>
            </a:extLst>
          </p:cNvPr>
          <p:cNvSpPr txBox="1"/>
          <p:nvPr/>
        </p:nvSpPr>
        <p:spPr>
          <a:xfrm>
            <a:off x="8111795" y="4915178"/>
            <a:ext cx="27255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800" dirty="0">
                <a:solidFill>
                  <a:schemeClr val="bg1"/>
                </a:solidFill>
                <a:latin typeface="Montserrat Medium" panose="00000600000000000000" pitchFamily="2" charset="-52"/>
              </a:rPr>
              <a:t>Ваги, які показують важливість кожного нейрону</a:t>
            </a:r>
          </a:p>
        </p:txBody>
      </p:sp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6957358A-7667-40CB-A58F-E2934427BD61}"/>
              </a:ext>
            </a:extLst>
          </p:cNvPr>
          <p:cNvSpPr/>
          <p:nvPr/>
        </p:nvSpPr>
        <p:spPr>
          <a:xfrm>
            <a:off x="1636092" y="2914650"/>
            <a:ext cx="716583" cy="2066925"/>
          </a:xfrm>
          <a:custGeom>
            <a:avLst/>
            <a:gdLst>
              <a:gd name="connsiteX0" fmla="*/ 49833 w 716583"/>
              <a:gd name="connsiteY0" fmla="*/ 2066925 h 2066925"/>
              <a:gd name="connsiteX1" fmla="*/ 68883 w 716583"/>
              <a:gd name="connsiteY1" fmla="*/ 1152525 h 2066925"/>
              <a:gd name="connsiteX2" fmla="*/ 716583 w 716583"/>
              <a:gd name="connsiteY2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16583" h="2066925">
                <a:moveTo>
                  <a:pt x="49833" y="2066925"/>
                </a:moveTo>
                <a:cubicBezTo>
                  <a:pt x="3795" y="1781969"/>
                  <a:pt x="-42242" y="1497013"/>
                  <a:pt x="68883" y="1152525"/>
                </a:cubicBezTo>
                <a:cubicBezTo>
                  <a:pt x="180008" y="808037"/>
                  <a:pt x="611808" y="207962"/>
                  <a:pt x="716583" y="0"/>
                </a:cubicBezTo>
              </a:path>
            </a:pathLst>
          </a:custGeom>
          <a:noFill/>
          <a:ln w="25400" cap="rnd">
            <a:solidFill>
              <a:schemeClr val="bg1"/>
            </a:solidFill>
            <a:prstDash val="dash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C2E2A4BA-00F6-4548-9A76-F7D2EDC26A13}"/>
              </a:ext>
            </a:extLst>
          </p:cNvPr>
          <p:cNvSpPr/>
          <p:nvPr/>
        </p:nvSpPr>
        <p:spPr>
          <a:xfrm>
            <a:off x="4326158" y="4514850"/>
            <a:ext cx="160117" cy="676275"/>
          </a:xfrm>
          <a:custGeom>
            <a:avLst/>
            <a:gdLst>
              <a:gd name="connsiteX0" fmla="*/ 36292 w 160117"/>
              <a:gd name="connsiteY0" fmla="*/ 676275 h 676275"/>
              <a:gd name="connsiteX1" fmla="*/ 7717 w 160117"/>
              <a:gd name="connsiteY1" fmla="*/ 295275 h 676275"/>
              <a:gd name="connsiteX2" fmla="*/ 160117 w 160117"/>
              <a:gd name="connsiteY2" fmla="*/ 0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0117" h="676275">
                <a:moveTo>
                  <a:pt x="36292" y="676275"/>
                </a:moveTo>
                <a:cubicBezTo>
                  <a:pt x="11686" y="542131"/>
                  <a:pt x="-12920" y="407987"/>
                  <a:pt x="7717" y="295275"/>
                </a:cubicBezTo>
                <a:cubicBezTo>
                  <a:pt x="28354" y="182563"/>
                  <a:pt x="94235" y="91281"/>
                  <a:pt x="160117" y="0"/>
                </a:cubicBezTo>
              </a:path>
            </a:pathLst>
          </a:custGeom>
          <a:noFill/>
          <a:ln w="25400" cap="rnd">
            <a:solidFill>
              <a:schemeClr val="bg1"/>
            </a:solidFill>
            <a:prstDash val="dash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C09D0431-43B0-4678-9198-F938E43B1A5C}"/>
              </a:ext>
            </a:extLst>
          </p:cNvPr>
          <p:cNvSpPr/>
          <p:nvPr/>
        </p:nvSpPr>
        <p:spPr>
          <a:xfrm>
            <a:off x="4781550" y="4457700"/>
            <a:ext cx="914400" cy="704850"/>
          </a:xfrm>
          <a:custGeom>
            <a:avLst/>
            <a:gdLst>
              <a:gd name="connsiteX0" fmla="*/ 0 w 914400"/>
              <a:gd name="connsiteY0" fmla="*/ 704850 h 704850"/>
              <a:gd name="connsiteX1" fmla="*/ 209550 w 914400"/>
              <a:gd name="connsiteY1" fmla="*/ 314325 h 704850"/>
              <a:gd name="connsiteX2" fmla="*/ 914400 w 914400"/>
              <a:gd name="connsiteY2" fmla="*/ 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14400" h="704850">
                <a:moveTo>
                  <a:pt x="0" y="704850"/>
                </a:moveTo>
                <a:cubicBezTo>
                  <a:pt x="28575" y="568325"/>
                  <a:pt x="57150" y="431800"/>
                  <a:pt x="209550" y="314325"/>
                </a:cubicBezTo>
                <a:cubicBezTo>
                  <a:pt x="361950" y="196850"/>
                  <a:pt x="638175" y="98425"/>
                  <a:pt x="914400" y="0"/>
                </a:cubicBezTo>
              </a:path>
            </a:pathLst>
          </a:custGeom>
          <a:noFill/>
          <a:ln w="25400" cap="rnd">
            <a:solidFill>
              <a:schemeClr val="bg1"/>
            </a:solidFill>
            <a:prstDash val="dash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A9D54DE9-2155-4FD4-B059-153075C1D848}"/>
              </a:ext>
            </a:extLst>
          </p:cNvPr>
          <p:cNvSpPr/>
          <p:nvPr/>
        </p:nvSpPr>
        <p:spPr>
          <a:xfrm>
            <a:off x="5534025" y="4457700"/>
            <a:ext cx="1933575" cy="838200"/>
          </a:xfrm>
          <a:custGeom>
            <a:avLst/>
            <a:gdLst>
              <a:gd name="connsiteX0" fmla="*/ 0 w 1933575"/>
              <a:gd name="connsiteY0" fmla="*/ 838200 h 838200"/>
              <a:gd name="connsiteX1" fmla="*/ 361950 w 1933575"/>
              <a:gd name="connsiteY1" fmla="*/ 438150 h 838200"/>
              <a:gd name="connsiteX2" fmla="*/ 923925 w 1933575"/>
              <a:gd name="connsiteY2" fmla="*/ 209550 h 838200"/>
              <a:gd name="connsiteX3" fmla="*/ 1933575 w 1933575"/>
              <a:gd name="connsiteY3" fmla="*/ 0 h 83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3575" h="838200">
                <a:moveTo>
                  <a:pt x="0" y="838200"/>
                </a:moveTo>
                <a:cubicBezTo>
                  <a:pt x="103981" y="690562"/>
                  <a:pt x="207962" y="542925"/>
                  <a:pt x="361950" y="438150"/>
                </a:cubicBezTo>
                <a:cubicBezTo>
                  <a:pt x="515938" y="333375"/>
                  <a:pt x="661987" y="282575"/>
                  <a:pt x="923925" y="209550"/>
                </a:cubicBezTo>
                <a:cubicBezTo>
                  <a:pt x="1185863" y="136525"/>
                  <a:pt x="1559719" y="68262"/>
                  <a:pt x="1933575" y="0"/>
                </a:cubicBezTo>
              </a:path>
            </a:pathLst>
          </a:custGeom>
          <a:noFill/>
          <a:ln w="25400" cap="rnd">
            <a:solidFill>
              <a:schemeClr val="bg1"/>
            </a:solidFill>
            <a:prstDash val="dash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олилиния: фигура 13">
            <a:extLst>
              <a:ext uri="{FF2B5EF4-FFF2-40B4-BE49-F238E27FC236}">
                <a16:creationId xmlns:a16="http://schemas.microsoft.com/office/drawing/2014/main" id="{38211845-3A46-420E-B65B-8AAD89302F49}"/>
              </a:ext>
            </a:extLst>
          </p:cNvPr>
          <p:cNvSpPr/>
          <p:nvPr/>
        </p:nvSpPr>
        <p:spPr>
          <a:xfrm>
            <a:off x="8791575" y="3819525"/>
            <a:ext cx="499550" cy="962025"/>
          </a:xfrm>
          <a:custGeom>
            <a:avLst/>
            <a:gdLst>
              <a:gd name="connsiteX0" fmla="*/ 485775 w 499550"/>
              <a:gd name="connsiteY0" fmla="*/ 962025 h 962025"/>
              <a:gd name="connsiteX1" fmla="*/ 438150 w 499550"/>
              <a:gd name="connsiteY1" fmla="*/ 409575 h 962025"/>
              <a:gd name="connsiteX2" fmla="*/ 0 w 499550"/>
              <a:gd name="connsiteY2" fmla="*/ 0 h 962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9550" h="962025">
                <a:moveTo>
                  <a:pt x="485775" y="962025"/>
                </a:moveTo>
                <a:cubicBezTo>
                  <a:pt x="502444" y="765968"/>
                  <a:pt x="519113" y="569912"/>
                  <a:pt x="438150" y="409575"/>
                </a:cubicBezTo>
                <a:cubicBezTo>
                  <a:pt x="357187" y="249237"/>
                  <a:pt x="178593" y="124618"/>
                  <a:pt x="0" y="0"/>
                </a:cubicBezTo>
              </a:path>
            </a:pathLst>
          </a:custGeom>
          <a:noFill/>
          <a:ln w="25400" cap="rnd">
            <a:solidFill>
              <a:schemeClr val="bg1"/>
            </a:solidFill>
            <a:prstDash val="dash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олилиния: фигура 17">
            <a:extLst>
              <a:ext uri="{FF2B5EF4-FFF2-40B4-BE49-F238E27FC236}">
                <a16:creationId xmlns:a16="http://schemas.microsoft.com/office/drawing/2014/main" id="{1BB085F0-A317-4CEC-9467-52E3481B8FFC}"/>
              </a:ext>
            </a:extLst>
          </p:cNvPr>
          <p:cNvSpPr/>
          <p:nvPr/>
        </p:nvSpPr>
        <p:spPr>
          <a:xfrm>
            <a:off x="9734550" y="1228725"/>
            <a:ext cx="1087351" cy="1952625"/>
          </a:xfrm>
          <a:custGeom>
            <a:avLst/>
            <a:gdLst>
              <a:gd name="connsiteX0" fmla="*/ 876300 w 1087351"/>
              <a:gd name="connsiteY0" fmla="*/ 0 h 1952625"/>
              <a:gd name="connsiteX1" fmla="*/ 1085850 w 1087351"/>
              <a:gd name="connsiteY1" fmla="*/ 1009650 h 1952625"/>
              <a:gd name="connsiteX2" fmla="*/ 781050 w 1087351"/>
              <a:gd name="connsiteY2" fmla="*/ 1590675 h 1952625"/>
              <a:gd name="connsiteX3" fmla="*/ 0 w 1087351"/>
              <a:gd name="connsiteY3" fmla="*/ 1952625 h 1952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7351" h="1952625">
                <a:moveTo>
                  <a:pt x="876300" y="0"/>
                </a:moveTo>
                <a:cubicBezTo>
                  <a:pt x="989012" y="372269"/>
                  <a:pt x="1101725" y="744538"/>
                  <a:pt x="1085850" y="1009650"/>
                </a:cubicBezTo>
                <a:cubicBezTo>
                  <a:pt x="1069975" y="1274762"/>
                  <a:pt x="962025" y="1433513"/>
                  <a:pt x="781050" y="1590675"/>
                </a:cubicBezTo>
                <a:cubicBezTo>
                  <a:pt x="600075" y="1747837"/>
                  <a:pt x="300037" y="1850231"/>
                  <a:pt x="0" y="1952625"/>
                </a:cubicBezTo>
              </a:path>
            </a:pathLst>
          </a:custGeom>
          <a:noFill/>
          <a:ln w="25400" cap="rnd">
            <a:solidFill>
              <a:schemeClr val="bg1"/>
            </a:solidFill>
            <a:prstDash val="dash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олилиния: фигура 19">
            <a:extLst>
              <a:ext uri="{FF2B5EF4-FFF2-40B4-BE49-F238E27FC236}">
                <a16:creationId xmlns:a16="http://schemas.microsoft.com/office/drawing/2014/main" id="{4FD6C965-8918-4BF9-9E36-6CBAEDB6B97C}"/>
              </a:ext>
            </a:extLst>
          </p:cNvPr>
          <p:cNvSpPr/>
          <p:nvPr/>
        </p:nvSpPr>
        <p:spPr>
          <a:xfrm>
            <a:off x="9753600" y="1228725"/>
            <a:ext cx="612981" cy="1314450"/>
          </a:xfrm>
          <a:custGeom>
            <a:avLst/>
            <a:gdLst>
              <a:gd name="connsiteX0" fmla="*/ 485775 w 612981"/>
              <a:gd name="connsiteY0" fmla="*/ 0 h 1314450"/>
              <a:gd name="connsiteX1" fmla="*/ 581025 w 612981"/>
              <a:gd name="connsiteY1" fmla="*/ 790575 h 1314450"/>
              <a:gd name="connsiteX2" fmla="*/ 0 w 612981"/>
              <a:gd name="connsiteY2" fmla="*/ 1314450 h 131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2981" h="1314450">
                <a:moveTo>
                  <a:pt x="485775" y="0"/>
                </a:moveTo>
                <a:cubicBezTo>
                  <a:pt x="573881" y="285750"/>
                  <a:pt x="661988" y="571500"/>
                  <a:pt x="581025" y="790575"/>
                </a:cubicBezTo>
                <a:cubicBezTo>
                  <a:pt x="500063" y="1009650"/>
                  <a:pt x="250031" y="1162050"/>
                  <a:pt x="0" y="1314450"/>
                </a:cubicBezTo>
              </a:path>
            </a:pathLst>
          </a:custGeom>
          <a:noFill/>
          <a:ln w="25400" cap="rnd">
            <a:solidFill>
              <a:schemeClr val="bg1"/>
            </a:solidFill>
            <a:prstDash val="dash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6" name="Рисунок 195">
            <a:extLst>
              <a:ext uri="{FF2B5EF4-FFF2-40B4-BE49-F238E27FC236}">
                <a16:creationId xmlns:a16="http://schemas.microsoft.com/office/drawing/2014/main" id="{B5607766-9186-4F90-A44E-DD9B42CF8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7678" y="-4217662"/>
            <a:ext cx="5257626" cy="3140820"/>
          </a:xfrm>
          <a:prstGeom prst="roundRect">
            <a:avLst>
              <a:gd name="adj" fmla="val 286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97" name="Рисунок 196">
            <a:extLst>
              <a:ext uri="{FF2B5EF4-FFF2-40B4-BE49-F238E27FC236}">
                <a16:creationId xmlns:a16="http://schemas.microsoft.com/office/drawing/2014/main" id="{CF351749-CC6D-4004-97FC-F255E4D9F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72350" y="4823145"/>
            <a:ext cx="5219700" cy="876300"/>
          </a:xfrm>
          <a:prstGeom prst="roundRect">
            <a:avLst>
              <a:gd name="adj" fmla="val 1004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198" name="!!Box_1">
            <a:extLst>
              <a:ext uri="{FF2B5EF4-FFF2-40B4-BE49-F238E27FC236}">
                <a16:creationId xmlns:a16="http://schemas.microsoft.com/office/drawing/2014/main" id="{F9D6F2BB-D9CC-4742-A908-D5D6BECD13F3}"/>
              </a:ext>
            </a:extLst>
          </p:cNvPr>
          <p:cNvSpPr/>
          <p:nvPr/>
        </p:nvSpPr>
        <p:spPr>
          <a:xfrm>
            <a:off x="-5946228" y="1158364"/>
            <a:ext cx="4884192" cy="1673838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2A19FB4-F473-4162-A6AF-ADC91A8F2096}"/>
              </a:ext>
            </a:extLst>
          </p:cNvPr>
          <p:cNvSpPr txBox="1"/>
          <p:nvPr/>
        </p:nvSpPr>
        <p:spPr>
          <a:xfrm>
            <a:off x="-5869981" y="1434425"/>
            <a:ext cx="46856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Щоб передати дані нейромережі, у бібліотеці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ML-Agents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наявний компонент </a:t>
            </a:r>
            <a:r>
              <a:rPr lang="en-US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ReyPerceptionSensor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який випускає промені та передає результат зіткнення нейромережі.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764D314-B5BC-4747-82EB-4933C4C0D21F}"/>
              </a:ext>
            </a:extLst>
          </p:cNvPr>
          <p:cNvSpPr txBox="1"/>
          <p:nvPr/>
        </p:nvSpPr>
        <p:spPr>
          <a:xfrm>
            <a:off x="6656619" y="-4656156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сенсору нейромережі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7ACE6A53-A67B-406E-816F-49B3140969A4}"/>
              </a:ext>
            </a:extLst>
          </p:cNvPr>
          <p:cNvSpPr txBox="1"/>
          <p:nvPr/>
        </p:nvSpPr>
        <p:spPr>
          <a:xfrm>
            <a:off x="-5344047" y="4387334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Метод отримання спостережень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624102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8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80608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вхідні дані нейромережі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3A2B2E8-C110-4753-A772-BF822FCD9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7678" y="2563192"/>
            <a:ext cx="5257626" cy="3140820"/>
          </a:xfrm>
          <a:prstGeom prst="roundRect">
            <a:avLst>
              <a:gd name="adj" fmla="val 286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4BA0C51-978A-4AC8-93EB-B5407E125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90" y="4823145"/>
            <a:ext cx="5219700" cy="876300"/>
          </a:xfrm>
          <a:prstGeom prst="roundRect">
            <a:avLst>
              <a:gd name="adj" fmla="val 1004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197" name="!!Box_1">
            <a:extLst>
              <a:ext uri="{FF2B5EF4-FFF2-40B4-BE49-F238E27FC236}">
                <a16:creationId xmlns:a16="http://schemas.microsoft.com/office/drawing/2014/main" id="{F9638213-49E8-4117-A3DA-C06FB5F9020B}"/>
              </a:ext>
            </a:extLst>
          </p:cNvPr>
          <p:cNvSpPr/>
          <p:nvPr/>
        </p:nvSpPr>
        <p:spPr>
          <a:xfrm>
            <a:off x="515112" y="1158364"/>
            <a:ext cx="4884192" cy="1673838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8571D73-4F7C-4663-912A-6772790F7A26}"/>
              </a:ext>
            </a:extLst>
          </p:cNvPr>
          <p:cNvSpPr txBox="1"/>
          <p:nvPr/>
        </p:nvSpPr>
        <p:spPr>
          <a:xfrm>
            <a:off x="591359" y="1434425"/>
            <a:ext cx="46856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Щоб передати дані нейромережі, у бібліотеці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ML-Agents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наявний компонент </a:t>
            </a:r>
            <a:r>
              <a:rPr lang="en-US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ReyPerceptionSensor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який випускає промені та передає результат зіткнення нейромережі.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903BC1E-D7F8-4337-8659-20E2533C787B}"/>
              </a:ext>
            </a:extLst>
          </p:cNvPr>
          <p:cNvSpPr txBox="1"/>
          <p:nvPr/>
        </p:nvSpPr>
        <p:spPr>
          <a:xfrm>
            <a:off x="6656619" y="2124698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сенсору нейромережі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28B967EC-4B29-40A4-BA5A-1B278B095CB8}"/>
              </a:ext>
            </a:extLst>
          </p:cNvPr>
          <p:cNvSpPr txBox="1"/>
          <p:nvPr/>
        </p:nvSpPr>
        <p:spPr>
          <a:xfrm>
            <a:off x="1117293" y="4387334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Метод отримання спостережень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01" name="Прямоугольник: скругленные углы 200">
            <a:extLst>
              <a:ext uri="{FF2B5EF4-FFF2-40B4-BE49-F238E27FC236}">
                <a16:creationId xmlns:a16="http://schemas.microsoft.com/office/drawing/2014/main" id="{051B5938-DFC4-4A04-9E3A-D8BE1195E258}"/>
              </a:ext>
            </a:extLst>
          </p:cNvPr>
          <p:cNvSpPr/>
          <p:nvPr/>
        </p:nvSpPr>
        <p:spPr>
          <a:xfrm>
            <a:off x="1354659" y="-3200678"/>
            <a:ext cx="3386665" cy="1132012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2" name="Прямоугольник: скругленные углы 201">
            <a:extLst>
              <a:ext uri="{FF2B5EF4-FFF2-40B4-BE49-F238E27FC236}">
                <a16:creationId xmlns:a16="http://schemas.microsoft.com/office/drawing/2014/main" id="{601AB377-7462-4040-ABCB-99E8F9C14410}"/>
              </a:ext>
            </a:extLst>
          </p:cNvPr>
          <p:cNvSpPr/>
          <p:nvPr/>
        </p:nvSpPr>
        <p:spPr>
          <a:xfrm>
            <a:off x="6699039" y="-3129665"/>
            <a:ext cx="3386665" cy="113201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6256068B-3432-40B4-B371-3ED121B6BE67}"/>
              </a:ext>
            </a:extLst>
          </p:cNvPr>
          <p:cNvSpPr txBox="1"/>
          <p:nvPr/>
        </p:nvSpPr>
        <p:spPr>
          <a:xfrm>
            <a:off x="1268135" y="-3848078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accent6"/>
                </a:solidFill>
                <a:latin typeface="Montserrat Medium" panose="00000600000000000000" pitchFamily="2" charset="-52"/>
              </a:rPr>
              <a:t>Наблизився до цілі + 0.1 бал</a:t>
            </a:r>
            <a:endParaRPr lang="ru-RU" dirty="0">
              <a:solidFill>
                <a:schemeClr val="accent6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EB105CF-D29B-4212-9563-8F404C982E96}"/>
              </a:ext>
            </a:extLst>
          </p:cNvPr>
          <p:cNvSpPr txBox="1"/>
          <p:nvPr/>
        </p:nvSpPr>
        <p:spPr>
          <a:xfrm>
            <a:off x="1374020" y="-2946946"/>
            <a:ext cx="3347943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Винагорода</a:t>
            </a:r>
            <a:endParaRPr lang="ru-RU" sz="3200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857AEB9-8368-482F-8C3C-05637CE5C961}"/>
              </a:ext>
            </a:extLst>
          </p:cNvPr>
          <p:cNvSpPr txBox="1"/>
          <p:nvPr/>
        </p:nvSpPr>
        <p:spPr>
          <a:xfrm>
            <a:off x="6699036" y="-2875933"/>
            <a:ext cx="3386668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Штраф</a:t>
            </a:r>
            <a:endParaRPr lang="ru-RU" sz="3200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64A67D9-A4EF-4BEF-9765-057657D93F25}"/>
              </a:ext>
            </a:extLst>
          </p:cNvPr>
          <p:cNvSpPr txBox="1"/>
          <p:nvPr/>
        </p:nvSpPr>
        <p:spPr>
          <a:xfrm>
            <a:off x="1268135" y="-4476414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accent6"/>
                </a:solidFill>
                <a:latin typeface="Montserrat Medium" panose="00000600000000000000" pitchFamily="2" charset="-52"/>
              </a:rPr>
              <a:t>Дійшов до цілі + 2 бали</a:t>
            </a:r>
            <a:endParaRPr lang="ru-RU" dirty="0">
              <a:solidFill>
                <a:schemeClr val="accent6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D5D323A9-E257-4DC7-8CB3-4D34D72FC6FE}"/>
              </a:ext>
            </a:extLst>
          </p:cNvPr>
          <p:cNvSpPr txBox="1"/>
          <p:nvPr/>
        </p:nvSpPr>
        <p:spPr>
          <a:xfrm>
            <a:off x="6699036" y="-3697680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Доторкнувся перешкоди - 1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F8EF0C1D-A6B7-4949-8086-C4F808FD4817}"/>
              </a:ext>
            </a:extLst>
          </p:cNvPr>
          <p:cNvSpPr txBox="1"/>
          <p:nvPr/>
        </p:nvSpPr>
        <p:spPr>
          <a:xfrm>
            <a:off x="6699036" y="-4234583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Вийшов таймер – 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7CD8038-0C32-47FA-868A-700BC1E1B8D1}"/>
              </a:ext>
            </a:extLst>
          </p:cNvPr>
          <p:cNvSpPr txBox="1"/>
          <p:nvPr/>
        </p:nvSpPr>
        <p:spPr>
          <a:xfrm>
            <a:off x="6699036" y="-5025755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Віддалився від цілі -0.05 бали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6231CE8F-1C60-45EA-B08E-0DDF17A3361B}"/>
              </a:ext>
            </a:extLst>
          </p:cNvPr>
          <p:cNvSpPr txBox="1"/>
          <p:nvPr/>
        </p:nvSpPr>
        <p:spPr>
          <a:xfrm>
            <a:off x="6699036" y="-5637277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Пасивний штраф -0.001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215" name="Рисунок 214">
            <a:extLst>
              <a:ext uri="{FF2B5EF4-FFF2-40B4-BE49-F238E27FC236}">
                <a16:creationId xmlns:a16="http://schemas.microsoft.com/office/drawing/2014/main" id="{5CD09B16-6461-4FF9-B154-3B0D6A455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7171" y="7572700"/>
            <a:ext cx="4534670" cy="128552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93EBB872-E73A-4874-BD61-C37176E9D992}"/>
              </a:ext>
            </a:extLst>
          </p:cNvPr>
          <p:cNvSpPr txBox="1"/>
          <p:nvPr/>
        </p:nvSpPr>
        <p:spPr>
          <a:xfrm>
            <a:off x="1790493" y="7203367"/>
            <a:ext cx="3608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Приклад коду зі штрафом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982252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91590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Логіка навчання нейромережі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3A2B2E8-C110-4753-A772-BF822FCD9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8905" y="2563192"/>
            <a:ext cx="5257626" cy="3140820"/>
          </a:xfrm>
          <a:prstGeom prst="roundRect">
            <a:avLst>
              <a:gd name="adj" fmla="val 286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4BA0C51-978A-4AC8-93EB-B5407E125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90" y="8011988"/>
            <a:ext cx="5219700" cy="876300"/>
          </a:xfrm>
          <a:prstGeom prst="roundRect">
            <a:avLst>
              <a:gd name="adj" fmla="val 1004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197" name="!!Box_1">
            <a:extLst>
              <a:ext uri="{FF2B5EF4-FFF2-40B4-BE49-F238E27FC236}">
                <a16:creationId xmlns:a16="http://schemas.microsoft.com/office/drawing/2014/main" id="{F9638213-49E8-4117-A3DA-C06FB5F9020B}"/>
              </a:ext>
            </a:extLst>
          </p:cNvPr>
          <p:cNvSpPr/>
          <p:nvPr/>
        </p:nvSpPr>
        <p:spPr>
          <a:xfrm>
            <a:off x="515112" y="-2556389"/>
            <a:ext cx="4884192" cy="1673838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8571D73-4F7C-4663-912A-6772790F7A26}"/>
              </a:ext>
            </a:extLst>
          </p:cNvPr>
          <p:cNvSpPr txBox="1"/>
          <p:nvPr/>
        </p:nvSpPr>
        <p:spPr>
          <a:xfrm>
            <a:off x="591359" y="-2280328"/>
            <a:ext cx="46856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Щоб передати дані нейромережі, у бібліотеці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ML-Agents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наявний компонент </a:t>
            </a:r>
            <a:r>
              <a:rPr lang="en-US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ReyPerceptionSensor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який випускає промені та передає результат зіткнення нейромережі.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903BC1E-D7F8-4337-8659-20E2533C787B}"/>
              </a:ext>
            </a:extLst>
          </p:cNvPr>
          <p:cNvSpPr txBox="1"/>
          <p:nvPr/>
        </p:nvSpPr>
        <p:spPr>
          <a:xfrm>
            <a:off x="13897846" y="2124698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Зображення сенсору нейромережі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28B967EC-4B29-40A4-BA5A-1B278B095CB8}"/>
              </a:ext>
            </a:extLst>
          </p:cNvPr>
          <p:cNvSpPr txBox="1"/>
          <p:nvPr/>
        </p:nvSpPr>
        <p:spPr>
          <a:xfrm>
            <a:off x="1117293" y="7576177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Метод отримання спостережень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985DD58-48A3-4A74-B096-B0E0023D2586}"/>
              </a:ext>
            </a:extLst>
          </p:cNvPr>
          <p:cNvSpPr/>
          <p:nvPr/>
        </p:nvSpPr>
        <p:spPr>
          <a:xfrm>
            <a:off x="1354659" y="1143000"/>
            <a:ext cx="3386665" cy="1132012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80A3B528-4565-4E53-9E2C-4A2F33CF22B3}"/>
              </a:ext>
            </a:extLst>
          </p:cNvPr>
          <p:cNvSpPr/>
          <p:nvPr/>
        </p:nvSpPr>
        <p:spPr>
          <a:xfrm>
            <a:off x="6785843" y="1143000"/>
            <a:ext cx="3386665" cy="113201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CEC3FB-FFE1-4CC9-9563-3642910F5F80}"/>
              </a:ext>
            </a:extLst>
          </p:cNvPr>
          <p:cNvSpPr txBox="1"/>
          <p:nvPr/>
        </p:nvSpPr>
        <p:spPr>
          <a:xfrm>
            <a:off x="1268135" y="2590493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accent6"/>
                </a:solidFill>
                <a:latin typeface="Montserrat Medium" panose="00000600000000000000" pitchFamily="2" charset="-52"/>
              </a:rPr>
              <a:t>Наблизився до цілі + 0.1 бал</a:t>
            </a:r>
            <a:endParaRPr lang="ru-RU" dirty="0">
              <a:solidFill>
                <a:schemeClr val="accent6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5926AF-DA93-4C71-8DC4-3B8A71381951}"/>
              </a:ext>
            </a:extLst>
          </p:cNvPr>
          <p:cNvSpPr txBox="1"/>
          <p:nvPr/>
        </p:nvSpPr>
        <p:spPr>
          <a:xfrm>
            <a:off x="1374020" y="1396732"/>
            <a:ext cx="3347943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Винагорода</a:t>
            </a:r>
            <a:endParaRPr lang="ru-RU" sz="3200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A5F073-395A-43C9-84CA-887D514422DE}"/>
              </a:ext>
            </a:extLst>
          </p:cNvPr>
          <p:cNvSpPr txBox="1"/>
          <p:nvPr/>
        </p:nvSpPr>
        <p:spPr>
          <a:xfrm>
            <a:off x="6785840" y="1396732"/>
            <a:ext cx="3386668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Штраф</a:t>
            </a:r>
            <a:endParaRPr lang="ru-RU" sz="3200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810217-2D8A-4359-8CFE-B7512615BC70}"/>
              </a:ext>
            </a:extLst>
          </p:cNvPr>
          <p:cNvSpPr txBox="1"/>
          <p:nvPr/>
        </p:nvSpPr>
        <p:spPr>
          <a:xfrm>
            <a:off x="1268135" y="3172607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accent6"/>
                </a:solidFill>
                <a:latin typeface="Montserrat Medium" panose="00000600000000000000" pitchFamily="2" charset="-52"/>
              </a:rPr>
              <a:t>Дійшов до цілі + 2 бали</a:t>
            </a:r>
            <a:endParaRPr lang="ru-RU" dirty="0">
              <a:solidFill>
                <a:schemeClr val="accent6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7B93C7-9CD9-4DCA-B55C-7A584C1F9039}"/>
              </a:ext>
            </a:extLst>
          </p:cNvPr>
          <p:cNvSpPr txBox="1"/>
          <p:nvPr/>
        </p:nvSpPr>
        <p:spPr>
          <a:xfrm>
            <a:off x="6785840" y="2590493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Доторкнувся перешкоди - 1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449F13-4240-4752-9C01-AB3E61ED602A}"/>
              </a:ext>
            </a:extLst>
          </p:cNvPr>
          <p:cNvSpPr txBox="1"/>
          <p:nvPr/>
        </p:nvSpPr>
        <p:spPr>
          <a:xfrm>
            <a:off x="6785840" y="3172607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Вийшов таймер – 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1D2A38-E113-44B7-A811-3FCD77B25C61}"/>
              </a:ext>
            </a:extLst>
          </p:cNvPr>
          <p:cNvSpPr txBox="1"/>
          <p:nvPr/>
        </p:nvSpPr>
        <p:spPr>
          <a:xfrm>
            <a:off x="6785840" y="3796971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Віддалився від цілі -0.05 бали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085091-F67E-4CEE-B2AB-7164BB9634BB}"/>
              </a:ext>
            </a:extLst>
          </p:cNvPr>
          <p:cNvSpPr txBox="1"/>
          <p:nvPr/>
        </p:nvSpPr>
        <p:spPr>
          <a:xfrm>
            <a:off x="6785840" y="4421335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Пасивний штраф -0.001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C209FDA-64F4-4684-9925-54A8A4761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7171" y="4448122"/>
            <a:ext cx="4534670" cy="128552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1B3D947A-848B-490B-A9BD-DDAE68DE30FF}"/>
              </a:ext>
            </a:extLst>
          </p:cNvPr>
          <p:cNvSpPr txBox="1"/>
          <p:nvPr/>
        </p:nvSpPr>
        <p:spPr>
          <a:xfrm>
            <a:off x="1790493" y="4078789"/>
            <a:ext cx="3608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Приклад коду зі штрафом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6" name="Овал 65">
            <a:extLst>
              <a:ext uri="{FF2B5EF4-FFF2-40B4-BE49-F238E27FC236}">
                <a16:creationId xmlns:a16="http://schemas.microsoft.com/office/drawing/2014/main" id="{FCFD8DA1-C8AC-4DEF-B80C-46F613BF9C5F}"/>
              </a:ext>
            </a:extLst>
          </p:cNvPr>
          <p:cNvSpPr/>
          <p:nvPr/>
        </p:nvSpPr>
        <p:spPr>
          <a:xfrm>
            <a:off x="-3486795" y="1241073"/>
            <a:ext cx="636971" cy="6369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17931B-B5C8-442A-8168-299E3F61E4DB}"/>
              </a:ext>
            </a:extLst>
          </p:cNvPr>
          <p:cNvSpPr txBox="1"/>
          <p:nvPr/>
        </p:nvSpPr>
        <p:spPr>
          <a:xfrm>
            <a:off x="-2861309" y="1239557"/>
            <a:ext cx="1491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X 20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39F344A-2DD1-447C-B7C0-6ECD8666C350}"/>
              </a:ext>
            </a:extLst>
          </p:cNvPr>
          <p:cNvSpPr txBox="1"/>
          <p:nvPr/>
        </p:nvSpPr>
        <p:spPr>
          <a:xfrm>
            <a:off x="-3433316" y="1227790"/>
            <a:ext cx="602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A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73" name="Рисунок 72" descr="Секундомер со сплошной заливкой">
            <a:extLst>
              <a:ext uri="{FF2B5EF4-FFF2-40B4-BE49-F238E27FC236}">
                <a16:creationId xmlns:a16="http://schemas.microsoft.com/office/drawing/2014/main" id="{71A80857-65A8-4EE2-8F61-7A3471D8FB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619965" y="1982445"/>
            <a:ext cx="914400" cy="914400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1CA2F51E-FED0-422F-980B-CFBE29B95674}"/>
              </a:ext>
            </a:extLst>
          </p:cNvPr>
          <p:cNvSpPr txBox="1"/>
          <p:nvPr/>
        </p:nvSpPr>
        <p:spPr>
          <a:xfrm>
            <a:off x="-2837853" y="2116479"/>
            <a:ext cx="1491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30 </a:t>
            </a:r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s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510795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97813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Система тренування нейромережі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C209FDA-64F4-4684-9925-54A8A4761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171" y="7793259"/>
            <a:ext cx="4534670" cy="128552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1B3D947A-848B-490B-A9BD-DDAE68DE30FF}"/>
              </a:ext>
            </a:extLst>
          </p:cNvPr>
          <p:cNvSpPr txBox="1"/>
          <p:nvPr/>
        </p:nvSpPr>
        <p:spPr>
          <a:xfrm>
            <a:off x="1790493" y="7423926"/>
            <a:ext cx="3608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08EDE8"/>
                </a:solidFill>
                <a:latin typeface="Montserrat Medium" panose="00000600000000000000" pitchFamily="2" charset="-52"/>
              </a:rPr>
              <a:t>Приклад коду зі штрафом</a:t>
            </a:r>
            <a:endParaRPr lang="ru-RU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9" name="Прямоугольник: скругленные углы 58">
            <a:extLst>
              <a:ext uri="{FF2B5EF4-FFF2-40B4-BE49-F238E27FC236}">
                <a16:creationId xmlns:a16="http://schemas.microsoft.com/office/drawing/2014/main" id="{65E65137-6FAD-4A31-B652-F64A6B199599}"/>
              </a:ext>
            </a:extLst>
          </p:cNvPr>
          <p:cNvSpPr/>
          <p:nvPr/>
        </p:nvSpPr>
        <p:spPr>
          <a:xfrm>
            <a:off x="1354659" y="12734587"/>
            <a:ext cx="3386665" cy="1132012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Прямоугольник: скругленные углы 59">
            <a:extLst>
              <a:ext uri="{FF2B5EF4-FFF2-40B4-BE49-F238E27FC236}">
                <a16:creationId xmlns:a16="http://schemas.microsoft.com/office/drawing/2014/main" id="{F222850E-6463-4D41-ACBC-F5A5EFB28D29}"/>
              </a:ext>
            </a:extLst>
          </p:cNvPr>
          <p:cNvSpPr/>
          <p:nvPr/>
        </p:nvSpPr>
        <p:spPr>
          <a:xfrm>
            <a:off x="6699039" y="12805600"/>
            <a:ext cx="3386665" cy="113201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2FE953-56D9-48EF-9D85-A9E26816EC5A}"/>
              </a:ext>
            </a:extLst>
          </p:cNvPr>
          <p:cNvSpPr txBox="1"/>
          <p:nvPr/>
        </p:nvSpPr>
        <p:spPr>
          <a:xfrm>
            <a:off x="1268135" y="12087187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accent6"/>
                </a:solidFill>
                <a:latin typeface="Montserrat Medium" panose="00000600000000000000" pitchFamily="2" charset="-52"/>
              </a:rPr>
              <a:t>Наблизився до цілі + 0.1 бал</a:t>
            </a:r>
            <a:endParaRPr lang="ru-RU" dirty="0">
              <a:solidFill>
                <a:schemeClr val="accent6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876E84-9018-425D-A702-9C12ADAB3E58}"/>
              </a:ext>
            </a:extLst>
          </p:cNvPr>
          <p:cNvSpPr txBox="1"/>
          <p:nvPr/>
        </p:nvSpPr>
        <p:spPr>
          <a:xfrm>
            <a:off x="1374020" y="12988319"/>
            <a:ext cx="3347943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Винагорода</a:t>
            </a:r>
            <a:endParaRPr lang="ru-RU" sz="3200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49F7858-0C30-421E-B5FA-9C6922E020ED}"/>
              </a:ext>
            </a:extLst>
          </p:cNvPr>
          <p:cNvSpPr txBox="1"/>
          <p:nvPr/>
        </p:nvSpPr>
        <p:spPr>
          <a:xfrm>
            <a:off x="6699036" y="13059332"/>
            <a:ext cx="3386668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Штраф</a:t>
            </a:r>
            <a:endParaRPr lang="ru-RU" sz="3200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EF0A549-371F-4526-BD42-796799E63E65}"/>
              </a:ext>
            </a:extLst>
          </p:cNvPr>
          <p:cNvSpPr txBox="1"/>
          <p:nvPr/>
        </p:nvSpPr>
        <p:spPr>
          <a:xfrm>
            <a:off x="1268135" y="11458851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accent6"/>
                </a:solidFill>
                <a:latin typeface="Montserrat Medium" panose="00000600000000000000" pitchFamily="2" charset="-52"/>
              </a:rPr>
              <a:t>Дійшов до цілі + 2 бали</a:t>
            </a:r>
            <a:endParaRPr lang="ru-RU" dirty="0">
              <a:solidFill>
                <a:schemeClr val="accent6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11C0D42-43ED-4A1D-887D-FF2C5F3AE2D5}"/>
              </a:ext>
            </a:extLst>
          </p:cNvPr>
          <p:cNvSpPr txBox="1"/>
          <p:nvPr/>
        </p:nvSpPr>
        <p:spPr>
          <a:xfrm>
            <a:off x="6699036" y="12237585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Доторкнувся перешкоди - 1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5FE77F-A594-423B-80E0-04FD77AC1364}"/>
              </a:ext>
            </a:extLst>
          </p:cNvPr>
          <p:cNvSpPr txBox="1"/>
          <p:nvPr/>
        </p:nvSpPr>
        <p:spPr>
          <a:xfrm>
            <a:off x="6699036" y="11700682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Вийшов таймер – 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18E676-0A9B-4EBF-980E-DD3D8B5190D4}"/>
              </a:ext>
            </a:extLst>
          </p:cNvPr>
          <p:cNvSpPr txBox="1"/>
          <p:nvPr/>
        </p:nvSpPr>
        <p:spPr>
          <a:xfrm>
            <a:off x="6699036" y="10909510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Віддалився від цілі -0.05 бали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567FA18-7D01-49C6-807F-D674E65EEDF1}"/>
              </a:ext>
            </a:extLst>
          </p:cNvPr>
          <p:cNvSpPr txBox="1"/>
          <p:nvPr/>
        </p:nvSpPr>
        <p:spPr>
          <a:xfrm>
            <a:off x="6699036" y="10297988"/>
            <a:ext cx="450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CC0000"/>
                </a:solidFill>
                <a:latin typeface="Montserrat Medium" panose="00000600000000000000" pitchFamily="2" charset="-52"/>
              </a:rPr>
              <a:t>Пасивний штраф -0.001 бал</a:t>
            </a:r>
            <a:endParaRPr lang="ru-RU" dirty="0">
              <a:solidFill>
                <a:srgbClr val="CC0000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B1F737D-0C7C-4188-8924-8CE256FFD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9969" y="1182117"/>
            <a:ext cx="8096773" cy="4715378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90" name="Овал 89">
            <a:extLst>
              <a:ext uri="{FF2B5EF4-FFF2-40B4-BE49-F238E27FC236}">
                <a16:creationId xmlns:a16="http://schemas.microsoft.com/office/drawing/2014/main" id="{83AEC318-01CF-4C0E-A8F5-AE7194E11F05}"/>
              </a:ext>
            </a:extLst>
          </p:cNvPr>
          <p:cNvSpPr/>
          <p:nvPr/>
        </p:nvSpPr>
        <p:spPr>
          <a:xfrm>
            <a:off x="358839" y="1241073"/>
            <a:ext cx="636971" cy="6369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08606F-98A7-4FD4-87C9-F136538687AB}"/>
              </a:ext>
            </a:extLst>
          </p:cNvPr>
          <p:cNvSpPr txBox="1"/>
          <p:nvPr/>
        </p:nvSpPr>
        <p:spPr>
          <a:xfrm>
            <a:off x="984325" y="1239557"/>
            <a:ext cx="1491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X 20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E8C69A-0F79-46E8-9BEE-42D3FE5ED017}"/>
              </a:ext>
            </a:extLst>
          </p:cNvPr>
          <p:cNvSpPr txBox="1"/>
          <p:nvPr/>
        </p:nvSpPr>
        <p:spPr>
          <a:xfrm>
            <a:off x="412318" y="1227790"/>
            <a:ext cx="602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A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9" name="Рисунок 8" descr="Секундомер со сплошной заливкой">
            <a:extLst>
              <a:ext uri="{FF2B5EF4-FFF2-40B4-BE49-F238E27FC236}">
                <a16:creationId xmlns:a16="http://schemas.microsoft.com/office/drawing/2014/main" id="{468D8DEC-0C1A-4C49-8BE5-FEB120D5A5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669" y="1982445"/>
            <a:ext cx="914400" cy="914400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E62285EA-A718-409B-89EE-23BD7A31DD9A}"/>
              </a:ext>
            </a:extLst>
          </p:cNvPr>
          <p:cNvSpPr txBox="1"/>
          <p:nvPr/>
        </p:nvSpPr>
        <p:spPr>
          <a:xfrm>
            <a:off x="1007781" y="2116479"/>
            <a:ext cx="1491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30 </a:t>
            </a:r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s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104747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97813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Результат навчання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B1F737D-0C7C-4188-8924-8CE256FFD0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505" y="3428999"/>
            <a:ext cx="4851801" cy="2825580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90" name="Овал 89">
            <a:extLst>
              <a:ext uri="{FF2B5EF4-FFF2-40B4-BE49-F238E27FC236}">
                <a16:creationId xmlns:a16="http://schemas.microsoft.com/office/drawing/2014/main" id="{83AEC318-01CF-4C0E-A8F5-AE7194E11F05}"/>
              </a:ext>
            </a:extLst>
          </p:cNvPr>
          <p:cNvSpPr/>
          <p:nvPr/>
        </p:nvSpPr>
        <p:spPr>
          <a:xfrm>
            <a:off x="-2548452" y="1241073"/>
            <a:ext cx="636971" cy="6369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08606F-98A7-4FD4-87C9-F136538687AB}"/>
              </a:ext>
            </a:extLst>
          </p:cNvPr>
          <p:cNvSpPr txBox="1"/>
          <p:nvPr/>
        </p:nvSpPr>
        <p:spPr>
          <a:xfrm>
            <a:off x="-1922966" y="1239557"/>
            <a:ext cx="1491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X 20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E8C69A-0F79-46E8-9BEE-42D3FE5ED017}"/>
              </a:ext>
            </a:extLst>
          </p:cNvPr>
          <p:cNvSpPr txBox="1"/>
          <p:nvPr/>
        </p:nvSpPr>
        <p:spPr>
          <a:xfrm>
            <a:off x="-2494973" y="1227790"/>
            <a:ext cx="602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A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9" name="Рисунок 8" descr="Секундомер со сплошной заливкой">
            <a:extLst>
              <a:ext uri="{FF2B5EF4-FFF2-40B4-BE49-F238E27FC236}">
                <a16:creationId xmlns:a16="http://schemas.microsoft.com/office/drawing/2014/main" id="{468D8DEC-0C1A-4C49-8BE5-FEB120D5A5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681622" y="1982445"/>
            <a:ext cx="914400" cy="914400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E62285EA-A718-409B-89EE-23BD7A31DD9A}"/>
              </a:ext>
            </a:extLst>
          </p:cNvPr>
          <p:cNvSpPr txBox="1"/>
          <p:nvPr/>
        </p:nvSpPr>
        <p:spPr>
          <a:xfrm>
            <a:off x="-1899510" y="2116479"/>
            <a:ext cx="1491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30 </a:t>
            </a:r>
            <a:r>
              <a:rPr lang="en-US" sz="3600" dirty="0">
                <a:solidFill>
                  <a:srgbClr val="08EDE8"/>
                </a:solidFill>
                <a:latin typeface="Montserrat Medium" panose="00000600000000000000" pitchFamily="2" charset="-52"/>
              </a:rPr>
              <a:t>s</a:t>
            </a:r>
            <a:endParaRPr lang="ru-RU" sz="36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57" name="ML AI аген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AB520532-F9D4-4B75-B703-28072DF3E2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55575" y="2893807"/>
            <a:ext cx="6003080" cy="337673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35110083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7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84764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Підсумки і висновки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Игрок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D4AF6538-EC81-4A13-8F0C-64B8D7E8D97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04697" y="854609"/>
            <a:ext cx="4628525" cy="2603545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1" name="НавМеш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101C9DFA-05B3-4912-917B-C832A41211F5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6849096" y="3620043"/>
            <a:ext cx="4626867" cy="260261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12" name="ML AI аген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5BBB25BD-C500-41DF-B3EE-D8852B9CDCDC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6858768" y="826387"/>
            <a:ext cx="4626867" cy="260261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58" name="Мой скрипт проходит _Гиф">
            <a:hlinkClick r:id="" action="ppaction://media"/>
            <a:extLst>
              <a:ext uri="{FF2B5EF4-FFF2-40B4-BE49-F238E27FC236}">
                <a16:creationId xmlns:a16="http://schemas.microsoft.com/office/drawing/2014/main" id="{131C9E19-C6B8-417B-9B18-E657A5E7C25B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97558" y="3624587"/>
            <a:ext cx="4626867" cy="2602613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045B546E-652F-489C-8A8E-238628714845}"/>
              </a:ext>
            </a:extLst>
          </p:cNvPr>
          <p:cNvSpPr txBox="1"/>
          <p:nvPr/>
        </p:nvSpPr>
        <p:spPr>
          <a:xfrm>
            <a:off x="8270332" y="5826686"/>
            <a:ext cx="1386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rgbClr val="0F126A"/>
                </a:solidFill>
                <a:latin typeface="Montserrat Medium" panose="00000600000000000000" pitchFamily="2" charset="-52"/>
              </a:rPr>
              <a:t>NavMesh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C2E2FBE-BD46-4A4D-AF69-1D1D2D23325F}"/>
              </a:ext>
            </a:extLst>
          </p:cNvPr>
          <p:cNvSpPr txBox="1"/>
          <p:nvPr/>
        </p:nvSpPr>
        <p:spPr>
          <a:xfrm>
            <a:off x="1775561" y="5790626"/>
            <a:ext cx="2848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Steering Behaviors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0FAB13-E52D-4DB9-84E2-E762C113A771}"/>
              </a:ext>
            </a:extLst>
          </p:cNvPr>
          <p:cNvSpPr txBox="1"/>
          <p:nvPr/>
        </p:nvSpPr>
        <p:spPr>
          <a:xfrm>
            <a:off x="7449253" y="2996970"/>
            <a:ext cx="4055726" cy="40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Machine Learning agents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E3BAF9-F54E-4BD2-9BED-2951F02AA05A}"/>
              </a:ext>
            </a:extLst>
          </p:cNvPr>
          <p:cNvSpPr txBox="1"/>
          <p:nvPr/>
        </p:nvSpPr>
        <p:spPr>
          <a:xfrm>
            <a:off x="2588095" y="2971761"/>
            <a:ext cx="1110033" cy="40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F126A"/>
                </a:solidFill>
                <a:latin typeface="Montserrat Medium" panose="00000600000000000000" pitchFamily="2" charset="-52"/>
              </a:rPr>
              <a:t>Player</a:t>
            </a:r>
            <a:endParaRPr lang="ru-RU" sz="2000" b="1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226888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16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16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5016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5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58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2208</TotalTime>
  <Words>3197</Words>
  <Application>Microsoft Office PowerPoint</Application>
  <PresentationFormat>Широкоэкранный</PresentationFormat>
  <Paragraphs>399</Paragraphs>
  <Slides>31</Slides>
  <Notes>0</Notes>
  <HiddenSlides>0</HiddenSlides>
  <MMClips>27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9" baseType="lpstr">
      <vt:lpstr>Montserrat Medium</vt:lpstr>
      <vt:lpstr>Arial</vt:lpstr>
      <vt:lpstr>Aptos</vt:lpstr>
      <vt:lpstr>Uniform Pro Bold</vt:lpstr>
      <vt:lpstr>Segoe UI Black</vt:lpstr>
      <vt:lpstr>Aptos Display</vt:lpstr>
      <vt:lpstr>Montserrat SemiBold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Dgardes Gusь</dc:creator>
  <cp:lastModifiedBy>Dgardes Gusь</cp:lastModifiedBy>
  <cp:revision>87</cp:revision>
  <dcterms:created xsi:type="dcterms:W3CDTF">2026-01-19T21:28:44Z</dcterms:created>
  <dcterms:modified xsi:type="dcterms:W3CDTF">2026-03-12T08:49:53Z</dcterms:modified>
</cp:coreProperties>
</file>