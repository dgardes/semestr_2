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73" r:id="rId2"/>
    <p:sldId id="274" r:id="rId3"/>
    <p:sldId id="277" r:id="rId4"/>
    <p:sldId id="278" r:id="rId5"/>
    <p:sldId id="279" r:id="rId6"/>
    <p:sldId id="280" r:id="rId7"/>
    <p:sldId id="281" r:id="rId8"/>
    <p:sldId id="283" r:id="rId9"/>
    <p:sldId id="282" r:id="rId10"/>
    <p:sldId id="275" r:id="rId11"/>
  </p:sldIdLst>
  <p:sldSz cx="12192000" cy="6858000"/>
  <p:notesSz cx="6858000" cy="9144000"/>
  <p:embeddedFontLst>
    <p:embeddedFont>
      <p:font typeface="Montserrat Medium" panose="00000600000000000000" pitchFamily="2" charset="-52"/>
      <p:regular r:id="rId12"/>
      <p:italic r:id="rId13"/>
    </p:embeddedFont>
    <p:embeddedFont>
      <p:font typeface="Montserrat SemiBold" panose="00000700000000000000" pitchFamily="2" charset="-52"/>
      <p:bold r:id="rId14"/>
      <p:boldItalic r:id="rId15"/>
    </p:embeddedFont>
    <p:embeddedFont>
      <p:font typeface="Segoe UI Black" panose="020B0A02040204020203" pitchFamily="34" charset="0"/>
      <p:bold r:id="rId16"/>
      <p:boldItalic r:id="rId17"/>
    </p:embeddedFont>
  </p:embeddedFontLst>
  <p:defaultTextStyle>
    <a:defPPr>
      <a:defRPr lang="ru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98" userDrawn="1">
          <p15:clr>
            <a:srgbClr val="A4A3A4"/>
          </p15:clr>
        </p15:guide>
        <p15:guide id="3" pos="4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9E9A"/>
    <a:srgbClr val="08EDE8"/>
    <a:srgbClr val="5FF4FF"/>
    <a:srgbClr val="1B2B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59" autoAdjust="0"/>
    <p:restoredTop sz="94660"/>
  </p:normalViewPr>
  <p:slideViewPr>
    <p:cSldViewPr snapToGrid="0">
      <p:cViewPr>
        <p:scale>
          <a:sx n="66" d="100"/>
          <a:sy n="66" d="100"/>
        </p:scale>
        <p:origin x="648" y="341"/>
      </p:cViewPr>
      <p:guideLst>
        <p:guide orient="horz" pos="2160"/>
        <p:guide pos="98"/>
        <p:guide pos="43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C0C6D9-3671-E12A-FDFC-02604AF72F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939AA54-364F-13CC-2F46-55BA7316AF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D0533D-89DE-1805-4D0D-3DC754BDF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05.03.2026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61359B5-3B2F-A7ED-0FC8-B3AACAA56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A6C7445-23D4-A13B-A1DD-27B17B5FF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0377819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B145CD-0F91-6F01-3027-C1A0E82E0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F50468-DFBD-7661-CB7F-C2D95512B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6437CB2-7D09-3552-F3EA-A7ED771D7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05.03.2026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5D1E42-0006-21F8-0EBE-7BEE58E1C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35FB5-4CF8-C426-94A1-E5F7D4B19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0228146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A97C85-C0AB-E984-01BE-E7D478982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160B876-3BD5-8661-DFF0-EDEBD53BF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6DC76BA-BB0A-6F14-4F06-6524D2E55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05.03.2026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6B467BB-1B3B-0B80-7941-E0DA81A82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AB7DBF-EC79-97CD-C673-F7DDEC472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906384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A0D0C7-68FB-A9A0-E6E7-98479A9B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4AC902-B181-C5E4-0587-9A65AF2688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8C76DFC-E8CD-2109-E40A-C5A6DF6D5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433930C-CE8A-4D26-7026-E7EA46DAD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05.03.2026</a:t>
            </a:fld>
            <a:endParaRPr lang="ru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42DE99B-D5E8-4070-8B1B-06822F721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E190858-6776-834C-9D64-AE09ECF76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6270153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1E8F79-5258-610E-3CC9-95740FB79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4CF55A-3EE0-3F3B-9E77-5B93BFAB3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E4B91B0-CD98-0CA2-7997-7EBF1A9AD2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EB7D22B-8BFF-C11C-96D7-179CBA308A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D240AC1-027A-FEA1-E4B8-EFD7B182C8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B4ABFA6-82C8-1578-0594-B5E404AE9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05.03.2026</a:t>
            </a:fld>
            <a:endParaRPr lang="ru-UA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47AA6EA-8763-B3AC-D62C-48EC49042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6773B8B-F85E-A862-C177-16014F9FE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31844144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32CAB0-EA84-CD46-B03D-F5A22FE80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3EC42D8-A307-58E3-9980-3DDA2D103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05.03.2026</a:t>
            </a:fld>
            <a:endParaRPr lang="ru-UA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C7E308D-8096-5370-9118-23614E1A3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4FBB004-7C10-3D17-BB2D-EEC3A478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8557826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DE3A2C2-DE86-5302-22F1-61513883B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05.03.2026</a:t>
            </a:fld>
            <a:endParaRPr lang="ru-UA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BE8E5F4-F909-9DCE-D00B-E03FA469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66D8D6-15E7-375F-930E-1782267F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3101199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E130D1-75C7-AFCB-E4DA-B9BCD9E42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6544821-70CF-E283-EAE9-932D2A3A54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CD88459-B5D4-04B0-7C5C-1C9223F97F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9E96E1A-634C-80CB-84AB-C4D2083E7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05.03.2026</a:t>
            </a:fld>
            <a:endParaRPr lang="ru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E932DFA-F679-7CB9-E5B4-98C73C136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4423001-B304-7250-6852-60E645F36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8151537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938C1A-CCA9-9D8F-2940-7CF037E00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428E1E4F-1ECD-A5B3-8344-F4C7492A10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1FE20C4-3672-B969-5A64-4A0430FAF9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7C6421F-696C-9D89-530C-7ED1BDBEA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05.03.2026</a:t>
            </a:fld>
            <a:endParaRPr lang="ru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654799C-1018-D9E3-EC00-A31A84D88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5E0C455-B860-1709-2A76-3082EF621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205838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7F69F8-7FEA-597F-E40F-80B793E6E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0034020-9960-3F43-5CAC-736EAF6F44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D096E1-A348-9BAF-519F-4BB11EE79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05.03.2026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B557983-66B7-0B90-26FF-D117D1FAF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A0EB72-0CEA-C9FA-0CC5-22381C94A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7547598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BA1ED49-1FC7-AFFD-1D5B-82D8CCAAD1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8D76702-B805-A7F4-31C2-FF18C4542B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DE7654-99B9-990D-1ABB-F11080E94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05.03.2026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169D6B-DD48-D6D2-5AFC-36F0A6BF7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93D436F-15AB-F0E0-DFBF-89B0ABD5F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421695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12863C-332D-F0A8-0F35-A6D7AA502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B12C0B-4539-7CC6-5705-0F701F6481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359BE40-0B4B-5EB7-FBB3-84A5C3B6AD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C7B924-A7F8-42A7-804D-64D8F7507B61}" type="datetimeFigureOut">
              <a:rPr lang="ru-UA" smtClean="0"/>
              <a:t>05.03.2026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D3AE384-05C9-BAD8-244B-5577427F93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FB51AC7-EB43-9094-5849-D5FDF121B7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227185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.png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46" name="вертикаль">
            <a:extLst>
              <a:ext uri="{FF2B5EF4-FFF2-40B4-BE49-F238E27FC236}">
                <a16:creationId xmlns:a16="http://schemas.microsoft.com/office/drawing/2014/main" id="{D331056E-1B7F-4627-84E3-3FD923030477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!!джойстик">
            <a:extLst>
              <a:ext uri="{FF2B5EF4-FFF2-40B4-BE49-F238E27FC236}">
                <a16:creationId xmlns:a16="http://schemas.microsoft.com/office/drawing/2014/main" id="{34633899-E252-4A3B-8200-76D79F35346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7" t="15104" r="21770" b="11463"/>
          <a:stretch/>
        </p:blipFill>
        <p:spPr>
          <a:xfrm rot="19796414">
            <a:off x="5318877" y="1558753"/>
            <a:ext cx="6968054" cy="4883493"/>
          </a:xfrm>
          <a:prstGeom prst="rect">
            <a:avLst/>
          </a:prstGeom>
        </p:spPr>
      </p:pic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DD1373-C85B-4FE8-B6B4-106D61F11ACF}"/>
              </a:ext>
            </a:extLst>
          </p:cNvPr>
          <p:cNvSpPr txBox="1"/>
          <p:nvPr/>
        </p:nvSpPr>
        <p:spPr>
          <a:xfrm>
            <a:off x="607167" y="515157"/>
            <a:ext cx="5268686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500"/>
              </a:lnSpc>
            </a:pPr>
            <a:r>
              <a:rPr lang="uk-UA" sz="40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Штучний Інтелект у ігровій індустрії</a:t>
            </a:r>
            <a:endParaRPr lang="ru-RU" sz="40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47" name="горизонт">
            <a:extLst>
              <a:ext uri="{FF2B5EF4-FFF2-40B4-BE49-F238E27FC236}">
                <a16:creationId xmlns:a16="http://schemas.microsoft.com/office/drawing/2014/main" id="{BB5DFF05-9073-4595-8CCF-13AEEF9A8BA4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миниДжойстик">
            <a:extLst>
              <a:ext uri="{FF2B5EF4-FFF2-40B4-BE49-F238E27FC236}">
                <a16:creationId xmlns:a16="http://schemas.microsoft.com/office/drawing/2014/main" id="{9A1D5D42-2D46-4333-9DF5-2C81659751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682" t="-59241" r="54529" b="8580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pic>
        <p:nvPicPr>
          <p:cNvPr id="56" name="Рисунок 55">
            <a:extLst>
              <a:ext uri="{FF2B5EF4-FFF2-40B4-BE49-F238E27FC236}">
                <a16:creationId xmlns:a16="http://schemas.microsoft.com/office/drawing/2014/main" id="{8EE761CE-29AB-4451-B9F9-D950062E95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349580" y="-10988"/>
            <a:ext cx="4570857" cy="6858000"/>
          </a:xfrm>
          <a:prstGeom prst="rect">
            <a:avLst/>
          </a:prstGeom>
        </p:spPr>
      </p:pic>
      <p:sp>
        <p:nvSpPr>
          <p:cNvPr id="69" name="Прямоугольник: скругленные углы 68">
            <a:extLst>
              <a:ext uri="{FF2B5EF4-FFF2-40B4-BE49-F238E27FC236}">
                <a16:creationId xmlns:a16="http://schemas.microsoft.com/office/drawing/2014/main" id="{4F519D8F-E5E2-4F98-B700-967E9F04204B}"/>
              </a:ext>
            </a:extLst>
          </p:cNvPr>
          <p:cNvSpPr/>
          <p:nvPr/>
        </p:nvSpPr>
        <p:spPr>
          <a:xfrm>
            <a:off x="677324" y="-2504616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Прямоугольник: скругленные углы 69">
            <a:extLst>
              <a:ext uri="{FF2B5EF4-FFF2-40B4-BE49-F238E27FC236}">
                <a16:creationId xmlns:a16="http://schemas.microsoft.com/office/drawing/2014/main" id="{8FDD9DCD-01CB-4CEA-B327-903C2CD7A1C1}"/>
              </a:ext>
            </a:extLst>
          </p:cNvPr>
          <p:cNvSpPr/>
          <p:nvPr/>
        </p:nvSpPr>
        <p:spPr>
          <a:xfrm>
            <a:off x="14765366" y="1714240"/>
            <a:ext cx="3171586" cy="400050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Прямоугольник: скругленные углы 70">
            <a:extLst>
              <a:ext uri="{FF2B5EF4-FFF2-40B4-BE49-F238E27FC236}">
                <a16:creationId xmlns:a16="http://schemas.microsoft.com/office/drawing/2014/main" id="{E4373872-CD7A-4596-9D04-5A60AD95F98C}"/>
              </a:ext>
            </a:extLst>
          </p:cNvPr>
          <p:cNvSpPr/>
          <p:nvPr/>
        </p:nvSpPr>
        <p:spPr>
          <a:xfrm>
            <a:off x="677324" y="7603171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EAF2D5D-3E5B-419E-ABD7-7728B2E6D8DF}"/>
              </a:ext>
            </a:extLst>
          </p:cNvPr>
          <p:cNvSpPr txBox="1"/>
          <p:nvPr/>
        </p:nvSpPr>
        <p:spPr>
          <a:xfrm>
            <a:off x="1229876" y="-2356437"/>
            <a:ext cx="2012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Імерсивність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E002D6D-2370-41FE-BD7F-A3610D055C9E}"/>
              </a:ext>
            </a:extLst>
          </p:cNvPr>
          <p:cNvSpPr txBox="1"/>
          <p:nvPr/>
        </p:nvSpPr>
        <p:spPr>
          <a:xfrm>
            <a:off x="1229875" y="7781137"/>
            <a:ext cx="33227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Доступність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</a:t>
            </a:r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розробки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81CA4A4-222A-4ABD-938C-3E2A6C852109}"/>
              </a:ext>
            </a:extLst>
          </p:cNvPr>
          <p:cNvSpPr txBox="1"/>
          <p:nvPr/>
        </p:nvSpPr>
        <p:spPr>
          <a:xfrm>
            <a:off x="14765365" y="1865195"/>
            <a:ext cx="3171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рогноз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ринку до 2034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року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568F89D9-6AA9-44FC-9052-41ECBAE089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635" y="-2460609"/>
            <a:ext cx="531424" cy="531424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2F3E2239-56A9-42C9-84AB-B34367898B0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5709" y="7656033"/>
            <a:ext cx="531424" cy="531424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58BA9B6C-3D34-47BD-91D2-2C8C2FB38EB6}"/>
              </a:ext>
            </a:extLst>
          </p:cNvPr>
          <p:cNvSpPr txBox="1"/>
          <p:nvPr/>
        </p:nvSpPr>
        <p:spPr>
          <a:xfrm>
            <a:off x="664817" y="8283199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2756F12-9949-4C18-A990-C81B17979E68}"/>
              </a:ext>
            </a:extLst>
          </p:cNvPr>
          <p:cNvSpPr txBox="1"/>
          <p:nvPr/>
        </p:nvSpPr>
        <p:spPr>
          <a:xfrm>
            <a:off x="664817" y="-1907554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2E7FE00-CA89-4583-B718-AD1FD112AFB0}"/>
              </a:ext>
            </a:extLst>
          </p:cNvPr>
          <p:cNvSpPr txBox="1"/>
          <p:nvPr/>
        </p:nvSpPr>
        <p:spPr>
          <a:xfrm>
            <a:off x="14765365" y="2190291"/>
            <a:ext cx="3171586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uk-UA" sz="2800" dirty="0">
                <a:gradFill>
                  <a:gsLst>
                    <a:gs pos="51000">
                      <a:schemeClr val="accent1">
                        <a:lumMod val="5000"/>
                        <a:lumOff val="95000"/>
                      </a:schemeClr>
                    </a:gs>
                    <a:gs pos="39000">
                      <a:srgbClr val="08EDE8"/>
                    </a:gs>
                    <a:gs pos="0">
                      <a:srgbClr val="5FF4FF"/>
                    </a:gs>
                    <a:gs pos="62000">
                      <a:srgbClr val="08EDE8"/>
                    </a:gs>
                    <a:gs pos="100000">
                      <a:srgbClr val="08EDE8"/>
                    </a:gs>
                  </a:gsLst>
                  <a:lin ang="13200000" scaled="0"/>
                </a:gradFill>
                <a:latin typeface="Segoe UI Black" panose="020B0A02040204020203" pitchFamily="34" charset="0"/>
                <a:ea typeface="Segoe UI Black" panose="020B0A02040204020203" pitchFamily="34" charset="0"/>
              </a:rPr>
              <a:t>$37.89млрд</a:t>
            </a:r>
            <a:endParaRPr lang="ru-RU" sz="2800" dirty="0">
              <a:gradFill>
                <a:gsLst>
                  <a:gs pos="51000">
                    <a:schemeClr val="accent1">
                      <a:lumMod val="5000"/>
                      <a:lumOff val="95000"/>
                    </a:schemeClr>
                  </a:gs>
                  <a:gs pos="39000">
                    <a:srgbClr val="08EDE8"/>
                  </a:gs>
                  <a:gs pos="0">
                    <a:srgbClr val="5FF4FF"/>
                  </a:gs>
                  <a:gs pos="62000">
                    <a:srgbClr val="08EDE8"/>
                  </a:gs>
                  <a:gs pos="100000">
                    <a:srgbClr val="08EDE8"/>
                  </a:gs>
                </a:gsLst>
                <a:lin ang="13200000" scaled="0"/>
              </a:gra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228E8F3-E2E4-45EE-A01B-EA4AB7CA6226}"/>
              </a:ext>
            </a:extLst>
          </p:cNvPr>
          <p:cNvSpPr txBox="1"/>
          <p:nvPr/>
        </p:nvSpPr>
        <p:spPr>
          <a:xfrm>
            <a:off x="14832584" y="2780645"/>
            <a:ext cx="31043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Стрімке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простих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ботів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систем,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генерують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цілі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 реальному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часі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27794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8" name="!!PlayPhoto" descr="F.E.A.R. on Steam">
            <a:extLst>
              <a:ext uri="{FF2B5EF4-FFF2-40B4-BE49-F238E27FC236}">
                <a16:creationId xmlns:a16="http://schemas.microsoft.com/office/drawing/2014/main" id="{45607217-64CA-4EA9-8ABC-91181C7242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32" b="219"/>
          <a:stretch/>
        </p:blipFill>
        <p:spPr bwMode="auto">
          <a:xfrm>
            <a:off x="-6484" y="-10989"/>
            <a:ext cx="12183427" cy="6847155"/>
          </a:xfrm>
          <a:prstGeom prst="rect">
            <a:avLst/>
          </a:prstGeom>
          <a:noFill/>
        </p:spPr>
      </p:pic>
      <p:sp>
        <p:nvSpPr>
          <p:cNvPr id="89" name="затемнение">
            <a:extLst>
              <a:ext uri="{FF2B5EF4-FFF2-40B4-BE49-F238E27FC236}">
                <a16:creationId xmlns:a16="http://schemas.microsoft.com/office/drawing/2014/main" id="{925B68E4-B395-47B3-878C-4BAB6CF80F3F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Затемнение низ">
            <a:extLst>
              <a:ext uri="{FF2B5EF4-FFF2-40B4-BE49-F238E27FC236}">
                <a16:creationId xmlns:a16="http://schemas.microsoft.com/office/drawing/2014/main" id="{1D455E75-6F96-446A-BA9E-C03A63EA135B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>
                  <a:alpha val="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2" name="Рисунок 81">
            <a:extLst>
              <a:ext uri="{FF2B5EF4-FFF2-40B4-BE49-F238E27FC236}">
                <a16:creationId xmlns:a16="http://schemas.microsoft.com/office/drawing/2014/main" id="{39704819-94F2-4591-BEB1-8661E55DAD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571251" y="-10988"/>
            <a:ext cx="4570857" cy="6858000"/>
          </a:xfrm>
          <a:prstGeom prst="rect">
            <a:avLst/>
          </a:prstGeom>
        </p:spPr>
      </p:pic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583655" y="442911"/>
            <a:ext cx="50236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Чому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–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це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серце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сучасного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геймдеву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?</a:t>
            </a:r>
          </a:p>
        </p:txBody>
      </p:sp>
      <p:sp>
        <p:nvSpPr>
          <p:cNvPr id="48" name="Прямоугольник: скругленные углы 47">
            <a:extLst>
              <a:ext uri="{FF2B5EF4-FFF2-40B4-BE49-F238E27FC236}">
                <a16:creationId xmlns:a16="http://schemas.microsoft.com/office/drawing/2014/main" id="{EEB094A8-DD98-4681-A8FA-2D6D77FACA84}"/>
              </a:ext>
            </a:extLst>
          </p:cNvPr>
          <p:cNvSpPr/>
          <p:nvPr/>
        </p:nvSpPr>
        <p:spPr>
          <a:xfrm>
            <a:off x="677324" y="1725200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Прямоугольник: скругленные углы 55">
            <a:extLst>
              <a:ext uri="{FF2B5EF4-FFF2-40B4-BE49-F238E27FC236}">
                <a16:creationId xmlns:a16="http://schemas.microsoft.com/office/drawing/2014/main" id="{E8B6D647-6B07-45B8-AE36-C6DB0C184D53}"/>
              </a:ext>
            </a:extLst>
          </p:cNvPr>
          <p:cNvSpPr/>
          <p:nvPr/>
        </p:nvSpPr>
        <p:spPr>
          <a:xfrm>
            <a:off x="5633743" y="1714240"/>
            <a:ext cx="3171586" cy="400050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Прямоугольник: скругленные углы 56">
            <a:extLst>
              <a:ext uri="{FF2B5EF4-FFF2-40B4-BE49-F238E27FC236}">
                <a16:creationId xmlns:a16="http://schemas.microsoft.com/office/drawing/2014/main" id="{3EB25760-E152-4741-ACA5-FE5B90F3E1E3}"/>
              </a:ext>
            </a:extLst>
          </p:cNvPr>
          <p:cNvSpPr/>
          <p:nvPr/>
        </p:nvSpPr>
        <p:spPr>
          <a:xfrm>
            <a:off x="677324" y="3823317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88F6501-BDC2-4A86-954D-9629362586D3}"/>
              </a:ext>
            </a:extLst>
          </p:cNvPr>
          <p:cNvSpPr txBox="1"/>
          <p:nvPr/>
        </p:nvSpPr>
        <p:spPr>
          <a:xfrm>
            <a:off x="1229876" y="1873379"/>
            <a:ext cx="2012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Імерсивність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513FD88-390E-41FE-8B89-D8330CF26328}"/>
              </a:ext>
            </a:extLst>
          </p:cNvPr>
          <p:cNvSpPr txBox="1"/>
          <p:nvPr/>
        </p:nvSpPr>
        <p:spPr>
          <a:xfrm>
            <a:off x="1229875" y="4001283"/>
            <a:ext cx="33227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Доступність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</a:t>
            </a:r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розробки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05EFB26-48E4-4249-A83C-83CC3A8E136C}"/>
              </a:ext>
            </a:extLst>
          </p:cNvPr>
          <p:cNvSpPr txBox="1"/>
          <p:nvPr/>
        </p:nvSpPr>
        <p:spPr>
          <a:xfrm>
            <a:off x="5633742" y="1865195"/>
            <a:ext cx="3171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рогноз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ринку до 2034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року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8" name="Рисунок 67">
            <a:extLst>
              <a:ext uri="{FF2B5EF4-FFF2-40B4-BE49-F238E27FC236}">
                <a16:creationId xmlns:a16="http://schemas.microsoft.com/office/drawing/2014/main" id="{1976138C-329C-4E83-92D0-4F26E7373F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635" y="1769207"/>
            <a:ext cx="531424" cy="531424"/>
          </a:xfrm>
          <a:prstGeom prst="rect">
            <a:avLst/>
          </a:prstGeom>
        </p:spPr>
      </p:pic>
      <p:pic>
        <p:nvPicPr>
          <p:cNvPr id="70" name="Рисунок 69">
            <a:extLst>
              <a:ext uri="{FF2B5EF4-FFF2-40B4-BE49-F238E27FC236}">
                <a16:creationId xmlns:a16="http://schemas.microsoft.com/office/drawing/2014/main" id="{5532B5DF-2062-4B98-BCAB-6BEBDFFE84C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5709" y="3876179"/>
            <a:ext cx="531424" cy="531424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31446FF1-A034-4C40-A33C-EE260818F6C1}"/>
              </a:ext>
            </a:extLst>
          </p:cNvPr>
          <p:cNvSpPr txBox="1"/>
          <p:nvPr/>
        </p:nvSpPr>
        <p:spPr>
          <a:xfrm>
            <a:off x="664817" y="4503345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405E7FA-EED3-48D0-ADD3-E8B90F7E30D2}"/>
              </a:ext>
            </a:extLst>
          </p:cNvPr>
          <p:cNvSpPr txBox="1"/>
          <p:nvPr/>
        </p:nvSpPr>
        <p:spPr>
          <a:xfrm>
            <a:off x="664817" y="2322262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37F7E35-9E07-412F-912C-88C1A3A461CF}"/>
              </a:ext>
            </a:extLst>
          </p:cNvPr>
          <p:cNvSpPr txBox="1"/>
          <p:nvPr/>
        </p:nvSpPr>
        <p:spPr>
          <a:xfrm>
            <a:off x="5633742" y="2190291"/>
            <a:ext cx="3171586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uk-UA" sz="2800" dirty="0">
                <a:gradFill>
                  <a:gsLst>
                    <a:gs pos="51000">
                      <a:schemeClr val="accent1">
                        <a:lumMod val="5000"/>
                        <a:lumOff val="95000"/>
                      </a:schemeClr>
                    </a:gs>
                    <a:gs pos="39000">
                      <a:srgbClr val="08EDE8"/>
                    </a:gs>
                    <a:gs pos="0">
                      <a:srgbClr val="5FF4FF"/>
                    </a:gs>
                    <a:gs pos="62000">
                      <a:srgbClr val="08EDE8"/>
                    </a:gs>
                    <a:gs pos="100000">
                      <a:srgbClr val="08EDE8"/>
                    </a:gs>
                  </a:gsLst>
                  <a:lin ang="13200000" scaled="0"/>
                </a:gradFill>
                <a:latin typeface="Segoe UI Black" panose="020B0A02040204020203" pitchFamily="34" charset="0"/>
                <a:ea typeface="Segoe UI Black" panose="020B0A02040204020203" pitchFamily="34" charset="0"/>
              </a:rPr>
              <a:t>$37.89млрд</a:t>
            </a:r>
            <a:endParaRPr lang="ru-RU" sz="2800" dirty="0">
              <a:gradFill>
                <a:gsLst>
                  <a:gs pos="51000">
                    <a:schemeClr val="accent1">
                      <a:lumMod val="5000"/>
                      <a:lumOff val="95000"/>
                    </a:schemeClr>
                  </a:gs>
                  <a:gs pos="39000">
                    <a:srgbClr val="08EDE8"/>
                  </a:gs>
                  <a:gs pos="0">
                    <a:srgbClr val="5FF4FF"/>
                  </a:gs>
                  <a:gs pos="62000">
                    <a:srgbClr val="08EDE8"/>
                  </a:gs>
                  <a:gs pos="100000">
                    <a:srgbClr val="08EDE8"/>
                  </a:gs>
                </a:gsLst>
                <a:lin ang="13200000" scaled="0"/>
              </a:gra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898A89E-0318-4A61-97FA-5B0DD95F32CD}"/>
              </a:ext>
            </a:extLst>
          </p:cNvPr>
          <p:cNvSpPr txBox="1"/>
          <p:nvPr/>
        </p:nvSpPr>
        <p:spPr>
          <a:xfrm>
            <a:off x="5700961" y="2780645"/>
            <a:ext cx="31043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Стрімке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простих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ботів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систем,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генерують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цілі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 реальному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часі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  <p:pic>
        <p:nvPicPr>
          <p:cNvPr id="80" name="миниДжойстик">
            <a:extLst>
              <a:ext uri="{FF2B5EF4-FFF2-40B4-BE49-F238E27FC236}">
                <a16:creationId xmlns:a16="http://schemas.microsoft.com/office/drawing/2014/main" id="{071CC80B-E9D6-4514-95D5-B61F61B7292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7" t="15104" r="21770" b="11463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pic>
        <p:nvPicPr>
          <p:cNvPr id="85" name="!!джойстик">
            <a:extLst>
              <a:ext uri="{FF2B5EF4-FFF2-40B4-BE49-F238E27FC236}">
                <a16:creationId xmlns:a16="http://schemas.microsoft.com/office/drawing/2014/main" id="{994BAFB3-08E6-4AE0-A1F9-ACD8F1F50922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7" t="15104" r="21770" b="11463"/>
          <a:stretch/>
        </p:blipFill>
        <p:spPr>
          <a:xfrm rot="3559542">
            <a:off x="14436184" y="1558752"/>
            <a:ext cx="6968054" cy="4883493"/>
          </a:xfrm>
          <a:prstGeom prst="rect">
            <a:avLst/>
          </a:prstGeom>
        </p:spPr>
      </p:pic>
      <p:sp>
        <p:nvSpPr>
          <p:cNvPr id="91" name="!!рам1">
            <a:extLst>
              <a:ext uri="{FF2B5EF4-FFF2-40B4-BE49-F238E27FC236}">
                <a16:creationId xmlns:a16="http://schemas.microsoft.com/office/drawing/2014/main" id="{D614AA44-CA25-4A90-B1E2-7441B324712A}"/>
              </a:ext>
            </a:extLst>
          </p:cNvPr>
          <p:cNvSpPr/>
          <p:nvPr/>
        </p:nvSpPr>
        <p:spPr>
          <a:xfrm>
            <a:off x="-5989583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815A72B-A107-4507-AE01-76A62E8D96FC}"/>
              </a:ext>
            </a:extLst>
          </p:cNvPr>
          <p:cNvSpPr txBox="1"/>
          <p:nvPr/>
        </p:nvSpPr>
        <p:spPr>
          <a:xfrm>
            <a:off x="-6020946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3" name="!!рам2">
            <a:extLst>
              <a:ext uri="{FF2B5EF4-FFF2-40B4-BE49-F238E27FC236}">
                <a16:creationId xmlns:a16="http://schemas.microsoft.com/office/drawing/2014/main" id="{E73E495F-BF27-4D6E-9164-8CC6FFDF00A4}"/>
              </a:ext>
            </a:extLst>
          </p:cNvPr>
          <p:cNvSpPr/>
          <p:nvPr/>
        </p:nvSpPr>
        <p:spPr>
          <a:xfrm>
            <a:off x="-5419612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7E647AB-D756-4EA3-96AB-78B5E8DC4C0A}"/>
              </a:ext>
            </a:extLst>
          </p:cNvPr>
          <p:cNvSpPr txBox="1"/>
          <p:nvPr/>
        </p:nvSpPr>
        <p:spPr>
          <a:xfrm>
            <a:off x="-5450975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5" name="!!рам3">
            <a:extLst>
              <a:ext uri="{FF2B5EF4-FFF2-40B4-BE49-F238E27FC236}">
                <a16:creationId xmlns:a16="http://schemas.microsoft.com/office/drawing/2014/main" id="{14C16A24-DB09-4992-8143-D45C311D2499}"/>
              </a:ext>
            </a:extLst>
          </p:cNvPr>
          <p:cNvSpPr/>
          <p:nvPr/>
        </p:nvSpPr>
        <p:spPr>
          <a:xfrm>
            <a:off x="-4382624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CA74FF1-3F6C-446B-AFCE-8F333C54890B}"/>
              </a:ext>
            </a:extLst>
          </p:cNvPr>
          <p:cNvSpPr txBox="1"/>
          <p:nvPr/>
        </p:nvSpPr>
        <p:spPr>
          <a:xfrm>
            <a:off x="-4413987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7" name="!!рам4">
            <a:extLst>
              <a:ext uri="{FF2B5EF4-FFF2-40B4-BE49-F238E27FC236}">
                <a16:creationId xmlns:a16="http://schemas.microsoft.com/office/drawing/2014/main" id="{E32ACDCA-3E06-4669-8D4A-89FBC1F4D105}"/>
              </a:ext>
            </a:extLst>
          </p:cNvPr>
          <p:cNvSpPr/>
          <p:nvPr/>
        </p:nvSpPr>
        <p:spPr>
          <a:xfrm>
            <a:off x="-3610447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EE328E6-D538-4DCA-AE14-42CEAC46E750}"/>
              </a:ext>
            </a:extLst>
          </p:cNvPr>
          <p:cNvSpPr txBox="1"/>
          <p:nvPr/>
        </p:nvSpPr>
        <p:spPr>
          <a:xfrm>
            <a:off x="-3641810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!!рам5">
            <a:extLst>
              <a:ext uri="{FF2B5EF4-FFF2-40B4-BE49-F238E27FC236}">
                <a16:creationId xmlns:a16="http://schemas.microsoft.com/office/drawing/2014/main" id="{836331C0-F0F9-46BC-816B-814F7218618E}"/>
              </a:ext>
            </a:extLst>
          </p:cNvPr>
          <p:cNvSpPr/>
          <p:nvPr/>
        </p:nvSpPr>
        <p:spPr>
          <a:xfrm>
            <a:off x="-2788924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E44E3D9-DB62-4539-A2B6-7E2CAE789E65}"/>
              </a:ext>
            </a:extLst>
          </p:cNvPr>
          <p:cNvSpPr txBox="1"/>
          <p:nvPr/>
        </p:nvSpPr>
        <p:spPr>
          <a:xfrm>
            <a:off x="-2820287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038755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62" name="!!PlayPhoto" descr="F.E.A.R. on Steam">
            <a:extLst>
              <a:ext uri="{FF2B5EF4-FFF2-40B4-BE49-F238E27FC236}">
                <a16:creationId xmlns:a16="http://schemas.microsoft.com/office/drawing/2014/main" id="{347B6F47-1AB9-4E7B-92B1-40010BF68C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32" b="219"/>
          <a:stretch/>
        </p:blipFill>
        <p:spPr bwMode="auto">
          <a:xfrm>
            <a:off x="4287" y="5423"/>
            <a:ext cx="12183427" cy="6847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9510565" y="-5076340"/>
            <a:ext cx="30344552" cy="170688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pic>
        <p:nvPicPr>
          <p:cNvPr id="82" name="Рисунок 81">
            <a:extLst>
              <a:ext uri="{FF2B5EF4-FFF2-40B4-BE49-F238E27FC236}">
                <a16:creationId xmlns:a16="http://schemas.microsoft.com/office/drawing/2014/main" id="{39704819-94F2-4591-BEB1-8661E55DAD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14401" flipH="1">
            <a:off x="11521677" y="2748883"/>
            <a:ext cx="4570857" cy="6858000"/>
          </a:xfrm>
          <a:prstGeom prst="rect">
            <a:avLst/>
          </a:prstGeom>
        </p:spPr>
      </p:pic>
      <p:sp>
        <p:nvSpPr>
          <p:cNvPr id="48" name="Прямоугольник: скругленные углы 47">
            <a:extLst>
              <a:ext uri="{FF2B5EF4-FFF2-40B4-BE49-F238E27FC236}">
                <a16:creationId xmlns:a16="http://schemas.microsoft.com/office/drawing/2014/main" id="{EEB094A8-DD98-4681-A8FA-2D6D77FACA84}"/>
              </a:ext>
            </a:extLst>
          </p:cNvPr>
          <p:cNvSpPr/>
          <p:nvPr/>
        </p:nvSpPr>
        <p:spPr>
          <a:xfrm>
            <a:off x="-12413462" y="1725200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Прямоугольник: скругленные углы 55">
            <a:extLst>
              <a:ext uri="{FF2B5EF4-FFF2-40B4-BE49-F238E27FC236}">
                <a16:creationId xmlns:a16="http://schemas.microsoft.com/office/drawing/2014/main" id="{E8B6D647-6B07-45B8-AE36-C6DB0C184D53}"/>
              </a:ext>
            </a:extLst>
          </p:cNvPr>
          <p:cNvSpPr/>
          <p:nvPr/>
        </p:nvSpPr>
        <p:spPr>
          <a:xfrm>
            <a:off x="-3275711" y="1714240"/>
            <a:ext cx="3171586" cy="400050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Прямоугольник: скругленные углы 56">
            <a:extLst>
              <a:ext uri="{FF2B5EF4-FFF2-40B4-BE49-F238E27FC236}">
                <a16:creationId xmlns:a16="http://schemas.microsoft.com/office/drawing/2014/main" id="{3EB25760-E152-4741-ACA5-FE5B90F3E1E3}"/>
              </a:ext>
            </a:extLst>
          </p:cNvPr>
          <p:cNvSpPr/>
          <p:nvPr/>
        </p:nvSpPr>
        <p:spPr>
          <a:xfrm>
            <a:off x="-9498058" y="3823317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88F6501-BDC2-4A86-954D-9629362586D3}"/>
              </a:ext>
            </a:extLst>
          </p:cNvPr>
          <p:cNvSpPr txBox="1"/>
          <p:nvPr/>
        </p:nvSpPr>
        <p:spPr>
          <a:xfrm>
            <a:off x="-11860910" y="1873379"/>
            <a:ext cx="2012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Імерсивність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513FD88-390E-41FE-8B89-D8330CF26328}"/>
              </a:ext>
            </a:extLst>
          </p:cNvPr>
          <p:cNvSpPr txBox="1"/>
          <p:nvPr/>
        </p:nvSpPr>
        <p:spPr>
          <a:xfrm>
            <a:off x="-8945507" y="4001283"/>
            <a:ext cx="33227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Доступність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</a:t>
            </a:r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розробки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05EFB26-48E4-4249-A83C-83CC3A8E136C}"/>
              </a:ext>
            </a:extLst>
          </p:cNvPr>
          <p:cNvSpPr txBox="1"/>
          <p:nvPr/>
        </p:nvSpPr>
        <p:spPr>
          <a:xfrm>
            <a:off x="-3275712" y="1865195"/>
            <a:ext cx="3171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рогноз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ринку до 2034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року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8" name="Рисунок 67">
            <a:extLst>
              <a:ext uri="{FF2B5EF4-FFF2-40B4-BE49-F238E27FC236}">
                <a16:creationId xmlns:a16="http://schemas.microsoft.com/office/drawing/2014/main" id="{1976138C-329C-4E83-92D0-4F26E7373F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2345151" y="1769207"/>
            <a:ext cx="531424" cy="531424"/>
          </a:xfrm>
          <a:prstGeom prst="rect">
            <a:avLst/>
          </a:prstGeom>
        </p:spPr>
      </p:pic>
      <p:pic>
        <p:nvPicPr>
          <p:cNvPr id="70" name="Рисунок 69">
            <a:extLst>
              <a:ext uri="{FF2B5EF4-FFF2-40B4-BE49-F238E27FC236}">
                <a16:creationId xmlns:a16="http://schemas.microsoft.com/office/drawing/2014/main" id="{5532B5DF-2062-4B98-BCAB-6BEBDFFE84C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9429673" y="3876179"/>
            <a:ext cx="531424" cy="531424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31446FF1-A034-4C40-A33C-EE260818F6C1}"/>
              </a:ext>
            </a:extLst>
          </p:cNvPr>
          <p:cNvSpPr txBox="1"/>
          <p:nvPr/>
        </p:nvSpPr>
        <p:spPr>
          <a:xfrm>
            <a:off x="-9510565" y="4503345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405E7FA-EED3-48D0-ADD3-E8B90F7E30D2}"/>
              </a:ext>
            </a:extLst>
          </p:cNvPr>
          <p:cNvSpPr txBox="1"/>
          <p:nvPr/>
        </p:nvSpPr>
        <p:spPr>
          <a:xfrm>
            <a:off x="-12425969" y="2322262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37F7E35-9E07-412F-912C-88C1A3A461CF}"/>
              </a:ext>
            </a:extLst>
          </p:cNvPr>
          <p:cNvSpPr txBox="1"/>
          <p:nvPr/>
        </p:nvSpPr>
        <p:spPr>
          <a:xfrm>
            <a:off x="-3275712" y="2190291"/>
            <a:ext cx="3171586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uk-UA" sz="2800" dirty="0">
                <a:gradFill>
                  <a:gsLst>
                    <a:gs pos="51000">
                      <a:schemeClr val="accent1">
                        <a:lumMod val="5000"/>
                        <a:lumOff val="95000"/>
                      </a:schemeClr>
                    </a:gs>
                    <a:gs pos="39000">
                      <a:srgbClr val="08EDE8"/>
                    </a:gs>
                    <a:gs pos="0">
                      <a:srgbClr val="5FF4FF"/>
                    </a:gs>
                    <a:gs pos="62000">
                      <a:srgbClr val="08EDE8"/>
                    </a:gs>
                    <a:gs pos="100000">
                      <a:srgbClr val="08EDE8"/>
                    </a:gs>
                  </a:gsLst>
                  <a:lin ang="13200000" scaled="0"/>
                </a:gradFill>
                <a:latin typeface="Segoe UI Black" panose="020B0A02040204020203" pitchFamily="34" charset="0"/>
                <a:ea typeface="Segoe UI Black" panose="020B0A02040204020203" pitchFamily="34" charset="0"/>
              </a:rPr>
              <a:t>$37.89млрд</a:t>
            </a:r>
            <a:endParaRPr lang="ru-RU" sz="2800" dirty="0">
              <a:gradFill>
                <a:gsLst>
                  <a:gs pos="51000">
                    <a:schemeClr val="accent1">
                      <a:lumMod val="5000"/>
                      <a:lumOff val="95000"/>
                    </a:schemeClr>
                  </a:gs>
                  <a:gs pos="39000">
                    <a:srgbClr val="08EDE8"/>
                  </a:gs>
                  <a:gs pos="0">
                    <a:srgbClr val="5FF4FF"/>
                  </a:gs>
                  <a:gs pos="62000">
                    <a:srgbClr val="08EDE8"/>
                  </a:gs>
                  <a:gs pos="100000">
                    <a:srgbClr val="08EDE8"/>
                  </a:gs>
                </a:gsLst>
                <a:lin ang="13200000" scaled="0"/>
              </a:gra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898A89E-0318-4A61-97FA-5B0DD95F32CD}"/>
              </a:ext>
            </a:extLst>
          </p:cNvPr>
          <p:cNvSpPr txBox="1"/>
          <p:nvPr/>
        </p:nvSpPr>
        <p:spPr>
          <a:xfrm>
            <a:off x="-3208493" y="2780645"/>
            <a:ext cx="31043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Стрімке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простих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ботів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систем,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генерують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цілі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 реальному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часі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  <p:pic>
        <p:nvPicPr>
          <p:cNvPr id="61" name="миниДжойстик">
            <a:extLst>
              <a:ext uri="{FF2B5EF4-FFF2-40B4-BE49-F238E27FC236}">
                <a16:creationId xmlns:a16="http://schemas.microsoft.com/office/drawing/2014/main" id="{A17584B8-9902-414D-A447-0745C12A570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6062" t="-128771" r="227320" b="15533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0058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Яскраві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приклади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ігрового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708689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677326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175491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144128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175491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144128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175491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144128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17549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144128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5312092"/>
            <a:ext cx="460755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Революційне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використання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системи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планування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– супротивники тактично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взаємодіють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використовують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укриття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спілкуються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рації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для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координації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штурму.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520F23B-D5A1-4756-A264-C834097AD9FD}"/>
              </a:ext>
            </a:extLst>
          </p:cNvPr>
          <p:cNvSpPr txBox="1"/>
          <p:nvPr/>
        </p:nvSpPr>
        <p:spPr>
          <a:xfrm>
            <a:off x="-1404321" y="-3968509"/>
            <a:ext cx="151828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Примеры реализации игрового ИИ</a:t>
            </a:r>
          </a:p>
          <a:p>
            <a:r>
              <a:rPr lang="ru-RU" dirty="0"/>
              <a:t>Для демонстрации эволюции подходов в индустрии рассмотрим пять ключевых проектов: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 err="1"/>
              <a:t>Pac</a:t>
            </a:r>
            <a:r>
              <a:rPr lang="ru-RU" b="1" dirty="0"/>
              <a:t>-Man (1980):</a:t>
            </a:r>
            <a:r>
              <a:rPr lang="ru-RU" dirty="0"/>
              <a:t> Использование детерминированных алгоритмов, где каждый из четырех противников имеет уникальный паттерн движения (преследование, перехват, патрулирование), создающий групповую динамику.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F.E.A.R. (2005):</a:t>
            </a:r>
            <a:r>
              <a:rPr lang="ru-RU" dirty="0"/>
              <a:t> Внедрение системы планирования GOAP (</a:t>
            </a:r>
            <a:r>
              <a:rPr lang="ru-RU" dirty="0" err="1"/>
              <a:t>Goal-Oriented</a:t>
            </a:r>
            <a:r>
              <a:rPr lang="ru-RU" dirty="0"/>
              <a:t> Action Planning), позволяющей NPC динамически выстраивать цепочки действий для достижения тактических целей.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The </a:t>
            </a:r>
            <a:r>
              <a:rPr lang="ru-RU" b="1" dirty="0" err="1"/>
              <a:t>Sims</a:t>
            </a:r>
            <a:r>
              <a:rPr lang="ru-RU" b="1" dirty="0"/>
              <a:t>:</a:t>
            </a:r>
            <a:r>
              <a:rPr lang="ru-RU" dirty="0"/>
              <a:t> Применение «Utility-</a:t>
            </a:r>
            <a:r>
              <a:rPr lang="ru-RU" dirty="0" err="1"/>
              <a:t>based</a:t>
            </a:r>
            <a:r>
              <a:rPr lang="ru-RU" dirty="0"/>
              <a:t> AI», где выбор действия персонажа зависит от динамически меняющихся весов приоритетов и иерархии потребностей.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 err="1"/>
              <a:t>Alien</a:t>
            </a:r>
            <a:r>
              <a:rPr lang="ru-RU" b="1" dirty="0"/>
              <a:t>: </a:t>
            </a:r>
            <a:r>
              <a:rPr lang="ru-RU" b="1" dirty="0" err="1"/>
              <a:t>Isolation</a:t>
            </a:r>
            <a:r>
              <a:rPr lang="ru-RU" b="1" dirty="0"/>
              <a:t>:</a:t>
            </a:r>
            <a:r>
              <a:rPr lang="ru-RU" dirty="0"/>
              <a:t> Использование двухуровневой архитектуры («Директор» и «Охотник»), где система верхнего уровня передает контекстную информацию агенту для адаптации к стилю игры пользователя.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 err="1"/>
              <a:t>Forza</a:t>
            </a:r>
            <a:r>
              <a:rPr lang="ru-RU" b="1" dirty="0"/>
              <a:t> </a:t>
            </a:r>
            <a:r>
              <a:rPr lang="ru-RU" b="1" dirty="0" err="1"/>
              <a:t>Horizon</a:t>
            </a:r>
            <a:r>
              <a:rPr lang="ru-RU" b="1" dirty="0"/>
              <a:t>:</a:t>
            </a:r>
            <a:r>
              <a:rPr lang="ru-RU" dirty="0"/>
              <a:t> Реализация технологии </a:t>
            </a:r>
            <a:r>
              <a:rPr lang="ru-RU" dirty="0" err="1"/>
              <a:t>Drivatar</a:t>
            </a:r>
            <a:r>
              <a:rPr lang="ru-RU" dirty="0"/>
              <a:t> на базе нейросетей, которая анализирует телеметрию реальных игроков для имитации их стиля вождения в автономных заездах.</a:t>
            </a:r>
          </a:p>
        </p:txBody>
      </p:sp>
    </p:spTree>
    <p:extLst>
      <p:ext uri="{BB962C8B-B14F-4D97-AF65-F5344CB8AC3E}">
        <p14:creationId xmlns:p14="http://schemas.microsoft.com/office/powerpoint/2010/main" val="6873729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050" name="!!PlayPhoto" descr="Forza Horizon Wallpapers (79 images) - WallpaperCat">
            <a:extLst>
              <a:ext uri="{FF2B5EF4-FFF2-40B4-BE49-F238E27FC236}">
                <a16:creationId xmlns:a16="http://schemas.microsoft.com/office/drawing/2014/main" id="{0F93B688-AD91-447C-8332-B398D133E1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9510565" y="-5076340"/>
            <a:ext cx="30344552" cy="170688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pic>
        <p:nvPicPr>
          <p:cNvPr id="61" name="миниДжойстик">
            <a:extLst>
              <a:ext uri="{FF2B5EF4-FFF2-40B4-BE49-F238E27FC236}">
                <a16:creationId xmlns:a16="http://schemas.microsoft.com/office/drawing/2014/main" id="{A17584B8-9902-414D-A447-0745C12A570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6062" t="-128771" r="227320" b="15533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0058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Яскраві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приклади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ігрового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151678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120315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700085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668722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175491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144128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175491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144128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17549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144128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5580555"/>
            <a:ext cx="504865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Використання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нейромереж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для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технології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Drivatar, 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яка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аналізує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водіння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гравців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створює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їх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цифрових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двійників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для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заїздів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966359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5124" name="!!PlayPhoto" descr="Alien: Isolation - Коллекция">
            <a:extLst>
              <a:ext uri="{FF2B5EF4-FFF2-40B4-BE49-F238E27FC236}">
                <a16:creationId xmlns:a16="http://schemas.microsoft.com/office/drawing/2014/main" id="{F962B1D6-1CC3-41CA-9286-D86FB4F7E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4" descr="Pacman Wallpapers - PixelsTalk">
            <a:extLst>
              <a:ext uri="{FF2B5EF4-FFF2-40B4-BE49-F238E27FC236}">
                <a16:creationId xmlns:a16="http://schemas.microsoft.com/office/drawing/2014/main" id="{FD733330-63F2-49AC-A6AC-1AC26DA7FE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73"/>
          <a:stretch/>
        </p:blipFill>
        <p:spPr bwMode="auto">
          <a:xfrm rot="21229333">
            <a:off x="4456194" y="103657"/>
            <a:ext cx="9154262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Рисунок 57" descr="The Sims - The Sims™ 4 - Официальный сайт">
            <a:extLst>
              <a:ext uri="{FF2B5EF4-FFF2-40B4-BE49-F238E27FC236}">
                <a16:creationId xmlns:a16="http://schemas.microsoft.com/office/drawing/2014/main" id="{9CC787FA-EEC3-4599-A46E-96E03F5565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13" r="1"/>
          <a:stretch/>
        </p:blipFill>
        <p:spPr bwMode="auto">
          <a:xfrm flipH="1">
            <a:off x="-2107822" y="-6248"/>
            <a:ext cx="9240812" cy="6853587"/>
          </a:xfrm>
          <a:custGeom>
            <a:avLst/>
            <a:gdLst>
              <a:gd name="connsiteX0" fmla="*/ 9240812 w 9240812"/>
              <a:gd name="connsiteY0" fmla="*/ 0 h 6853587"/>
              <a:gd name="connsiteX1" fmla="*/ 0 w 9240812"/>
              <a:gd name="connsiteY1" fmla="*/ 0 h 6853587"/>
              <a:gd name="connsiteX2" fmla="*/ 0 w 9240812"/>
              <a:gd name="connsiteY2" fmla="*/ 1486756 h 6853587"/>
              <a:gd name="connsiteX3" fmla="*/ 17813 w 9240812"/>
              <a:gd name="connsiteY3" fmla="*/ 1492148 h 6853587"/>
              <a:gd name="connsiteX4" fmla="*/ 856013 w 9240812"/>
              <a:gd name="connsiteY4" fmla="*/ 2685948 h 6853587"/>
              <a:gd name="connsiteX5" fmla="*/ 1567213 w 9240812"/>
              <a:gd name="connsiteY5" fmla="*/ 4311548 h 6853587"/>
              <a:gd name="connsiteX6" fmla="*/ 3074028 w 9240812"/>
              <a:gd name="connsiteY6" fmla="*/ 6782281 h 6853587"/>
              <a:gd name="connsiteX7" fmla="*/ 3090079 w 9240812"/>
              <a:gd name="connsiteY7" fmla="*/ 6853587 h 6853587"/>
              <a:gd name="connsiteX8" fmla="*/ 9240812 w 9240812"/>
              <a:gd name="connsiteY8" fmla="*/ 6853587 h 6853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240812" h="6853587">
                <a:moveTo>
                  <a:pt x="9240812" y="0"/>
                </a:moveTo>
                <a:lnTo>
                  <a:pt x="0" y="0"/>
                </a:lnTo>
                <a:lnTo>
                  <a:pt x="0" y="1486756"/>
                </a:lnTo>
                <a:lnTo>
                  <a:pt x="17813" y="1492148"/>
                </a:lnTo>
                <a:cubicBezTo>
                  <a:pt x="383996" y="1638198"/>
                  <a:pt x="597780" y="2216048"/>
                  <a:pt x="856013" y="2685948"/>
                </a:cubicBezTo>
                <a:cubicBezTo>
                  <a:pt x="1114246" y="3155848"/>
                  <a:pt x="1192563" y="3606698"/>
                  <a:pt x="1567213" y="4311548"/>
                </a:cubicBezTo>
                <a:cubicBezTo>
                  <a:pt x="1918448" y="4972345"/>
                  <a:pt x="2872436" y="6088928"/>
                  <a:pt x="3074028" y="6782281"/>
                </a:cubicBezTo>
                <a:lnTo>
                  <a:pt x="3090079" y="6853587"/>
                </a:lnTo>
                <a:lnTo>
                  <a:pt x="9240812" y="685358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" name="Молния 58">
            <a:extLst>
              <a:ext uri="{FF2B5EF4-FFF2-40B4-BE49-F238E27FC236}">
                <a16:creationId xmlns:a16="http://schemas.microsoft.com/office/drawing/2014/main" id="{722E6311-3398-4486-AE1D-6C6579501A9C}"/>
              </a:ext>
            </a:extLst>
          </p:cNvPr>
          <p:cNvSpPr/>
          <p:nvPr/>
        </p:nvSpPr>
        <p:spPr>
          <a:xfrm rot="13340361">
            <a:off x="4017786" y="-1073766"/>
            <a:ext cx="3311524" cy="9212846"/>
          </a:xfrm>
          <a:prstGeom prst="lightningBolt">
            <a:avLst/>
          </a:pr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9510565" y="-5076340"/>
            <a:ext cx="30344552" cy="170688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pic>
        <p:nvPicPr>
          <p:cNvPr id="61" name="миниДжойстик">
            <a:extLst>
              <a:ext uri="{FF2B5EF4-FFF2-40B4-BE49-F238E27FC236}">
                <a16:creationId xmlns:a16="http://schemas.microsoft.com/office/drawing/2014/main" id="{A17584B8-9902-414D-A447-0745C12A570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6062" t="-128771" r="227320" b="15533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0058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Яскраві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приклади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ігрового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151678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120315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167289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135926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692619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661256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175491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144128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17549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144128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5580555"/>
            <a:ext cx="53721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Дворівнева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система «Директор –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Мисливець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», де одна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частина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підказки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друга (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Чужий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)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вивчає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звички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гравця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адаптується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укриттів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37113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5124" name="!!PlayPhoto" descr="Alien: Isolation - Коллекция">
            <a:extLst>
              <a:ext uri="{FF2B5EF4-FFF2-40B4-BE49-F238E27FC236}">
                <a16:creationId xmlns:a16="http://schemas.microsoft.com/office/drawing/2014/main" id="{F962B1D6-1CC3-41CA-9286-D86FB4F7E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Pacman Wallpapers - PixelsTalk">
            <a:extLst>
              <a:ext uri="{FF2B5EF4-FFF2-40B4-BE49-F238E27FC236}">
                <a16:creationId xmlns:a16="http://schemas.microsoft.com/office/drawing/2014/main" id="{040C6D5F-5EAE-46B4-97C1-F245B95BB6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73"/>
          <a:stretch/>
        </p:blipFill>
        <p:spPr bwMode="auto">
          <a:xfrm rot="21229333">
            <a:off x="4456194" y="103657"/>
            <a:ext cx="9154262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4" name="Рисунок 63" descr="The Sims - The Sims™ 4 - Официальный сайт">
            <a:extLst>
              <a:ext uri="{FF2B5EF4-FFF2-40B4-BE49-F238E27FC236}">
                <a16:creationId xmlns:a16="http://schemas.microsoft.com/office/drawing/2014/main" id="{4D6E5EA1-C959-4A9F-A113-6805E34FD1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13" r="1"/>
          <a:stretch/>
        </p:blipFill>
        <p:spPr bwMode="auto">
          <a:xfrm flipH="1">
            <a:off x="-2107822" y="-6248"/>
            <a:ext cx="9240812" cy="6853587"/>
          </a:xfrm>
          <a:custGeom>
            <a:avLst/>
            <a:gdLst>
              <a:gd name="connsiteX0" fmla="*/ 9240812 w 9240812"/>
              <a:gd name="connsiteY0" fmla="*/ 0 h 6853587"/>
              <a:gd name="connsiteX1" fmla="*/ 0 w 9240812"/>
              <a:gd name="connsiteY1" fmla="*/ 0 h 6853587"/>
              <a:gd name="connsiteX2" fmla="*/ 0 w 9240812"/>
              <a:gd name="connsiteY2" fmla="*/ 1486756 h 6853587"/>
              <a:gd name="connsiteX3" fmla="*/ 17813 w 9240812"/>
              <a:gd name="connsiteY3" fmla="*/ 1492148 h 6853587"/>
              <a:gd name="connsiteX4" fmla="*/ 856013 w 9240812"/>
              <a:gd name="connsiteY4" fmla="*/ 2685948 h 6853587"/>
              <a:gd name="connsiteX5" fmla="*/ 1567213 w 9240812"/>
              <a:gd name="connsiteY5" fmla="*/ 4311548 h 6853587"/>
              <a:gd name="connsiteX6" fmla="*/ 3074028 w 9240812"/>
              <a:gd name="connsiteY6" fmla="*/ 6782281 h 6853587"/>
              <a:gd name="connsiteX7" fmla="*/ 3090079 w 9240812"/>
              <a:gd name="connsiteY7" fmla="*/ 6853587 h 6853587"/>
              <a:gd name="connsiteX8" fmla="*/ 9240812 w 9240812"/>
              <a:gd name="connsiteY8" fmla="*/ 6853587 h 6853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240812" h="6853587">
                <a:moveTo>
                  <a:pt x="9240812" y="0"/>
                </a:moveTo>
                <a:lnTo>
                  <a:pt x="0" y="0"/>
                </a:lnTo>
                <a:lnTo>
                  <a:pt x="0" y="1486756"/>
                </a:lnTo>
                <a:lnTo>
                  <a:pt x="17813" y="1492148"/>
                </a:lnTo>
                <a:cubicBezTo>
                  <a:pt x="383996" y="1638198"/>
                  <a:pt x="597780" y="2216048"/>
                  <a:pt x="856013" y="2685948"/>
                </a:cubicBezTo>
                <a:cubicBezTo>
                  <a:pt x="1114246" y="3155848"/>
                  <a:pt x="1192563" y="3606698"/>
                  <a:pt x="1567213" y="4311548"/>
                </a:cubicBezTo>
                <a:cubicBezTo>
                  <a:pt x="1918448" y="4972345"/>
                  <a:pt x="2872436" y="6088928"/>
                  <a:pt x="3074028" y="6782281"/>
                </a:cubicBezTo>
                <a:lnTo>
                  <a:pt x="3090079" y="6853587"/>
                </a:lnTo>
                <a:lnTo>
                  <a:pt x="9240812" y="685358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Молния 36">
            <a:extLst>
              <a:ext uri="{FF2B5EF4-FFF2-40B4-BE49-F238E27FC236}">
                <a16:creationId xmlns:a16="http://schemas.microsoft.com/office/drawing/2014/main" id="{8AAF601C-2DE3-4216-8AE4-FD26867D820C}"/>
              </a:ext>
            </a:extLst>
          </p:cNvPr>
          <p:cNvSpPr/>
          <p:nvPr/>
        </p:nvSpPr>
        <p:spPr>
          <a:xfrm rot="13340361">
            <a:off x="4017786" y="-1073766"/>
            <a:ext cx="3311524" cy="9212846"/>
          </a:xfrm>
          <a:prstGeom prst="lightningBol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9510565" y="-5076340"/>
            <a:ext cx="30344552" cy="170688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pic>
        <p:nvPicPr>
          <p:cNvPr id="61" name="миниДжойстик">
            <a:extLst>
              <a:ext uri="{FF2B5EF4-FFF2-40B4-BE49-F238E27FC236}">
                <a16:creationId xmlns:a16="http://schemas.microsoft.com/office/drawing/2014/main" id="{A17584B8-9902-414D-A447-0745C12A570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6062" t="-128771" r="227320" b="15533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0058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Яскраві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приклади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ігрового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151678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120315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167289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135926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152811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121448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695101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663738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69510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663738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5580555"/>
            <a:ext cx="53721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Реалізація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«ШІ потреб» (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Utility AI), 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де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персонажі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самостійно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приймають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рішення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виходячи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ієрархії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своїх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потреб (голод, комфорт,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спілкування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).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4D85B3-DBC4-49A0-8F09-FC09C1E082E9}"/>
              </a:ext>
            </a:extLst>
          </p:cNvPr>
          <p:cNvSpPr txBox="1"/>
          <p:nvPr/>
        </p:nvSpPr>
        <p:spPr>
          <a:xfrm>
            <a:off x="5719764" y="5580555"/>
            <a:ext cx="578513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Кожен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чотирьох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привидів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унікальний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математичний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алгоритм (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переслідування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перехоплення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хаос),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створює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першу в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історії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ілюзію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особистості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ворогів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4665C32-B333-44BD-9949-1FA9A1FF860C}"/>
              </a:ext>
            </a:extLst>
          </p:cNvPr>
          <p:cNvSpPr txBox="1"/>
          <p:nvPr/>
        </p:nvSpPr>
        <p:spPr>
          <a:xfrm>
            <a:off x="167289" y="5238147"/>
            <a:ext cx="49729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BCB42D4-467A-4794-9EB4-DF7E35FD882F}"/>
              </a:ext>
            </a:extLst>
          </p:cNvPr>
          <p:cNvSpPr txBox="1"/>
          <p:nvPr/>
        </p:nvSpPr>
        <p:spPr>
          <a:xfrm>
            <a:off x="5799573" y="5238147"/>
            <a:ext cx="55518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8" name="Рисунок 67">
            <a:extLst>
              <a:ext uri="{FF2B5EF4-FFF2-40B4-BE49-F238E27FC236}">
                <a16:creationId xmlns:a16="http://schemas.microsoft.com/office/drawing/2014/main" id="{AE9F7DB6-82CB-41FE-BE66-76026949C0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66332">
            <a:off x="12123100" y="3420545"/>
            <a:ext cx="4812324" cy="6652982"/>
          </a:xfrm>
          <a:prstGeom prst="rect">
            <a:avLst/>
          </a:prstGeom>
        </p:spPr>
      </p:pic>
      <p:sp>
        <p:nvSpPr>
          <p:cNvPr id="69" name="Полилиния: фигура 68">
            <a:extLst>
              <a:ext uri="{FF2B5EF4-FFF2-40B4-BE49-F238E27FC236}">
                <a16:creationId xmlns:a16="http://schemas.microsoft.com/office/drawing/2014/main" id="{BBB49FD5-723D-45A5-8F65-355466FA1AC5}"/>
              </a:ext>
            </a:extLst>
          </p:cNvPr>
          <p:cNvSpPr/>
          <p:nvPr/>
        </p:nvSpPr>
        <p:spPr>
          <a:xfrm>
            <a:off x="3315709" y="-2910399"/>
            <a:ext cx="7460442" cy="2031641"/>
          </a:xfrm>
          <a:custGeom>
            <a:avLst/>
            <a:gdLst>
              <a:gd name="connsiteX0" fmla="*/ 214850 w 7460442"/>
              <a:gd name="connsiteY0" fmla="*/ 0 h 2139668"/>
              <a:gd name="connsiteX1" fmla="*/ 6426170 w 7460442"/>
              <a:gd name="connsiteY1" fmla="*/ 0 h 2139668"/>
              <a:gd name="connsiteX2" fmla="*/ 6641020 w 7460442"/>
              <a:gd name="connsiteY2" fmla="*/ 214850 h 2139668"/>
              <a:gd name="connsiteX3" fmla="*/ 6641020 w 7460442"/>
              <a:gd name="connsiteY3" fmla="*/ 1296464 h 2139668"/>
              <a:gd name="connsiteX4" fmla="*/ 7460442 w 7460442"/>
              <a:gd name="connsiteY4" fmla="*/ 2139668 h 2139668"/>
              <a:gd name="connsiteX5" fmla="*/ 6447245 w 7460442"/>
              <a:gd name="connsiteY5" fmla="*/ 1820335 h 2139668"/>
              <a:gd name="connsiteX6" fmla="*/ 6426170 w 7460442"/>
              <a:gd name="connsiteY6" fmla="*/ 1822459 h 2139668"/>
              <a:gd name="connsiteX7" fmla="*/ 214850 w 7460442"/>
              <a:gd name="connsiteY7" fmla="*/ 1822459 h 2139668"/>
              <a:gd name="connsiteX8" fmla="*/ 0 w 7460442"/>
              <a:gd name="connsiteY8" fmla="*/ 1607609 h 2139668"/>
              <a:gd name="connsiteX9" fmla="*/ 0 w 7460442"/>
              <a:gd name="connsiteY9" fmla="*/ 214850 h 2139668"/>
              <a:gd name="connsiteX10" fmla="*/ 214850 w 7460442"/>
              <a:gd name="connsiteY10" fmla="*/ 0 h 2139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460442" h="2139668">
                <a:moveTo>
                  <a:pt x="214850" y="0"/>
                </a:moveTo>
                <a:lnTo>
                  <a:pt x="6426170" y="0"/>
                </a:lnTo>
                <a:cubicBezTo>
                  <a:pt x="6544828" y="0"/>
                  <a:pt x="6641020" y="96192"/>
                  <a:pt x="6641020" y="214850"/>
                </a:cubicBezTo>
                <a:lnTo>
                  <a:pt x="6641020" y="1296464"/>
                </a:lnTo>
                <a:lnTo>
                  <a:pt x="7460442" y="2139668"/>
                </a:lnTo>
                <a:lnTo>
                  <a:pt x="6447245" y="1820335"/>
                </a:lnTo>
                <a:lnTo>
                  <a:pt x="6426170" y="1822459"/>
                </a:lnTo>
                <a:lnTo>
                  <a:pt x="214850" y="1822459"/>
                </a:lnTo>
                <a:cubicBezTo>
                  <a:pt x="96192" y="1822459"/>
                  <a:pt x="0" y="1726267"/>
                  <a:pt x="0" y="1607609"/>
                </a:cubicBezTo>
                <a:lnTo>
                  <a:pt x="0" y="214850"/>
                </a:lnTo>
                <a:cubicBezTo>
                  <a:pt x="0" y="96192"/>
                  <a:pt x="96192" y="0"/>
                  <a:pt x="214850" y="0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CC7739-3510-4A55-B8C1-5B66B616E942}"/>
              </a:ext>
            </a:extLst>
          </p:cNvPr>
          <p:cNvSpPr txBox="1"/>
          <p:nvPr/>
        </p:nvSpPr>
        <p:spPr>
          <a:xfrm>
            <a:off x="3898012" y="-2358583"/>
            <a:ext cx="574774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–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«наука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розробка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машин і систем, особливо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комп'ютерних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програм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спрямованих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те,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щоб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зрозуміти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людський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FA19EB0-F6D3-47A6-88CF-4CEBB0C182F4}"/>
              </a:ext>
            </a:extLst>
          </p:cNvPr>
          <p:cNvSpPr txBox="1"/>
          <p:nvPr/>
        </p:nvSpPr>
        <p:spPr>
          <a:xfrm>
            <a:off x="3896593" y="-2828118"/>
            <a:ext cx="2306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John McCarthy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A3B6DFF-C561-4970-ABCF-59243F537A53}"/>
              </a:ext>
            </a:extLst>
          </p:cNvPr>
          <p:cNvSpPr txBox="1"/>
          <p:nvPr/>
        </p:nvSpPr>
        <p:spPr>
          <a:xfrm rot="2833229">
            <a:off x="-1690511" y="8369937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A0DE6E6-448F-4022-A87D-69F562778C31}"/>
              </a:ext>
            </a:extLst>
          </p:cNvPr>
          <p:cNvSpPr txBox="1"/>
          <p:nvPr/>
        </p:nvSpPr>
        <p:spPr>
          <a:xfrm rot="20232721">
            <a:off x="700886" y="9700740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18BF28D-5A39-46C9-8C42-1B6DD5FCD5DF}"/>
              </a:ext>
            </a:extLst>
          </p:cNvPr>
          <p:cNvSpPr txBox="1"/>
          <p:nvPr/>
        </p:nvSpPr>
        <p:spPr>
          <a:xfrm rot="2451780">
            <a:off x="491678" y="8064751"/>
            <a:ext cx="2619077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4F529C8-8A5F-4D27-B049-77F6133BFF03}"/>
              </a:ext>
            </a:extLst>
          </p:cNvPr>
          <p:cNvSpPr txBox="1"/>
          <p:nvPr/>
        </p:nvSpPr>
        <p:spPr>
          <a:xfrm>
            <a:off x="3359977" y="8102570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D4FAD3-BB15-48B8-B890-C3295C1A4DC3}"/>
              </a:ext>
            </a:extLst>
          </p:cNvPr>
          <p:cNvSpPr txBox="1"/>
          <p:nvPr/>
        </p:nvSpPr>
        <p:spPr>
          <a:xfrm rot="19510982">
            <a:off x="4174918" y="9403574"/>
            <a:ext cx="111181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93C2F40-FD78-4EC0-A3A7-983CFB977BB4}"/>
              </a:ext>
            </a:extLst>
          </p:cNvPr>
          <p:cNvSpPr txBox="1"/>
          <p:nvPr/>
        </p:nvSpPr>
        <p:spPr>
          <a:xfrm rot="19381440">
            <a:off x="-3336931" y="8194325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99D9E77-E105-4B45-8D10-F2046503A3E8}"/>
              </a:ext>
            </a:extLst>
          </p:cNvPr>
          <p:cNvSpPr txBox="1"/>
          <p:nvPr/>
        </p:nvSpPr>
        <p:spPr>
          <a:xfrm rot="19540174">
            <a:off x="-4688780" y="6450169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LLM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94D17-136E-4580-B5A7-9488CACBE84E}"/>
              </a:ext>
            </a:extLst>
          </p:cNvPr>
          <p:cNvSpPr txBox="1"/>
          <p:nvPr/>
        </p:nvSpPr>
        <p:spPr>
          <a:xfrm>
            <a:off x="5810430" y="8801806"/>
            <a:ext cx="2432884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3647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5124" name="!!PlayPhoto" descr="Alien: Isolation - Коллекция">
            <a:extLst>
              <a:ext uri="{FF2B5EF4-FFF2-40B4-BE49-F238E27FC236}">
                <a16:creationId xmlns:a16="http://schemas.microsoft.com/office/drawing/2014/main" id="{F962B1D6-1CC3-41CA-9286-D86FB4F7E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Pacman Wallpapers - PixelsTalk">
            <a:extLst>
              <a:ext uri="{FF2B5EF4-FFF2-40B4-BE49-F238E27FC236}">
                <a16:creationId xmlns:a16="http://schemas.microsoft.com/office/drawing/2014/main" id="{040C6D5F-5EAE-46B4-97C1-F245B95BB6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73"/>
          <a:stretch/>
        </p:blipFill>
        <p:spPr bwMode="auto">
          <a:xfrm rot="21229333">
            <a:off x="4456194" y="103657"/>
            <a:ext cx="9154262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4" name="Рисунок 63" descr="The Sims - The Sims™ 4 - Официальный сайт">
            <a:extLst>
              <a:ext uri="{FF2B5EF4-FFF2-40B4-BE49-F238E27FC236}">
                <a16:creationId xmlns:a16="http://schemas.microsoft.com/office/drawing/2014/main" id="{4D6E5EA1-C959-4A9F-A113-6805E34FD1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13" r="1"/>
          <a:stretch/>
        </p:blipFill>
        <p:spPr bwMode="auto">
          <a:xfrm flipH="1">
            <a:off x="-2107822" y="-6248"/>
            <a:ext cx="9240812" cy="6853587"/>
          </a:xfrm>
          <a:custGeom>
            <a:avLst/>
            <a:gdLst>
              <a:gd name="connsiteX0" fmla="*/ 9240812 w 9240812"/>
              <a:gd name="connsiteY0" fmla="*/ 0 h 6853587"/>
              <a:gd name="connsiteX1" fmla="*/ 0 w 9240812"/>
              <a:gd name="connsiteY1" fmla="*/ 0 h 6853587"/>
              <a:gd name="connsiteX2" fmla="*/ 0 w 9240812"/>
              <a:gd name="connsiteY2" fmla="*/ 1486756 h 6853587"/>
              <a:gd name="connsiteX3" fmla="*/ 17813 w 9240812"/>
              <a:gd name="connsiteY3" fmla="*/ 1492148 h 6853587"/>
              <a:gd name="connsiteX4" fmla="*/ 856013 w 9240812"/>
              <a:gd name="connsiteY4" fmla="*/ 2685948 h 6853587"/>
              <a:gd name="connsiteX5" fmla="*/ 1567213 w 9240812"/>
              <a:gd name="connsiteY5" fmla="*/ 4311548 h 6853587"/>
              <a:gd name="connsiteX6" fmla="*/ 3074028 w 9240812"/>
              <a:gd name="connsiteY6" fmla="*/ 6782281 h 6853587"/>
              <a:gd name="connsiteX7" fmla="*/ 3090079 w 9240812"/>
              <a:gd name="connsiteY7" fmla="*/ 6853587 h 6853587"/>
              <a:gd name="connsiteX8" fmla="*/ 9240812 w 9240812"/>
              <a:gd name="connsiteY8" fmla="*/ 6853587 h 6853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240812" h="6853587">
                <a:moveTo>
                  <a:pt x="9240812" y="0"/>
                </a:moveTo>
                <a:lnTo>
                  <a:pt x="0" y="0"/>
                </a:lnTo>
                <a:lnTo>
                  <a:pt x="0" y="1486756"/>
                </a:lnTo>
                <a:lnTo>
                  <a:pt x="17813" y="1492148"/>
                </a:lnTo>
                <a:cubicBezTo>
                  <a:pt x="383996" y="1638198"/>
                  <a:pt x="597780" y="2216048"/>
                  <a:pt x="856013" y="2685948"/>
                </a:cubicBezTo>
                <a:cubicBezTo>
                  <a:pt x="1114246" y="3155848"/>
                  <a:pt x="1192563" y="3606698"/>
                  <a:pt x="1567213" y="4311548"/>
                </a:cubicBezTo>
                <a:cubicBezTo>
                  <a:pt x="1918448" y="4972345"/>
                  <a:pt x="2872436" y="6088928"/>
                  <a:pt x="3074028" y="6782281"/>
                </a:cubicBezTo>
                <a:lnTo>
                  <a:pt x="3090079" y="6853587"/>
                </a:lnTo>
                <a:lnTo>
                  <a:pt x="9240812" y="685358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>
                  <a:alpha val="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Молния 36">
            <a:extLst>
              <a:ext uri="{FF2B5EF4-FFF2-40B4-BE49-F238E27FC236}">
                <a16:creationId xmlns:a16="http://schemas.microsoft.com/office/drawing/2014/main" id="{8AAF601C-2DE3-4216-8AE4-FD26867D820C}"/>
              </a:ext>
            </a:extLst>
          </p:cNvPr>
          <p:cNvSpPr/>
          <p:nvPr/>
        </p:nvSpPr>
        <p:spPr>
          <a:xfrm rot="13340361">
            <a:off x="4017786" y="-1073766"/>
            <a:ext cx="3311524" cy="9212846"/>
          </a:xfrm>
          <a:prstGeom prst="lightningBolt">
            <a:avLst/>
          </a:pr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8F18432-5544-464E-B50A-ECDA558086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0505" y="1770598"/>
            <a:ext cx="4812324" cy="6652982"/>
          </a:xfrm>
          <a:prstGeom prst="rect">
            <a:avLst/>
          </a:prstGeom>
        </p:spPr>
      </p:pic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3691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Про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визначення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терміну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«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Штучний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Інтелект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»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-4773229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-4804592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-4122528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-4153891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-3681536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-3712899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-3139246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-3170609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-222598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-2257344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8074605"/>
            <a:ext cx="53721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Реалізація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«ШІ потреб» (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Utility AI), 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де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персонажі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самостійно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приймають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рішення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виходячи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ієрархії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своїх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потреб (голод, комфорт,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спілкування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).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4D85B3-DBC4-49A0-8F09-FC09C1E082E9}"/>
              </a:ext>
            </a:extLst>
          </p:cNvPr>
          <p:cNvSpPr txBox="1"/>
          <p:nvPr/>
        </p:nvSpPr>
        <p:spPr>
          <a:xfrm>
            <a:off x="5719764" y="8074605"/>
            <a:ext cx="578513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Кожен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чотирьох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привидів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унікальний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математичний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алгоритм (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переслідування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перехоплення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хаос),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створює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першу в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історії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ілюзію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особистості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ворогів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4665C32-B333-44BD-9949-1FA9A1FF860C}"/>
              </a:ext>
            </a:extLst>
          </p:cNvPr>
          <p:cNvSpPr txBox="1"/>
          <p:nvPr/>
        </p:nvSpPr>
        <p:spPr>
          <a:xfrm>
            <a:off x="167289" y="7732197"/>
            <a:ext cx="49729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BCB42D4-467A-4794-9EB4-DF7E35FD882F}"/>
              </a:ext>
            </a:extLst>
          </p:cNvPr>
          <p:cNvSpPr txBox="1"/>
          <p:nvPr/>
        </p:nvSpPr>
        <p:spPr>
          <a:xfrm>
            <a:off x="5799573" y="7732197"/>
            <a:ext cx="55518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19" name="Полилиния: фигура 118">
            <a:extLst>
              <a:ext uri="{FF2B5EF4-FFF2-40B4-BE49-F238E27FC236}">
                <a16:creationId xmlns:a16="http://schemas.microsoft.com/office/drawing/2014/main" id="{9B45B3B5-9D86-42D4-8C9D-F095494F3A26}"/>
              </a:ext>
            </a:extLst>
          </p:cNvPr>
          <p:cNvSpPr/>
          <p:nvPr/>
        </p:nvSpPr>
        <p:spPr>
          <a:xfrm>
            <a:off x="682551" y="1720747"/>
            <a:ext cx="7460442" cy="2031641"/>
          </a:xfrm>
          <a:custGeom>
            <a:avLst/>
            <a:gdLst>
              <a:gd name="connsiteX0" fmla="*/ 214850 w 7460442"/>
              <a:gd name="connsiteY0" fmla="*/ 0 h 2139668"/>
              <a:gd name="connsiteX1" fmla="*/ 6426170 w 7460442"/>
              <a:gd name="connsiteY1" fmla="*/ 0 h 2139668"/>
              <a:gd name="connsiteX2" fmla="*/ 6641020 w 7460442"/>
              <a:gd name="connsiteY2" fmla="*/ 214850 h 2139668"/>
              <a:gd name="connsiteX3" fmla="*/ 6641020 w 7460442"/>
              <a:gd name="connsiteY3" fmla="*/ 1296464 h 2139668"/>
              <a:gd name="connsiteX4" fmla="*/ 7460442 w 7460442"/>
              <a:gd name="connsiteY4" fmla="*/ 2139668 h 2139668"/>
              <a:gd name="connsiteX5" fmla="*/ 6447245 w 7460442"/>
              <a:gd name="connsiteY5" fmla="*/ 1820335 h 2139668"/>
              <a:gd name="connsiteX6" fmla="*/ 6426170 w 7460442"/>
              <a:gd name="connsiteY6" fmla="*/ 1822459 h 2139668"/>
              <a:gd name="connsiteX7" fmla="*/ 214850 w 7460442"/>
              <a:gd name="connsiteY7" fmla="*/ 1822459 h 2139668"/>
              <a:gd name="connsiteX8" fmla="*/ 0 w 7460442"/>
              <a:gd name="connsiteY8" fmla="*/ 1607609 h 2139668"/>
              <a:gd name="connsiteX9" fmla="*/ 0 w 7460442"/>
              <a:gd name="connsiteY9" fmla="*/ 214850 h 2139668"/>
              <a:gd name="connsiteX10" fmla="*/ 214850 w 7460442"/>
              <a:gd name="connsiteY10" fmla="*/ 0 h 2139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460442" h="2139668">
                <a:moveTo>
                  <a:pt x="214850" y="0"/>
                </a:moveTo>
                <a:lnTo>
                  <a:pt x="6426170" y="0"/>
                </a:lnTo>
                <a:cubicBezTo>
                  <a:pt x="6544828" y="0"/>
                  <a:pt x="6641020" y="96192"/>
                  <a:pt x="6641020" y="214850"/>
                </a:cubicBezTo>
                <a:lnTo>
                  <a:pt x="6641020" y="1296464"/>
                </a:lnTo>
                <a:lnTo>
                  <a:pt x="7460442" y="2139668"/>
                </a:lnTo>
                <a:lnTo>
                  <a:pt x="6447245" y="1820335"/>
                </a:lnTo>
                <a:lnTo>
                  <a:pt x="6426170" y="1822459"/>
                </a:lnTo>
                <a:lnTo>
                  <a:pt x="214850" y="1822459"/>
                </a:lnTo>
                <a:cubicBezTo>
                  <a:pt x="96192" y="1822459"/>
                  <a:pt x="0" y="1726267"/>
                  <a:pt x="0" y="1607609"/>
                </a:cubicBezTo>
                <a:lnTo>
                  <a:pt x="0" y="214850"/>
                </a:lnTo>
                <a:cubicBezTo>
                  <a:pt x="0" y="96192"/>
                  <a:pt x="96192" y="0"/>
                  <a:pt x="214850" y="0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853C8CF-FECA-48CF-80ED-2812A8444759}"/>
              </a:ext>
            </a:extLst>
          </p:cNvPr>
          <p:cNvSpPr txBox="1"/>
          <p:nvPr/>
        </p:nvSpPr>
        <p:spPr>
          <a:xfrm>
            <a:off x="1264854" y="2272563"/>
            <a:ext cx="574774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–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«наука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розробка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машин і систем, особливо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комп'ютерних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програм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спрямованих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те,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щоб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зрозуміти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людський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».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07132C8-AB44-44DF-8C9C-251C9E13E2DF}"/>
              </a:ext>
            </a:extLst>
          </p:cNvPr>
          <p:cNvSpPr txBox="1"/>
          <p:nvPr/>
        </p:nvSpPr>
        <p:spPr>
          <a:xfrm>
            <a:off x="1263435" y="1803028"/>
            <a:ext cx="2306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John McCarthy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 rot="20000156">
            <a:off x="661077" y="5388849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 rot="362195">
            <a:off x="2721928" y="5190696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 rot="20949433">
            <a:off x="2410509" y="4239447"/>
            <a:ext cx="2619077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 rot="1854636">
            <a:off x="4799142" y="3934233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EF7D398-146C-4E49-8608-8A0F45970AB3}"/>
              </a:ext>
            </a:extLst>
          </p:cNvPr>
          <p:cNvSpPr txBox="1"/>
          <p:nvPr/>
        </p:nvSpPr>
        <p:spPr>
          <a:xfrm rot="1736393">
            <a:off x="4287131" y="5234620"/>
            <a:ext cx="111181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2230F7A-2D16-4764-B33C-286ECE3ED4B9}"/>
              </a:ext>
            </a:extLst>
          </p:cNvPr>
          <p:cNvSpPr txBox="1"/>
          <p:nvPr/>
        </p:nvSpPr>
        <p:spPr>
          <a:xfrm rot="1032814">
            <a:off x="131834" y="4915995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DE3A640-446F-45BA-BCD4-5BED07ACCFC8}"/>
              </a:ext>
            </a:extLst>
          </p:cNvPr>
          <p:cNvSpPr txBox="1"/>
          <p:nvPr/>
        </p:nvSpPr>
        <p:spPr>
          <a:xfrm rot="1487110">
            <a:off x="419774" y="3734240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LLM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30" name="Прямоугольник: скругленные углы 129">
            <a:extLst>
              <a:ext uri="{FF2B5EF4-FFF2-40B4-BE49-F238E27FC236}">
                <a16:creationId xmlns:a16="http://schemas.microsoft.com/office/drawing/2014/main" id="{FABEB959-CEAB-4A54-B94E-BFD40E03CDAD}"/>
              </a:ext>
            </a:extLst>
          </p:cNvPr>
          <p:cNvSpPr/>
          <p:nvPr/>
        </p:nvSpPr>
        <p:spPr>
          <a:xfrm>
            <a:off x="710768" y="-8246648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Прямоугольник: скругленные углы 130">
            <a:extLst>
              <a:ext uri="{FF2B5EF4-FFF2-40B4-BE49-F238E27FC236}">
                <a16:creationId xmlns:a16="http://schemas.microsoft.com/office/drawing/2014/main" id="{306BEF23-FE27-4C54-B826-8EF0B4E9FDB8}"/>
              </a:ext>
            </a:extLst>
          </p:cNvPr>
          <p:cNvSpPr/>
          <p:nvPr/>
        </p:nvSpPr>
        <p:spPr>
          <a:xfrm>
            <a:off x="3489962" y="-7393763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Прямоугольник: скругленные углы 131">
            <a:extLst>
              <a:ext uri="{FF2B5EF4-FFF2-40B4-BE49-F238E27FC236}">
                <a16:creationId xmlns:a16="http://schemas.microsoft.com/office/drawing/2014/main" id="{156E8A54-E28F-41BE-BCE9-62AA635D0BBB}"/>
              </a:ext>
            </a:extLst>
          </p:cNvPr>
          <p:cNvSpPr/>
          <p:nvPr/>
        </p:nvSpPr>
        <p:spPr>
          <a:xfrm>
            <a:off x="6269156" y="-5901799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Прямоугольник: скругленные углы 132">
            <a:extLst>
              <a:ext uri="{FF2B5EF4-FFF2-40B4-BE49-F238E27FC236}">
                <a16:creationId xmlns:a16="http://schemas.microsoft.com/office/drawing/2014/main" id="{59152B57-9848-493D-BA58-6DD5F86E074C}"/>
              </a:ext>
            </a:extLst>
          </p:cNvPr>
          <p:cNvSpPr/>
          <p:nvPr/>
        </p:nvSpPr>
        <p:spPr>
          <a:xfrm>
            <a:off x="9048350" y="-4283303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8044EFCB-B69C-4BDA-8A84-E0B9EA1F8910}"/>
              </a:ext>
            </a:extLst>
          </p:cNvPr>
          <p:cNvSpPr txBox="1"/>
          <p:nvPr/>
        </p:nvSpPr>
        <p:spPr>
          <a:xfrm rot="19582091">
            <a:off x="5311554" y="5003126"/>
            <a:ext cx="2432884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1234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8F18432-5544-464E-B50A-ECDA558086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0505" y="9176717"/>
            <a:ext cx="4812324" cy="6652982"/>
          </a:xfrm>
          <a:prstGeom prst="rect">
            <a:avLst/>
          </a:prstGeom>
        </p:spPr>
      </p:pic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58687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О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сновні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способи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реалізації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в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іграх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sp>
        <p:nvSpPr>
          <p:cNvPr id="119" name="Полилиния: фигура 118">
            <a:extLst>
              <a:ext uri="{FF2B5EF4-FFF2-40B4-BE49-F238E27FC236}">
                <a16:creationId xmlns:a16="http://schemas.microsoft.com/office/drawing/2014/main" id="{9B45B3B5-9D86-42D4-8C9D-F095494F3A26}"/>
              </a:ext>
            </a:extLst>
          </p:cNvPr>
          <p:cNvSpPr/>
          <p:nvPr/>
        </p:nvSpPr>
        <p:spPr>
          <a:xfrm>
            <a:off x="682551" y="9126866"/>
            <a:ext cx="7460442" cy="2031641"/>
          </a:xfrm>
          <a:custGeom>
            <a:avLst/>
            <a:gdLst>
              <a:gd name="connsiteX0" fmla="*/ 214850 w 7460442"/>
              <a:gd name="connsiteY0" fmla="*/ 0 h 2139668"/>
              <a:gd name="connsiteX1" fmla="*/ 6426170 w 7460442"/>
              <a:gd name="connsiteY1" fmla="*/ 0 h 2139668"/>
              <a:gd name="connsiteX2" fmla="*/ 6641020 w 7460442"/>
              <a:gd name="connsiteY2" fmla="*/ 214850 h 2139668"/>
              <a:gd name="connsiteX3" fmla="*/ 6641020 w 7460442"/>
              <a:gd name="connsiteY3" fmla="*/ 1296464 h 2139668"/>
              <a:gd name="connsiteX4" fmla="*/ 7460442 w 7460442"/>
              <a:gd name="connsiteY4" fmla="*/ 2139668 h 2139668"/>
              <a:gd name="connsiteX5" fmla="*/ 6447245 w 7460442"/>
              <a:gd name="connsiteY5" fmla="*/ 1820335 h 2139668"/>
              <a:gd name="connsiteX6" fmla="*/ 6426170 w 7460442"/>
              <a:gd name="connsiteY6" fmla="*/ 1822459 h 2139668"/>
              <a:gd name="connsiteX7" fmla="*/ 214850 w 7460442"/>
              <a:gd name="connsiteY7" fmla="*/ 1822459 h 2139668"/>
              <a:gd name="connsiteX8" fmla="*/ 0 w 7460442"/>
              <a:gd name="connsiteY8" fmla="*/ 1607609 h 2139668"/>
              <a:gd name="connsiteX9" fmla="*/ 0 w 7460442"/>
              <a:gd name="connsiteY9" fmla="*/ 214850 h 2139668"/>
              <a:gd name="connsiteX10" fmla="*/ 214850 w 7460442"/>
              <a:gd name="connsiteY10" fmla="*/ 0 h 2139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460442" h="2139668">
                <a:moveTo>
                  <a:pt x="214850" y="0"/>
                </a:moveTo>
                <a:lnTo>
                  <a:pt x="6426170" y="0"/>
                </a:lnTo>
                <a:cubicBezTo>
                  <a:pt x="6544828" y="0"/>
                  <a:pt x="6641020" y="96192"/>
                  <a:pt x="6641020" y="214850"/>
                </a:cubicBezTo>
                <a:lnTo>
                  <a:pt x="6641020" y="1296464"/>
                </a:lnTo>
                <a:lnTo>
                  <a:pt x="7460442" y="2139668"/>
                </a:lnTo>
                <a:lnTo>
                  <a:pt x="6447245" y="1820335"/>
                </a:lnTo>
                <a:lnTo>
                  <a:pt x="6426170" y="1822459"/>
                </a:lnTo>
                <a:lnTo>
                  <a:pt x="214850" y="1822459"/>
                </a:lnTo>
                <a:cubicBezTo>
                  <a:pt x="96192" y="1822459"/>
                  <a:pt x="0" y="1726267"/>
                  <a:pt x="0" y="1607609"/>
                </a:cubicBezTo>
                <a:lnTo>
                  <a:pt x="0" y="214850"/>
                </a:lnTo>
                <a:cubicBezTo>
                  <a:pt x="0" y="96192"/>
                  <a:pt x="96192" y="0"/>
                  <a:pt x="214850" y="0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Прямоугольник: скругленные углы 113">
            <a:extLst>
              <a:ext uri="{FF2B5EF4-FFF2-40B4-BE49-F238E27FC236}">
                <a16:creationId xmlns:a16="http://schemas.microsoft.com/office/drawing/2014/main" id="{34A9E62E-9EA6-41E4-BC5C-72C7C29D2E09}"/>
              </a:ext>
            </a:extLst>
          </p:cNvPr>
          <p:cNvSpPr/>
          <p:nvPr/>
        </p:nvSpPr>
        <p:spPr>
          <a:xfrm>
            <a:off x="710768" y="1714499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Прямоугольник: скругленные углы 114">
            <a:extLst>
              <a:ext uri="{FF2B5EF4-FFF2-40B4-BE49-F238E27FC236}">
                <a16:creationId xmlns:a16="http://schemas.microsoft.com/office/drawing/2014/main" id="{A2F7322C-9808-48D2-9BE4-4A668F1D742C}"/>
              </a:ext>
            </a:extLst>
          </p:cNvPr>
          <p:cNvSpPr/>
          <p:nvPr/>
        </p:nvSpPr>
        <p:spPr>
          <a:xfrm>
            <a:off x="3489962" y="1714499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6" name="Прямоугольник: скругленные углы 115">
            <a:extLst>
              <a:ext uri="{FF2B5EF4-FFF2-40B4-BE49-F238E27FC236}">
                <a16:creationId xmlns:a16="http://schemas.microsoft.com/office/drawing/2014/main" id="{E8A47366-9D67-4A4B-854B-D509E846EAFB}"/>
              </a:ext>
            </a:extLst>
          </p:cNvPr>
          <p:cNvSpPr/>
          <p:nvPr/>
        </p:nvSpPr>
        <p:spPr>
          <a:xfrm>
            <a:off x="6269156" y="1713124"/>
            <a:ext cx="2455667" cy="394755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Прямоугольник: скругленные углы 116">
            <a:extLst>
              <a:ext uri="{FF2B5EF4-FFF2-40B4-BE49-F238E27FC236}">
                <a16:creationId xmlns:a16="http://schemas.microsoft.com/office/drawing/2014/main" id="{6A244823-5BCE-453E-97D5-A32F68A6EB86}"/>
              </a:ext>
            </a:extLst>
          </p:cNvPr>
          <p:cNvSpPr/>
          <p:nvPr/>
        </p:nvSpPr>
        <p:spPr>
          <a:xfrm>
            <a:off x="9048350" y="1713124"/>
            <a:ext cx="2455667" cy="394756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853C8CF-FECA-48CF-80ED-2812A8444759}"/>
              </a:ext>
            </a:extLst>
          </p:cNvPr>
          <p:cNvSpPr txBox="1"/>
          <p:nvPr/>
        </p:nvSpPr>
        <p:spPr>
          <a:xfrm>
            <a:off x="1264854" y="9678682"/>
            <a:ext cx="574774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–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«наука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розробка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машин і систем, особливо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комп'ютерних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програм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спрямованих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те,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щоб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зрозуміти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людський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».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07132C8-AB44-44DF-8C9C-251C9E13E2DF}"/>
              </a:ext>
            </a:extLst>
          </p:cNvPr>
          <p:cNvSpPr txBox="1"/>
          <p:nvPr/>
        </p:nvSpPr>
        <p:spPr>
          <a:xfrm>
            <a:off x="1263435" y="9209147"/>
            <a:ext cx="2306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John McCarthy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>
            <a:off x="710765" y="1713125"/>
            <a:ext cx="2443515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>
            <a:off x="3489962" y="1713587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>
            <a:off x="6255081" y="1713126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>
            <a:off x="9048348" y="1713586"/>
            <a:ext cx="2432884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EF7D398-146C-4E49-8608-8A0F45970AB3}"/>
              </a:ext>
            </a:extLst>
          </p:cNvPr>
          <p:cNvSpPr txBox="1"/>
          <p:nvPr/>
        </p:nvSpPr>
        <p:spPr>
          <a:xfrm rot="19097318">
            <a:off x="5000034" y="7241033"/>
            <a:ext cx="111181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2230F7A-2D16-4764-B33C-286ECE3ED4B9}"/>
              </a:ext>
            </a:extLst>
          </p:cNvPr>
          <p:cNvSpPr txBox="1"/>
          <p:nvPr/>
        </p:nvSpPr>
        <p:spPr>
          <a:xfrm rot="19295560">
            <a:off x="-1089708" y="7442925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DE3A640-446F-45BA-BCD4-5BED07ACCFC8}"/>
              </a:ext>
            </a:extLst>
          </p:cNvPr>
          <p:cNvSpPr txBox="1"/>
          <p:nvPr/>
        </p:nvSpPr>
        <p:spPr>
          <a:xfrm rot="18797126">
            <a:off x="-2671750" y="3940625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LLM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48073B-50E2-4B5E-92D7-FD7C79291800}"/>
              </a:ext>
            </a:extLst>
          </p:cNvPr>
          <p:cNvSpPr txBox="1"/>
          <p:nvPr/>
        </p:nvSpPr>
        <p:spPr>
          <a:xfrm>
            <a:off x="695326" y="2140585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Final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</a:t>
            </a:r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State Machines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2207D82-1B5C-4EF2-813A-FE9E7B82DCD4}"/>
              </a:ext>
            </a:extLst>
          </p:cNvPr>
          <p:cNvSpPr txBox="1"/>
          <p:nvPr/>
        </p:nvSpPr>
        <p:spPr>
          <a:xfrm>
            <a:off x="3477179" y="2140585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Behavior </a:t>
            </a:r>
            <a:endParaRPr lang="uk-UA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Trees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87BF093-A9F1-4867-8BDC-12875EFB4A35}"/>
              </a:ext>
            </a:extLst>
          </p:cNvPr>
          <p:cNvSpPr txBox="1"/>
          <p:nvPr/>
        </p:nvSpPr>
        <p:spPr>
          <a:xfrm>
            <a:off x="6259032" y="2140585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Goal-Oriented Action Planning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7D45B67-1447-40B5-9190-98E081448D9E}"/>
              </a:ext>
            </a:extLst>
          </p:cNvPr>
          <p:cNvSpPr txBox="1"/>
          <p:nvPr/>
        </p:nvSpPr>
        <p:spPr>
          <a:xfrm>
            <a:off x="9040885" y="2140585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Utility Artificial Intelligence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DE345E3-798D-4A65-BE66-394811519AFC}"/>
              </a:ext>
            </a:extLst>
          </p:cNvPr>
          <p:cNvSpPr txBox="1"/>
          <p:nvPr/>
        </p:nvSpPr>
        <p:spPr>
          <a:xfrm>
            <a:off x="696682" y="3434873"/>
            <a:ext cx="24544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Найпростіший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вид. У бота є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стани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«Патруль», «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Переслідування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», «Атака».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F82FD091-0213-4804-A46C-DE25F1284994}"/>
              </a:ext>
            </a:extLst>
          </p:cNvPr>
          <p:cNvSpPr txBox="1"/>
          <p:nvPr/>
        </p:nvSpPr>
        <p:spPr>
          <a:xfrm>
            <a:off x="3492537" y="3434873"/>
            <a:ext cx="24544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Золотий стандарт. Це ієрархія задач. Бот перевіряє умови і обирає гілку дій.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281DF3F-4ED4-4DF8-80CB-B52CEC2BF6E1}"/>
              </a:ext>
            </a:extLst>
          </p:cNvPr>
          <p:cNvSpPr txBox="1"/>
          <p:nvPr/>
        </p:nvSpPr>
        <p:spPr>
          <a:xfrm>
            <a:off x="6210912" y="3434873"/>
            <a:ext cx="255416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Бот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будує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план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дій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для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досягнення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цілей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Приклад: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F.E.A.R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«щоб вбити гравця, мені потрібно знайти укриття –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&gt;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перезарядитись –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&gt;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обійти з флангу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1A907537-BB74-42AB-A815-38C9ECA0705B}"/>
              </a:ext>
            </a:extLst>
          </p:cNvPr>
          <p:cNvSpPr txBox="1"/>
          <p:nvPr/>
        </p:nvSpPr>
        <p:spPr>
          <a:xfrm>
            <a:off x="9084247" y="3434873"/>
            <a:ext cx="24544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Бот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оцінює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користність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кожної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у числовому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вигдяді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обирає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те, </a:t>
            </a:r>
          </a:p>
          <a:p>
            <a:pPr algn="ctr"/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найвигідніше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D5B0A784-2F60-440C-B1B3-327301D3BC34}"/>
              </a:ext>
            </a:extLst>
          </p:cNvPr>
          <p:cNvSpPr txBox="1"/>
          <p:nvPr/>
        </p:nvSpPr>
        <p:spPr>
          <a:xfrm>
            <a:off x="3855228" y="8158799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" name="!!панель">
            <a:extLst>
              <a:ext uri="{FF2B5EF4-FFF2-40B4-BE49-F238E27FC236}">
                <a16:creationId xmlns:a16="http://schemas.microsoft.com/office/drawing/2014/main" id="{79F1DB07-955D-1CEE-367B-2B098A5418DD}"/>
              </a:ext>
            </a:extLst>
          </p:cNvPr>
          <p:cNvSpPr/>
          <p:nvPr/>
        </p:nvSpPr>
        <p:spPr>
          <a:xfrm>
            <a:off x="-13038675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Picture 2" descr="State Machines: Choosing the Right AI Model for Your Game | by Umut Çırak |  Medium">
            <a:extLst>
              <a:ext uri="{FF2B5EF4-FFF2-40B4-BE49-F238E27FC236}">
                <a16:creationId xmlns:a16="http://schemas.microsoft.com/office/drawing/2014/main" id="{A73B9261-BFAB-0ADA-2CB8-79EC29B71A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638558" y="2671618"/>
            <a:ext cx="5320159" cy="2499497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27284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58687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О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сновні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способи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реалізації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в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іграх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sp>
        <p:nvSpPr>
          <p:cNvPr id="114" name="Прямоугольник: скругленные углы 113">
            <a:extLst>
              <a:ext uri="{FF2B5EF4-FFF2-40B4-BE49-F238E27FC236}">
                <a16:creationId xmlns:a16="http://schemas.microsoft.com/office/drawing/2014/main" id="{34A9E62E-9EA6-41E4-BC5C-72C7C29D2E09}"/>
              </a:ext>
            </a:extLst>
          </p:cNvPr>
          <p:cNvSpPr/>
          <p:nvPr/>
        </p:nvSpPr>
        <p:spPr>
          <a:xfrm>
            <a:off x="710768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Прямоугольник: скругленные углы 114">
            <a:extLst>
              <a:ext uri="{FF2B5EF4-FFF2-40B4-BE49-F238E27FC236}">
                <a16:creationId xmlns:a16="http://schemas.microsoft.com/office/drawing/2014/main" id="{A2F7322C-9808-48D2-9BE4-4A668F1D742C}"/>
              </a:ext>
            </a:extLst>
          </p:cNvPr>
          <p:cNvSpPr/>
          <p:nvPr/>
        </p:nvSpPr>
        <p:spPr>
          <a:xfrm>
            <a:off x="3489962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Прямоугольник: скругленные углы 115">
            <a:extLst>
              <a:ext uri="{FF2B5EF4-FFF2-40B4-BE49-F238E27FC236}">
                <a16:creationId xmlns:a16="http://schemas.microsoft.com/office/drawing/2014/main" id="{E8A47366-9D67-4A4B-854B-D509E846EAFB}"/>
              </a:ext>
            </a:extLst>
          </p:cNvPr>
          <p:cNvSpPr/>
          <p:nvPr/>
        </p:nvSpPr>
        <p:spPr>
          <a:xfrm>
            <a:off x="6269156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Прямоугольник: скругленные углы 116">
            <a:extLst>
              <a:ext uri="{FF2B5EF4-FFF2-40B4-BE49-F238E27FC236}">
                <a16:creationId xmlns:a16="http://schemas.microsoft.com/office/drawing/2014/main" id="{6A244823-5BCE-453E-97D5-A32F68A6EB86}"/>
              </a:ext>
            </a:extLst>
          </p:cNvPr>
          <p:cNvSpPr/>
          <p:nvPr/>
        </p:nvSpPr>
        <p:spPr>
          <a:xfrm>
            <a:off x="9048350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>
            <a:off x="710765" y="1142313"/>
            <a:ext cx="2443515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>
            <a:off x="3489962" y="1142775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>
            <a:off x="6255081" y="1142314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>
            <a:off x="9048348" y="1142774"/>
            <a:ext cx="2432884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48073B-50E2-4B5E-92D7-FD7C79291800}"/>
              </a:ext>
            </a:extLst>
          </p:cNvPr>
          <p:cNvSpPr txBox="1"/>
          <p:nvPr/>
        </p:nvSpPr>
        <p:spPr>
          <a:xfrm>
            <a:off x="695326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Final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</a:t>
            </a:r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State Machines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2207D82-1B5C-4EF2-813A-FE9E7B82DCD4}"/>
              </a:ext>
            </a:extLst>
          </p:cNvPr>
          <p:cNvSpPr txBox="1"/>
          <p:nvPr/>
        </p:nvSpPr>
        <p:spPr>
          <a:xfrm>
            <a:off x="3477179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Behavior </a:t>
            </a:r>
            <a:endParaRPr lang="uk-UA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Trees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87BF093-A9F1-4867-8BDC-12875EFB4A35}"/>
              </a:ext>
            </a:extLst>
          </p:cNvPr>
          <p:cNvSpPr txBox="1"/>
          <p:nvPr/>
        </p:nvSpPr>
        <p:spPr>
          <a:xfrm>
            <a:off x="6259032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Goal-Oriented Action Planning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7D45B67-1447-40B5-9190-98E081448D9E}"/>
              </a:ext>
            </a:extLst>
          </p:cNvPr>
          <p:cNvSpPr txBox="1"/>
          <p:nvPr/>
        </p:nvSpPr>
        <p:spPr>
          <a:xfrm>
            <a:off x="9040885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Utility Artificial Intelligence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3" name="!!панель">
            <a:extLst>
              <a:ext uri="{FF2B5EF4-FFF2-40B4-BE49-F238E27FC236}">
                <a16:creationId xmlns:a16="http://schemas.microsoft.com/office/drawing/2014/main" id="{D5807C4E-B38F-F7CF-E804-344B5473E68C}"/>
              </a:ext>
            </a:extLst>
          </p:cNvPr>
          <p:cNvSpPr/>
          <p:nvPr/>
        </p:nvSpPr>
        <p:spPr>
          <a:xfrm>
            <a:off x="677326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State Machines: Choosing the Right AI Model for Your Game | by Umut Çırak |  Medium">
            <a:extLst>
              <a:ext uri="{FF2B5EF4-FFF2-40B4-BE49-F238E27FC236}">
                <a16:creationId xmlns:a16="http://schemas.microsoft.com/office/drawing/2014/main" id="{46E4DD5D-4606-8107-7FED-77577B1834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7443" y="2671618"/>
            <a:ext cx="5320159" cy="2499497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79391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cxnSp>
        <p:nvCxnSpPr>
          <p:cNvPr id="45" name="вертикаль">
            <a:extLst>
              <a:ext uri="{FF2B5EF4-FFF2-40B4-BE49-F238E27FC236}">
                <a16:creationId xmlns:a16="http://schemas.microsoft.com/office/drawing/2014/main" id="{10E12F90-DC11-4DEC-B92C-0BE169FFC3BE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горизонт">
            <a:extLst>
              <a:ext uri="{FF2B5EF4-FFF2-40B4-BE49-F238E27FC236}">
                <a16:creationId xmlns:a16="http://schemas.microsoft.com/office/drawing/2014/main" id="{105AD24E-BE0E-4935-B70D-8C9B50C3C1F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21378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889</TotalTime>
  <Words>973</Words>
  <Application>Microsoft Office PowerPoint</Application>
  <PresentationFormat>Широкоэкранный</PresentationFormat>
  <Paragraphs>137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Segoe UI Black</vt:lpstr>
      <vt:lpstr>Montserrat SemiBold</vt:lpstr>
      <vt:lpstr>Arial</vt:lpstr>
      <vt:lpstr>Aptos Display</vt:lpstr>
      <vt:lpstr>Montserrat Medium</vt:lpstr>
      <vt:lpstr>Aptos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Dgardes Gusь</dc:creator>
  <cp:lastModifiedBy>Dgardes Gusь</cp:lastModifiedBy>
  <cp:revision>33</cp:revision>
  <dcterms:created xsi:type="dcterms:W3CDTF">2026-01-19T21:28:44Z</dcterms:created>
  <dcterms:modified xsi:type="dcterms:W3CDTF">2026-03-05T20:50:55Z</dcterms:modified>
</cp:coreProperties>
</file>